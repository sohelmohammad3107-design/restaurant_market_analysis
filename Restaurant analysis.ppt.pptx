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Times New Roman Bold" charset="1" panose="02020803070505020304"/>
      <p:regular r:id="rId30"/>
    </p:embeddedFont>
    <p:embeddedFont>
      <p:font typeface="Canva Sans" charset="1" panose="020B0503030501040103"/>
      <p:regular r:id="rId31"/>
    </p:embeddedFont>
    <p:embeddedFont>
      <p:font typeface="Times New Roman" charset="1" panose="02020603050405020304"/>
      <p:regular r:id="rId32"/>
    </p:embeddedFont>
    <p:embeddedFont>
      <p:font typeface="Canva Sans Bold" charset="1" panose="020B0803030501040103"/>
      <p:regular r:id="rId33"/>
    </p:embeddedFont>
    <p:embeddedFont>
      <p:font typeface="Times New Roman MT" charset="1" panose="02030502070405020303"/>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2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97235"/>
            <a:ext cx="18286219" cy="4145280"/>
            <a:chOff x="0" y="0"/>
            <a:chExt cx="24381625" cy="5527040"/>
          </a:xfrm>
        </p:grpSpPr>
        <p:sp>
          <p:nvSpPr>
            <p:cNvPr name="Freeform 3" id="3"/>
            <p:cNvSpPr/>
            <p:nvPr/>
          </p:nvSpPr>
          <p:spPr>
            <a:xfrm flipH="false" flipV="false" rot="0">
              <a:off x="0" y="0"/>
              <a:ext cx="24381588" cy="5527040"/>
            </a:xfrm>
            <a:custGeom>
              <a:avLst/>
              <a:gdLst/>
              <a:ahLst/>
              <a:cxnLst/>
              <a:rect r="r" b="b" t="t" l="l"/>
              <a:pathLst>
                <a:path h="5527040" w="24381588">
                  <a:moveTo>
                    <a:pt x="0" y="0"/>
                  </a:moveTo>
                  <a:lnTo>
                    <a:pt x="24381588" y="0"/>
                  </a:lnTo>
                  <a:lnTo>
                    <a:pt x="24381588" y="5527040"/>
                  </a:lnTo>
                  <a:lnTo>
                    <a:pt x="0" y="5527040"/>
                  </a:lnTo>
                  <a:lnTo>
                    <a:pt x="0" y="0"/>
                  </a:lnTo>
                  <a:close/>
                </a:path>
              </a:pathLst>
            </a:custGeom>
            <a:blipFill>
              <a:blip r:embed="rId2"/>
              <a:stretch>
                <a:fillRect l="0" t="0" r="0" b="-148093"/>
              </a:stretch>
            </a:blipFill>
          </p:spPr>
        </p:sp>
      </p:grpSp>
      <p:sp>
        <p:nvSpPr>
          <p:cNvPr name="TextBox 4" id="4"/>
          <p:cNvSpPr txBox="true"/>
          <p:nvPr/>
        </p:nvSpPr>
        <p:spPr>
          <a:xfrm rot="0">
            <a:off x="611214" y="4937985"/>
            <a:ext cx="17065572" cy="981075"/>
          </a:xfrm>
          <a:prstGeom prst="rect">
            <a:avLst/>
          </a:prstGeom>
        </p:spPr>
        <p:txBody>
          <a:bodyPr anchor="t" rtlCol="false" tIns="0" lIns="0" bIns="0" rIns="0">
            <a:spAutoFit/>
          </a:bodyPr>
          <a:lstStyle/>
          <a:p>
            <a:pPr algn="ctr">
              <a:lnSpc>
                <a:spcPts val="3960"/>
              </a:lnSpc>
            </a:pPr>
            <a:r>
              <a:rPr lang="en-US" sz="3300" b="true">
                <a:solidFill>
                  <a:srgbClr val="000000"/>
                </a:solidFill>
                <a:latin typeface="Times New Roman Bold"/>
                <a:ea typeface="Times New Roman Bold"/>
                <a:cs typeface="Times New Roman Bold"/>
                <a:sym typeface="Times New Roman Bold"/>
              </a:rPr>
              <a:t>Title : </a:t>
            </a:r>
            <a:r>
              <a:rPr lang="en-US" sz="3300" b="true">
                <a:solidFill>
                  <a:srgbClr val="000000"/>
                </a:solidFill>
                <a:latin typeface="Times New Roman Bold"/>
                <a:ea typeface="Times New Roman Bold"/>
                <a:cs typeface="Times New Roman Bold"/>
                <a:sym typeface="Times New Roman Bold"/>
              </a:rPr>
              <a:t>Restaurant Market Analysis using Web Scraping and Exploratory Data Analysis</a:t>
            </a:r>
          </a:p>
          <a:p>
            <a:pPr algn="ctr">
              <a:lnSpc>
                <a:spcPts val="3720"/>
              </a:lnSpc>
            </a:pP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
        <p:nvSpPr>
          <p:cNvPr name="TextBox 6" id="6"/>
          <p:cNvSpPr txBox="true"/>
          <p:nvPr/>
        </p:nvSpPr>
        <p:spPr>
          <a:xfrm rot="0">
            <a:off x="7025223" y="3872286"/>
            <a:ext cx="4237554" cy="915670"/>
          </a:xfrm>
          <a:prstGeom prst="rect">
            <a:avLst/>
          </a:prstGeom>
        </p:spPr>
        <p:txBody>
          <a:bodyPr anchor="t" rtlCol="false" tIns="0" lIns="0" bIns="0" rIns="0">
            <a:spAutoFit/>
          </a:bodyPr>
          <a:lstStyle/>
          <a:p>
            <a:pPr algn="ctr" marL="0" indent="0" lvl="0">
              <a:lnSpc>
                <a:spcPts val="7279"/>
              </a:lnSpc>
              <a:spcBef>
                <a:spcPct val="0"/>
              </a:spcBef>
            </a:pPr>
            <a:r>
              <a:rPr lang="en-US" b="true" sz="5199">
                <a:solidFill>
                  <a:srgbClr val="E52328"/>
                </a:solidFill>
                <a:latin typeface="Times New Roman Bold"/>
                <a:ea typeface="Times New Roman Bold"/>
                <a:cs typeface="Times New Roman Bold"/>
                <a:sym typeface="Times New Roman Bold"/>
              </a:rPr>
              <a:t>PROJECT ON</a:t>
            </a:r>
          </a:p>
        </p:txBody>
      </p:sp>
      <p:grpSp>
        <p:nvGrpSpPr>
          <p:cNvPr name="Group 7" id="7"/>
          <p:cNvGrpSpPr/>
          <p:nvPr/>
        </p:nvGrpSpPr>
        <p:grpSpPr>
          <a:xfrm rot="0">
            <a:off x="13271710" y="9055162"/>
            <a:ext cx="4838100" cy="1009526"/>
            <a:chOff x="0" y="0"/>
            <a:chExt cx="6450800" cy="1346035"/>
          </a:xfrm>
        </p:grpSpPr>
        <p:sp>
          <p:nvSpPr>
            <p:cNvPr name="Freeform 8" id="8"/>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sp>
        <p:nvSpPr>
          <p:cNvPr name="TextBox 9" id="9"/>
          <p:cNvSpPr txBox="true"/>
          <p:nvPr/>
        </p:nvSpPr>
        <p:spPr>
          <a:xfrm rot="0">
            <a:off x="379873" y="8015606"/>
            <a:ext cx="6989465" cy="2399664"/>
          </a:xfrm>
          <a:prstGeom prst="rect">
            <a:avLst/>
          </a:prstGeom>
        </p:spPr>
        <p:txBody>
          <a:bodyPr anchor="t" rtlCol="false" tIns="0" lIns="0" bIns="0" rIns="0">
            <a:spAutoFit/>
          </a:bodyPr>
          <a:lstStyle/>
          <a:p>
            <a:pPr algn="just">
              <a:lnSpc>
                <a:spcPts val="4760"/>
              </a:lnSpc>
            </a:pPr>
            <a:r>
              <a:rPr lang="en-US" b="true" sz="3400">
                <a:solidFill>
                  <a:srgbClr val="E7373B"/>
                </a:solidFill>
                <a:latin typeface="Times New Roman Bold"/>
                <a:ea typeface="Times New Roman Bold"/>
                <a:cs typeface="Times New Roman Bold"/>
                <a:sym typeface="Times New Roman Bold"/>
              </a:rPr>
              <a:t>Presented By:</a:t>
            </a:r>
          </a:p>
          <a:p>
            <a:pPr algn="just">
              <a:lnSpc>
                <a:spcPts val="4760"/>
              </a:lnSpc>
            </a:pPr>
            <a:r>
              <a:rPr lang="en-US" sz="3400">
                <a:solidFill>
                  <a:srgbClr val="000000"/>
                </a:solidFill>
                <a:latin typeface="Times New Roman"/>
                <a:ea typeface="Times New Roman"/>
                <a:cs typeface="Times New Roman"/>
                <a:sym typeface="Times New Roman"/>
              </a:rPr>
              <a:t>Mohammad Sohel</a:t>
            </a:r>
          </a:p>
          <a:p>
            <a:pPr algn="just">
              <a:lnSpc>
                <a:spcPts val="4760"/>
              </a:lnSpc>
            </a:pPr>
            <a:r>
              <a:rPr lang="en-US" sz="3400">
                <a:solidFill>
                  <a:srgbClr val="E7373B"/>
                </a:solidFill>
                <a:latin typeface="Times New Roman"/>
                <a:ea typeface="Times New Roman"/>
                <a:cs typeface="Times New Roman"/>
                <a:sym typeface="Times New Roman"/>
              </a:rPr>
              <a:t>Batch No :</a:t>
            </a:r>
            <a:r>
              <a:rPr lang="en-US" sz="3400">
                <a:solidFill>
                  <a:srgbClr val="000000"/>
                </a:solidFill>
                <a:latin typeface="Times New Roman"/>
                <a:ea typeface="Times New Roman"/>
                <a:cs typeface="Times New Roman"/>
                <a:sym typeface="Times New Roman"/>
              </a:rPr>
              <a:t> 474 </a:t>
            </a:r>
          </a:p>
          <a:p>
            <a:pPr algn="just" marL="0" indent="0" lvl="0">
              <a:lnSpc>
                <a:spcPts val="4760"/>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
        <p:nvSpPr>
          <p:cNvPr name="TextBox 3" id="3"/>
          <p:cNvSpPr txBox="true"/>
          <p:nvPr/>
        </p:nvSpPr>
        <p:spPr>
          <a:xfrm rot="0">
            <a:off x="892585" y="571499"/>
            <a:ext cx="2887147" cy="1123316"/>
          </a:xfrm>
          <a:prstGeom prst="rect">
            <a:avLst/>
          </a:prstGeom>
        </p:spPr>
        <p:txBody>
          <a:bodyPr anchor="t" rtlCol="false" tIns="0" lIns="0" bIns="0" rIns="0">
            <a:spAutoFit/>
          </a:bodyPr>
          <a:lstStyle/>
          <a:p>
            <a:pPr algn="ctr" marL="0" indent="0" lvl="0">
              <a:lnSpc>
                <a:spcPts val="8959"/>
              </a:lnSpc>
              <a:spcBef>
                <a:spcPct val="0"/>
              </a:spcBef>
            </a:pPr>
            <a:r>
              <a:rPr lang="en-US" b="true" sz="6399">
                <a:solidFill>
                  <a:srgbClr val="E7373B"/>
                </a:solidFill>
                <a:latin typeface="Times New Roman Bold"/>
                <a:ea typeface="Times New Roman Bold"/>
                <a:cs typeface="Times New Roman Bold"/>
                <a:sym typeface="Times New Roman Bold"/>
              </a:rPr>
              <a:t>Pr</a:t>
            </a:r>
            <a:r>
              <a:rPr lang="en-US" b="true" sz="6399" strike="noStrike" u="none">
                <a:solidFill>
                  <a:srgbClr val="E7373B"/>
                </a:solidFill>
                <a:latin typeface="Times New Roman Bold"/>
                <a:ea typeface="Times New Roman Bold"/>
                <a:cs typeface="Times New Roman Bold"/>
                <a:sym typeface="Times New Roman Bold"/>
              </a:rPr>
              <a:t>e</a:t>
            </a:r>
            <a:r>
              <a:rPr lang="en-US" b="true" sz="6399" strike="noStrike" u="none">
                <a:solidFill>
                  <a:srgbClr val="E7373B"/>
                </a:solidFill>
                <a:latin typeface="Times New Roman Bold"/>
                <a:ea typeface="Times New Roman Bold"/>
                <a:cs typeface="Times New Roman Bold"/>
                <a:sym typeface="Times New Roman Bold"/>
              </a:rPr>
              <a:t>f</a:t>
            </a:r>
            <a:r>
              <a:rPr lang="en-US" b="true" sz="6399" strike="noStrike" u="none">
                <a:solidFill>
                  <a:srgbClr val="E7373B"/>
                </a:solidFill>
                <a:latin typeface="Times New Roman Bold"/>
                <a:ea typeface="Times New Roman Bold"/>
                <a:cs typeface="Times New Roman Bold"/>
                <a:sym typeface="Times New Roman Bold"/>
              </a:rPr>
              <a:t>a</a:t>
            </a:r>
            <a:r>
              <a:rPr lang="en-US" b="true" sz="6399" strike="noStrike" u="none">
                <a:solidFill>
                  <a:srgbClr val="E7373B"/>
                </a:solidFill>
                <a:latin typeface="Times New Roman Bold"/>
                <a:ea typeface="Times New Roman Bold"/>
                <a:cs typeface="Times New Roman Bold"/>
                <a:sym typeface="Times New Roman Bold"/>
              </a:rPr>
              <a:t>ce:</a:t>
            </a:r>
          </a:p>
        </p:txBody>
      </p:sp>
      <p:sp>
        <p:nvSpPr>
          <p:cNvPr name="TextBox 4" id="4"/>
          <p:cNvSpPr txBox="true"/>
          <p:nvPr/>
        </p:nvSpPr>
        <p:spPr>
          <a:xfrm rot="0">
            <a:off x="523875" y="1885426"/>
            <a:ext cx="7197566" cy="6488262"/>
          </a:xfrm>
          <a:prstGeom prst="rect">
            <a:avLst/>
          </a:prstGeom>
        </p:spPr>
        <p:txBody>
          <a:bodyPr anchor="t" rtlCol="false" tIns="0" lIns="0" bIns="0" rIns="0">
            <a:spAutoFit/>
          </a:bodyPr>
          <a:lstStyle/>
          <a:p>
            <a:pPr algn="l" marL="794861" indent="-397430" lvl="1">
              <a:lnSpc>
                <a:spcPts val="5154"/>
              </a:lnSpc>
              <a:buFont typeface="Arial"/>
              <a:buChar char="•"/>
            </a:pPr>
            <a:r>
              <a:rPr lang="en-US" sz="3681">
                <a:solidFill>
                  <a:srgbClr val="000000"/>
                </a:solidFill>
                <a:latin typeface="Times New Roman"/>
                <a:ea typeface="Times New Roman"/>
                <a:cs typeface="Times New Roman"/>
                <a:sym typeface="Times New Roman"/>
              </a:rPr>
              <a:t>INTRODUCTION</a:t>
            </a:r>
          </a:p>
          <a:p>
            <a:pPr algn="l" marL="794861" indent="-397430" lvl="1">
              <a:lnSpc>
                <a:spcPts val="5154"/>
              </a:lnSpc>
              <a:buFont typeface="Arial"/>
              <a:buChar char="•"/>
            </a:pPr>
            <a:r>
              <a:rPr lang="en-US" sz="3681">
                <a:solidFill>
                  <a:srgbClr val="000000"/>
                </a:solidFill>
                <a:latin typeface="Times New Roman"/>
                <a:ea typeface="Times New Roman"/>
                <a:cs typeface="Times New Roman"/>
                <a:sym typeface="Times New Roman"/>
              </a:rPr>
              <a:t>PROBLEM STATMENT</a:t>
            </a:r>
          </a:p>
          <a:p>
            <a:pPr algn="l" marL="794861" indent="-397430" lvl="1">
              <a:lnSpc>
                <a:spcPts val="5154"/>
              </a:lnSpc>
              <a:buFont typeface="Arial"/>
              <a:buChar char="•"/>
            </a:pPr>
            <a:r>
              <a:rPr lang="en-US" sz="3681">
                <a:solidFill>
                  <a:srgbClr val="000000"/>
                </a:solidFill>
                <a:latin typeface="Times New Roman"/>
                <a:ea typeface="Times New Roman"/>
                <a:cs typeface="Times New Roman"/>
                <a:sym typeface="Times New Roman"/>
              </a:rPr>
              <a:t>OBJECTIVE</a:t>
            </a:r>
          </a:p>
          <a:p>
            <a:pPr algn="l" marL="794861" indent="-397430" lvl="1">
              <a:lnSpc>
                <a:spcPts val="5154"/>
              </a:lnSpc>
              <a:buFont typeface="Arial"/>
              <a:buChar char="•"/>
            </a:pPr>
            <a:r>
              <a:rPr lang="en-US" sz="3681">
                <a:solidFill>
                  <a:srgbClr val="000000"/>
                </a:solidFill>
                <a:latin typeface="Times New Roman"/>
                <a:ea typeface="Times New Roman"/>
                <a:cs typeface="Times New Roman"/>
                <a:sym typeface="Times New Roman"/>
              </a:rPr>
              <a:t>TOOLS USED</a:t>
            </a:r>
          </a:p>
          <a:p>
            <a:pPr algn="l" marL="794861" indent="-397430" lvl="1">
              <a:lnSpc>
                <a:spcPts val="5154"/>
              </a:lnSpc>
              <a:buFont typeface="Arial"/>
              <a:buChar char="•"/>
            </a:pPr>
            <a:r>
              <a:rPr lang="en-US" sz="3681">
                <a:solidFill>
                  <a:srgbClr val="000000"/>
                </a:solidFill>
                <a:latin typeface="Times New Roman"/>
                <a:ea typeface="Times New Roman"/>
                <a:cs typeface="Times New Roman"/>
                <a:sym typeface="Times New Roman"/>
              </a:rPr>
              <a:t>WEB SCRAPING</a:t>
            </a:r>
          </a:p>
          <a:p>
            <a:pPr algn="l" marL="794861" indent="-397430" lvl="1">
              <a:lnSpc>
                <a:spcPts val="5154"/>
              </a:lnSpc>
              <a:buFont typeface="Arial"/>
              <a:buChar char="•"/>
            </a:pPr>
            <a:r>
              <a:rPr lang="en-US" sz="3681">
                <a:solidFill>
                  <a:srgbClr val="000000"/>
                </a:solidFill>
                <a:latin typeface="Times New Roman"/>
                <a:ea typeface="Times New Roman"/>
                <a:cs typeface="Times New Roman"/>
                <a:sym typeface="Times New Roman"/>
              </a:rPr>
              <a:t>DATA CLEANING STEPS</a:t>
            </a:r>
          </a:p>
          <a:p>
            <a:pPr algn="l" marL="794861" indent="-397430" lvl="1">
              <a:lnSpc>
                <a:spcPts val="5154"/>
              </a:lnSpc>
              <a:buFont typeface="Arial"/>
              <a:buChar char="•"/>
            </a:pPr>
            <a:r>
              <a:rPr lang="en-US" sz="3681">
                <a:solidFill>
                  <a:srgbClr val="000000"/>
                </a:solidFill>
                <a:latin typeface="Times New Roman"/>
                <a:ea typeface="Times New Roman"/>
                <a:cs typeface="Times New Roman"/>
                <a:sym typeface="Times New Roman"/>
              </a:rPr>
              <a:t>DATA VISUALIZATION</a:t>
            </a:r>
          </a:p>
          <a:p>
            <a:pPr algn="l" marL="794861" indent="-397430" lvl="1">
              <a:lnSpc>
                <a:spcPts val="5154"/>
              </a:lnSpc>
              <a:buFont typeface="Arial"/>
              <a:buChar char="•"/>
            </a:pPr>
            <a:r>
              <a:rPr lang="en-US" sz="3681">
                <a:solidFill>
                  <a:srgbClr val="000000"/>
                </a:solidFill>
                <a:latin typeface="Times New Roman"/>
                <a:ea typeface="Times New Roman"/>
                <a:cs typeface="Times New Roman"/>
                <a:sym typeface="Times New Roman"/>
              </a:rPr>
              <a:t>CONCLUSION</a:t>
            </a:r>
          </a:p>
          <a:p>
            <a:pPr algn="l" marL="794861" indent="-397430" lvl="1">
              <a:lnSpc>
                <a:spcPts val="5154"/>
              </a:lnSpc>
              <a:buFont typeface="Arial"/>
              <a:buChar char="•"/>
            </a:pPr>
            <a:r>
              <a:rPr lang="en-US" sz="3681">
                <a:solidFill>
                  <a:srgbClr val="000000"/>
                </a:solidFill>
                <a:latin typeface="Times New Roman"/>
                <a:ea typeface="Times New Roman"/>
                <a:cs typeface="Times New Roman"/>
                <a:sym typeface="Times New Roman"/>
              </a:rPr>
              <a:t>EXPERIENCE&amp; CHALLENGES</a:t>
            </a:r>
          </a:p>
          <a:p>
            <a:pPr algn="l" marL="794861" indent="-397430" lvl="1">
              <a:lnSpc>
                <a:spcPts val="5154"/>
              </a:lnSpc>
              <a:buFont typeface="Arial"/>
              <a:buChar char="•"/>
            </a:pPr>
            <a:r>
              <a:rPr lang="en-US" sz="3681">
                <a:solidFill>
                  <a:srgbClr val="000000"/>
                </a:solidFill>
                <a:latin typeface="Times New Roman"/>
                <a:ea typeface="Times New Roman"/>
                <a:cs typeface="Times New Roman"/>
                <a:sym typeface="Times New Roman"/>
              </a:rPr>
              <a:t>FUTURE SCOPE</a:t>
            </a:r>
          </a:p>
        </p:txBody>
      </p:sp>
      <p:grpSp>
        <p:nvGrpSpPr>
          <p:cNvPr name="Group 5" id="5"/>
          <p:cNvGrpSpPr/>
          <p:nvPr/>
        </p:nvGrpSpPr>
        <p:grpSpPr>
          <a:xfrm rot="0">
            <a:off x="13271710" y="9055162"/>
            <a:ext cx="4838100" cy="1009526"/>
            <a:chOff x="0" y="0"/>
            <a:chExt cx="6450800" cy="1346035"/>
          </a:xfrm>
        </p:grpSpPr>
        <p:sp>
          <p:nvSpPr>
            <p:cNvPr name="Freeform 6" id="6"/>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
        <p:nvSpPr>
          <p:cNvPr name="TextBox 3" id="3"/>
          <p:cNvSpPr txBox="true"/>
          <p:nvPr/>
        </p:nvSpPr>
        <p:spPr>
          <a:xfrm rot="0">
            <a:off x="1028700" y="508959"/>
            <a:ext cx="5504022" cy="915657"/>
          </a:xfrm>
          <a:prstGeom prst="rect">
            <a:avLst/>
          </a:prstGeom>
        </p:spPr>
        <p:txBody>
          <a:bodyPr anchor="t" rtlCol="false" tIns="0" lIns="0" bIns="0" rIns="0">
            <a:spAutoFit/>
          </a:bodyPr>
          <a:lstStyle/>
          <a:p>
            <a:pPr algn="ctr" marL="0" indent="0" lvl="0">
              <a:lnSpc>
                <a:spcPts val="7280"/>
              </a:lnSpc>
              <a:spcBef>
                <a:spcPct val="0"/>
              </a:spcBef>
            </a:pPr>
            <a:r>
              <a:rPr lang="en-US" b="true" sz="5200">
                <a:solidFill>
                  <a:srgbClr val="E52328"/>
                </a:solidFill>
                <a:latin typeface="Times New Roman Bold"/>
                <a:ea typeface="Times New Roman Bold"/>
                <a:cs typeface="Times New Roman Bold"/>
                <a:sym typeface="Times New Roman Bold"/>
              </a:rPr>
              <a:t>INTRODUCTION:</a:t>
            </a:r>
          </a:p>
        </p:txBody>
      </p:sp>
      <p:sp>
        <p:nvSpPr>
          <p:cNvPr name="TextBox 4" id="4"/>
          <p:cNvSpPr txBox="true"/>
          <p:nvPr/>
        </p:nvSpPr>
        <p:spPr>
          <a:xfrm rot="0">
            <a:off x="432334" y="1908927"/>
            <a:ext cx="17429013" cy="3850849"/>
          </a:xfrm>
          <a:prstGeom prst="rect">
            <a:avLst/>
          </a:prstGeom>
        </p:spPr>
        <p:txBody>
          <a:bodyPr anchor="t" rtlCol="false" tIns="0" lIns="0" bIns="0" rIns="0">
            <a:spAutoFit/>
          </a:bodyPr>
          <a:lstStyle/>
          <a:p>
            <a:pPr algn="just" marL="847651" indent="-423826" lvl="1">
              <a:lnSpc>
                <a:spcPts val="5064"/>
              </a:lnSpc>
              <a:buFont typeface="Arial"/>
              <a:buChar char="•"/>
            </a:pPr>
            <a:r>
              <a:rPr lang="en-US" sz="3926">
                <a:solidFill>
                  <a:srgbClr val="000000"/>
                </a:solidFill>
                <a:latin typeface="Times New Roman"/>
                <a:ea typeface="Times New Roman"/>
                <a:cs typeface="Times New Roman"/>
                <a:sym typeface="Times New Roman"/>
              </a:rPr>
              <a:t>Online restaurant platforms provi</a:t>
            </a:r>
            <a:r>
              <a:rPr lang="en-US" sz="3926" strike="noStrike" u="none">
                <a:solidFill>
                  <a:srgbClr val="000000"/>
                </a:solidFill>
                <a:latin typeface="Times New Roman"/>
                <a:ea typeface="Times New Roman"/>
                <a:cs typeface="Times New Roman"/>
                <a:sym typeface="Times New Roman"/>
              </a:rPr>
              <a:t>d</a:t>
            </a:r>
            <a:r>
              <a:rPr lang="en-US" sz="3926" strike="noStrike" u="none">
                <a:solidFill>
                  <a:srgbClr val="000000"/>
                </a:solidFill>
                <a:latin typeface="Times New Roman"/>
                <a:ea typeface="Times New Roman"/>
                <a:cs typeface="Times New Roman"/>
                <a:sym typeface="Times New Roman"/>
              </a:rPr>
              <a:t>e valuable information about restaurant ratings, cuisines, prices, an</a:t>
            </a:r>
            <a:r>
              <a:rPr lang="en-US" sz="3926" strike="noStrike" u="none">
                <a:solidFill>
                  <a:srgbClr val="000000"/>
                </a:solidFill>
                <a:latin typeface="Times New Roman"/>
                <a:ea typeface="Times New Roman"/>
                <a:cs typeface="Times New Roman"/>
                <a:sym typeface="Times New Roman"/>
              </a:rPr>
              <a:t>d </a:t>
            </a:r>
            <a:r>
              <a:rPr lang="en-US" sz="3926" strike="noStrike" u="none">
                <a:solidFill>
                  <a:srgbClr val="000000"/>
                </a:solidFill>
                <a:latin typeface="Times New Roman"/>
                <a:ea typeface="Times New Roman"/>
                <a:cs typeface="Times New Roman"/>
                <a:sym typeface="Times New Roman"/>
              </a:rPr>
              <a:t>promotion</a:t>
            </a:r>
            <a:r>
              <a:rPr lang="en-US" sz="3926" strike="noStrike" u="none">
                <a:solidFill>
                  <a:srgbClr val="000000"/>
                </a:solidFill>
                <a:latin typeface="Times New Roman"/>
                <a:ea typeface="Times New Roman"/>
                <a:cs typeface="Times New Roman"/>
                <a:sym typeface="Times New Roman"/>
              </a:rPr>
              <a:t>a</a:t>
            </a:r>
            <a:r>
              <a:rPr lang="en-US" sz="3926" strike="noStrike" u="none">
                <a:solidFill>
                  <a:srgbClr val="000000"/>
                </a:solidFill>
                <a:latin typeface="Times New Roman"/>
                <a:ea typeface="Times New Roman"/>
                <a:cs typeface="Times New Roman"/>
                <a:sym typeface="Times New Roman"/>
              </a:rPr>
              <a:t>l</a:t>
            </a:r>
            <a:r>
              <a:rPr lang="en-US" sz="3926" strike="noStrike" u="none">
                <a:solidFill>
                  <a:srgbClr val="000000"/>
                </a:solidFill>
                <a:latin typeface="Times New Roman"/>
                <a:ea typeface="Times New Roman"/>
                <a:cs typeface="Times New Roman"/>
                <a:sym typeface="Times New Roman"/>
              </a:rPr>
              <a:t> </a:t>
            </a:r>
            <a:r>
              <a:rPr lang="en-US" sz="3926" strike="noStrike" u="none">
                <a:solidFill>
                  <a:srgbClr val="000000"/>
                </a:solidFill>
                <a:latin typeface="Times New Roman"/>
                <a:ea typeface="Times New Roman"/>
                <a:cs typeface="Times New Roman"/>
                <a:sym typeface="Times New Roman"/>
              </a:rPr>
              <a:t>offers. However, this data is not avai</a:t>
            </a:r>
            <a:r>
              <a:rPr lang="en-US" sz="3926" strike="noStrike" u="none">
                <a:solidFill>
                  <a:srgbClr val="000000"/>
                </a:solidFill>
                <a:latin typeface="Times New Roman"/>
                <a:ea typeface="Times New Roman"/>
                <a:cs typeface="Times New Roman"/>
                <a:sym typeface="Times New Roman"/>
              </a:rPr>
              <a:t>l</a:t>
            </a:r>
            <a:r>
              <a:rPr lang="en-US" sz="3926" strike="noStrike" u="none">
                <a:solidFill>
                  <a:srgbClr val="000000"/>
                </a:solidFill>
                <a:latin typeface="Times New Roman"/>
                <a:ea typeface="Times New Roman"/>
                <a:cs typeface="Times New Roman"/>
                <a:sym typeface="Times New Roman"/>
              </a:rPr>
              <a:t>able </a:t>
            </a:r>
            <a:r>
              <a:rPr lang="en-US" sz="3926" strike="noStrike" u="none">
                <a:solidFill>
                  <a:srgbClr val="000000"/>
                </a:solidFill>
                <a:latin typeface="Times New Roman"/>
                <a:ea typeface="Times New Roman"/>
                <a:cs typeface="Times New Roman"/>
                <a:sym typeface="Times New Roman"/>
              </a:rPr>
              <a:t>i</a:t>
            </a:r>
            <a:r>
              <a:rPr lang="en-US" sz="3926" strike="noStrike" u="none">
                <a:solidFill>
                  <a:srgbClr val="000000"/>
                </a:solidFill>
                <a:latin typeface="Times New Roman"/>
                <a:ea typeface="Times New Roman"/>
                <a:cs typeface="Times New Roman"/>
                <a:sym typeface="Times New Roman"/>
              </a:rPr>
              <a:t>n s</a:t>
            </a:r>
            <a:r>
              <a:rPr lang="en-US" sz="3926" strike="noStrike" u="none">
                <a:solidFill>
                  <a:srgbClr val="000000"/>
                </a:solidFill>
                <a:latin typeface="Times New Roman"/>
                <a:ea typeface="Times New Roman"/>
                <a:cs typeface="Times New Roman"/>
                <a:sym typeface="Times New Roman"/>
              </a:rPr>
              <a:t>t</a:t>
            </a:r>
            <a:r>
              <a:rPr lang="en-US" sz="3926" strike="noStrike" u="none">
                <a:solidFill>
                  <a:srgbClr val="000000"/>
                </a:solidFill>
                <a:latin typeface="Times New Roman"/>
                <a:ea typeface="Times New Roman"/>
                <a:cs typeface="Times New Roman"/>
                <a:sym typeface="Times New Roman"/>
              </a:rPr>
              <a:t>ruc</a:t>
            </a:r>
            <a:r>
              <a:rPr lang="en-US" sz="3926" strike="noStrike" u="none">
                <a:solidFill>
                  <a:srgbClr val="000000"/>
                </a:solidFill>
                <a:latin typeface="Times New Roman"/>
                <a:ea typeface="Times New Roman"/>
                <a:cs typeface="Times New Roman"/>
                <a:sym typeface="Times New Roman"/>
              </a:rPr>
              <a:t>t</a:t>
            </a:r>
            <a:r>
              <a:rPr lang="en-US" sz="3926" strike="noStrike" u="none">
                <a:solidFill>
                  <a:srgbClr val="000000"/>
                </a:solidFill>
                <a:latin typeface="Times New Roman"/>
                <a:ea typeface="Times New Roman"/>
                <a:cs typeface="Times New Roman"/>
                <a:sym typeface="Times New Roman"/>
              </a:rPr>
              <a:t>ured form for ana</a:t>
            </a:r>
            <a:r>
              <a:rPr lang="en-US" sz="3926" strike="noStrike" u="none">
                <a:solidFill>
                  <a:srgbClr val="000000"/>
                </a:solidFill>
                <a:latin typeface="Times New Roman"/>
                <a:ea typeface="Times New Roman"/>
                <a:cs typeface="Times New Roman"/>
                <a:sym typeface="Times New Roman"/>
              </a:rPr>
              <a:t>l</a:t>
            </a:r>
            <a:r>
              <a:rPr lang="en-US" sz="3926" strike="noStrike" u="none">
                <a:solidFill>
                  <a:srgbClr val="000000"/>
                </a:solidFill>
                <a:latin typeface="Times New Roman"/>
                <a:ea typeface="Times New Roman"/>
                <a:cs typeface="Times New Roman"/>
                <a:sym typeface="Times New Roman"/>
              </a:rPr>
              <a:t>ysis. </a:t>
            </a:r>
          </a:p>
          <a:p>
            <a:pPr algn="just" marL="847651" indent="-423826" lvl="1">
              <a:lnSpc>
                <a:spcPts val="5064"/>
              </a:lnSpc>
              <a:buFont typeface="Arial"/>
              <a:buChar char="•"/>
            </a:pPr>
            <a:r>
              <a:rPr lang="en-US" sz="3926" strike="noStrike" u="none">
                <a:solidFill>
                  <a:srgbClr val="000000"/>
                </a:solidFill>
                <a:latin typeface="Times New Roman"/>
                <a:ea typeface="Times New Roman"/>
                <a:cs typeface="Times New Roman"/>
                <a:sym typeface="Times New Roman"/>
              </a:rPr>
              <a:t>This project uses web scraping techniques to collect restaurant data from EazyDiner and applies exploratory data analysis to identify patterns in restaurant ratings, cuisine popularity, and pricing trends.</a:t>
            </a:r>
          </a:p>
        </p:txBody>
      </p:sp>
      <p:grpSp>
        <p:nvGrpSpPr>
          <p:cNvPr name="Group 5" id="5"/>
          <p:cNvGrpSpPr/>
          <p:nvPr/>
        </p:nvGrpSpPr>
        <p:grpSpPr>
          <a:xfrm rot="0">
            <a:off x="13271710" y="9055162"/>
            <a:ext cx="4838100" cy="1009526"/>
            <a:chOff x="0" y="0"/>
            <a:chExt cx="6450800" cy="1346035"/>
          </a:xfrm>
        </p:grpSpPr>
        <p:sp>
          <p:nvSpPr>
            <p:cNvPr name="Freeform 6" id="6"/>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390773"/>
            <a:ext cx="152400" cy="209550"/>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Times New Roman"/>
                <a:ea typeface="Times New Roman"/>
                <a:cs typeface="Times New Roman"/>
                <a:sym typeface="Times New Roman"/>
              </a:rPr>
              <a:t>4</a:t>
            </a:r>
          </a:p>
        </p:txBody>
      </p:sp>
      <p:sp>
        <p:nvSpPr>
          <p:cNvPr name="TextBox 3" id="3"/>
          <p:cNvSpPr txBox="true"/>
          <p:nvPr/>
        </p:nvSpPr>
        <p:spPr>
          <a:xfrm rot="0">
            <a:off x="990600" y="1156082"/>
            <a:ext cx="5166717" cy="892175"/>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E52328"/>
                </a:solidFill>
                <a:latin typeface="Times New Roman Bold"/>
                <a:ea typeface="Times New Roman Bold"/>
                <a:cs typeface="Times New Roman Bold"/>
                <a:sym typeface="Times New Roman Bold"/>
              </a:rPr>
              <a:t>Problem Statment:</a:t>
            </a:r>
          </a:p>
        </p:txBody>
      </p:sp>
      <p:sp>
        <p:nvSpPr>
          <p:cNvPr name="TextBox 4" id="4"/>
          <p:cNvSpPr txBox="true"/>
          <p:nvPr/>
        </p:nvSpPr>
        <p:spPr>
          <a:xfrm rot="0">
            <a:off x="673156" y="2041465"/>
            <a:ext cx="16713184" cy="3884775"/>
          </a:xfrm>
          <a:prstGeom prst="rect">
            <a:avLst/>
          </a:prstGeom>
        </p:spPr>
        <p:txBody>
          <a:bodyPr anchor="t" rtlCol="false" tIns="0" lIns="0" bIns="0" rIns="0">
            <a:spAutoFit/>
          </a:bodyPr>
          <a:lstStyle/>
          <a:p>
            <a:pPr algn="l" marL="836595" indent="-418298" lvl="1">
              <a:lnSpc>
                <a:spcPts val="6161"/>
              </a:lnSpc>
              <a:buAutoNum type="arabicPeriod" startAt="1"/>
            </a:pPr>
            <a:r>
              <a:rPr lang="en-US" sz="3874">
                <a:solidFill>
                  <a:srgbClr val="000000"/>
                </a:solidFill>
                <a:latin typeface="Times New Roman"/>
                <a:ea typeface="Times New Roman"/>
                <a:cs typeface="Times New Roman"/>
                <a:sym typeface="Times New Roman"/>
              </a:rPr>
              <a:t>Restaurant platforms contain valuable information about ratings, pricing, cuisines, and offers, but this data is not available in structured form for analysis.</a:t>
            </a:r>
          </a:p>
          <a:p>
            <a:pPr algn="l" marL="836595" indent="-418298" lvl="1">
              <a:lnSpc>
                <a:spcPts val="6161"/>
              </a:lnSpc>
              <a:buAutoNum type="arabicPeriod" startAt="1"/>
            </a:pPr>
            <a:r>
              <a:rPr lang="en-US" sz="3874">
                <a:solidFill>
                  <a:srgbClr val="000000"/>
                </a:solidFill>
                <a:latin typeface="Times New Roman"/>
                <a:ea typeface="Times New Roman"/>
                <a:cs typeface="Times New Roman"/>
                <a:sym typeface="Times New Roman"/>
              </a:rPr>
              <a:t> This project uses web scraping and exploratory data analysis to collect and analyze restaurant data in order to understand customer preferences, pricing trends, and restaurant market behavior.</a:t>
            </a:r>
          </a:p>
        </p:txBody>
      </p:sp>
      <p:grpSp>
        <p:nvGrpSpPr>
          <p:cNvPr name="Group 5" id="5"/>
          <p:cNvGrpSpPr/>
          <p:nvPr/>
        </p:nvGrpSpPr>
        <p:grpSpPr>
          <a:xfrm rot="0">
            <a:off x="13221348" y="9277474"/>
            <a:ext cx="4838100" cy="1009526"/>
            <a:chOff x="0" y="0"/>
            <a:chExt cx="6450800" cy="1346035"/>
          </a:xfrm>
        </p:grpSpPr>
        <p:sp>
          <p:nvSpPr>
            <p:cNvPr name="Freeform 6" id="6"/>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name="TextBox 3" id="3"/>
          <p:cNvSpPr txBox="true"/>
          <p:nvPr/>
        </p:nvSpPr>
        <p:spPr>
          <a:xfrm rot="0">
            <a:off x="928090" y="508952"/>
            <a:ext cx="5667137" cy="915670"/>
          </a:xfrm>
          <a:prstGeom prst="rect">
            <a:avLst/>
          </a:prstGeom>
        </p:spPr>
        <p:txBody>
          <a:bodyPr anchor="t" rtlCol="false" tIns="0" lIns="0" bIns="0" rIns="0">
            <a:spAutoFit/>
          </a:bodyPr>
          <a:lstStyle/>
          <a:p>
            <a:pPr algn="ctr" marL="0" indent="0" lvl="0">
              <a:lnSpc>
                <a:spcPts val="7279"/>
              </a:lnSpc>
              <a:spcBef>
                <a:spcPct val="0"/>
              </a:spcBef>
            </a:pPr>
            <a:r>
              <a:rPr lang="en-US" b="true" sz="5199">
                <a:solidFill>
                  <a:srgbClr val="FF3131"/>
                </a:solidFill>
                <a:latin typeface="Times New Roman Bold"/>
                <a:ea typeface="Times New Roman Bold"/>
                <a:cs typeface="Times New Roman Bold"/>
                <a:sym typeface="Times New Roman Bold"/>
              </a:rPr>
              <a:t>Dataset information</a:t>
            </a:r>
          </a:p>
        </p:txBody>
      </p:sp>
      <p:sp>
        <p:nvSpPr>
          <p:cNvPr name="TextBox 4" id="4"/>
          <p:cNvSpPr txBox="true"/>
          <p:nvPr/>
        </p:nvSpPr>
        <p:spPr>
          <a:xfrm rot="0">
            <a:off x="984145" y="1549086"/>
            <a:ext cx="14512657" cy="2907029"/>
          </a:xfrm>
          <a:prstGeom prst="rect">
            <a:avLst/>
          </a:prstGeom>
        </p:spPr>
        <p:txBody>
          <a:bodyPr anchor="t" rtlCol="false" tIns="0" lIns="0" bIns="0" rIns="0">
            <a:spAutoFit/>
          </a:bodyPr>
          <a:lstStyle/>
          <a:p>
            <a:pPr algn="l">
              <a:lnSpc>
                <a:spcPts val="4620"/>
              </a:lnSpc>
              <a:spcBef>
                <a:spcPct val="0"/>
              </a:spcBef>
            </a:pPr>
            <a:r>
              <a:rPr lang="en-US" sz="3300">
                <a:solidFill>
                  <a:srgbClr val="000000"/>
                </a:solidFill>
                <a:latin typeface="Times New Roman"/>
                <a:ea typeface="Times New Roman"/>
                <a:cs typeface="Times New Roman"/>
                <a:sym typeface="Times New Roman"/>
              </a:rPr>
              <a:t>Dataset: Restaurant_Market_Analysis</a:t>
            </a:r>
          </a:p>
          <a:p>
            <a:pPr algn="l">
              <a:lnSpc>
                <a:spcPts val="4620"/>
              </a:lnSpc>
              <a:spcBef>
                <a:spcPct val="0"/>
              </a:spcBef>
            </a:pPr>
            <a:r>
              <a:rPr lang="en-US" sz="3300" strike="noStrike" u="none">
                <a:solidFill>
                  <a:srgbClr val="000000"/>
                </a:solidFill>
                <a:latin typeface="Times New Roman"/>
                <a:ea typeface="Times New Roman"/>
                <a:cs typeface="Times New Roman"/>
                <a:sym typeface="Times New Roman"/>
              </a:rPr>
              <a:t>Source: EasyDinner.com</a:t>
            </a:r>
          </a:p>
          <a:p>
            <a:pPr algn="l" marL="0" indent="0" lvl="0">
              <a:lnSpc>
                <a:spcPts val="4620"/>
              </a:lnSpc>
              <a:spcBef>
                <a:spcPct val="0"/>
              </a:spcBef>
            </a:pPr>
            <a:r>
              <a:rPr lang="en-US" sz="3300" strike="noStrike" u="none">
                <a:solidFill>
                  <a:srgbClr val="000000"/>
                </a:solidFill>
                <a:latin typeface="Times New Roman"/>
                <a:ea typeface="Times New Roman"/>
                <a:cs typeface="Times New Roman"/>
                <a:sym typeface="Times New Roman"/>
              </a:rPr>
              <a:t>Description: Contains information about restaurant details and their prices in   </a:t>
            </a:r>
          </a:p>
          <a:p>
            <a:pPr algn="l">
              <a:lnSpc>
                <a:spcPts val="4620"/>
              </a:lnSpc>
              <a:spcBef>
                <a:spcPct val="0"/>
              </a:spcBef>
            </a:pPr>
            <a:r>
              <a:rPr lang="en-US" sz="3300" strike="noStrike" u="none">
                <a:solidFill>
                  <a:srgbClr val="000000"/>
                </a:solidFill>
                <a:latin typeface="Times New Roman"/>
                <a:ea typeface="Times New Roman"/>
                <a:cs typeface="Times New Roman"/>
                <a:sym typeface="Times New Roman"/>
              </a:rPr>
              <a:t>Hyderabad,Chennai,Mumbai,Delhi</a:t>
            </a:r>
          </a:p>
          <a:p>
            <a:pPr algn="l" marL="0" indent="0" lvl="0">
              <a:lnSpc>
                <a:spcPts val="462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grpSp>
        <p:nvGrpSpPr>
          <p:cNvPr name="Group 3" id="3"/>
          <p:cNvGrpSpPr/>
          <p:nvPr/>
        </p:nvGrpSpPr>
        <p:grpSpPr>
          <a:xfrm rot="0">
            <a:off x="13271710" y="9055162"/>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Freeform 5" id="5"/>
          <p:cNvSpPr/>
          <p:nvPr/>
        </p:nvSpPr>
        <p:spPr>
          <a:xfrm flipH="false" flipV="false" rot="0">
            <a:off x="10384555" y="4011045"/>
            <a:ext cx="5750608" cy="1610047"/>
          </a:xfrm>
          <a:custGeom>
            <a:avLst/>
            <a:gdLst/>
            <a:ahLst/>
            <a:cxnLst/>
            <a:rect r="r" b="b" t="t" l="l"/>
            <a:pathLst>
              <a:path h="1610047" w="5750608">
                <a:moveTo>
                  <a:pt x="0" y="0"/>
                </a:moveTo>
                <a:lnTo>
                  <a:pt x="5750608" y="0"/>
                </a:lnTo>
                <a:lnTo>
                  <a:pt x="5750608" y="1610047"/>
                </a:lnTo>
                <a:lnTo>
                  <a:pt x="0" y="1610047"/>
                </a:lnTo>
                <a:lnTo>
                  <a:pt x="0" y="0"/>
                </a:lnTo>
                <a:close/>
              </a:path>
            </a:pathLst>
          </a:custGeom>
          <a:blipFill>
            <a:blip r:embed="rId3"/>
            <a:stretch>
              <a:fillRect l="0" t="-116895" r="0" b="-140274"/>
            </a:stretch>
          </a:blipFill>
        </p:spPr>
      </p:sp>
      <p:sp>
        <p:nvSpPr>
          <p:cNvPr name="Freeform 6" id="6"/>
          <p:cNvSpPr/>
          <p:nvPr/>
        </p:nvSpPr>
        <p:spPr>
          <a:xfrm flipH="false" flipV="false" rot="0">
            <a:off x="10384555" y="-1594489"/>
            <a:ext cx="5774311" cy="2171464"/>
          </a:xfrm>
          <a:custGeom>
            <a:avLst/>
            <a:gdLst/>
            <a:ahLst/>
            <a:cxnLst/>
            <a:rect r="r" b="b" t="t" l="l"/>
            <a:pathLst>
              <a:path h="2171464" w="5774311">
                <a:moveTo>
                  <a:pt x="0" y="0"/>
                </a:moveTo>
                <a:lnTo>
                  <a:pt x="5774311" y="0"/>
                </a:lnTo>
                <a:lnTo>
                  <a:pt x="5774311" y="2171464"/>
                </a:lnTo>
                <a:lnTo>
                  <a:pt x="0" y="2171464"/>
                </a:lnTo>
                <a:lnTo>
                  <a:pt x="0" y="0"/>
                </a:lnTo>
                <a:close/>
              </a:path>
            </a:pathLst>
          </a:custGeom>
          <a:blipFill>
            <a:blip r:embed="rId4"/>
            <a:stretch>
              <a:fillRect l="0" t="-94467" r="0" b="-71450"/>
            </a:stretch>
          </a:blipFill>
        </p:spPr>
      </p:sp>
      <p:sp>
        <p:nvSpPr>
          <p:cNvPr name="Freeform 7" id="7"/>
          <p:cNvSpPr/>
          <p:nvPr/>
        </p:nvSpPr>
        <p:spPr>
          <a:xfrm flipH="false" flipV="false" rot="0">
            <a:off x="1028700" y="4543817"/>
            <a:ext cx="5679687" cy="1600639"/>
          </a:xfrm>
          <a:custGeom>
            <a:avLst/>
            <a:gdLst/>
            <a:ahLst/>
            <a:cxnLst/>
            <a:rect r="r" b="b" t="t" l="l"/>
            <a:pathLst>
              <a:path h="1600639" w="5679687">
                <a:moveTo>
                  <a:pt x="0" y="0"/>
                </a:moveTo>
                <a:lnTo>
                  <a:pt x="5679687" y="0"/>
                </a:lnTo>
                <a:lnTo>
                  <a:pt x="5679687" y="1600639"/>
                </a:lnTo>
                <a:lnTo>
                  <a:pt x="0" y="1600639"/>
                </a:lnTo>
                <a:lnTo>
                  <a:pt x="0" y="0"/>
                </a:lnTo>
                <a:close/>
              </a:path>
            </a:pathLst>
          </a:custGeom>
          <a:blipFill>
            <a:blip r:embed="rId5"/>
            <a:stretch>
              <a:fillRect l="0" t="0" r="0" b="0"/>
            </a:stretch>
          </a:blipFill>
        </p:spPr>
      </p:sp>
      <p:sp>
        <p:nvSpPr>
          <p:cNvPr name="Freeform 8" id="8"/>
          <p:cNvSpPr/>
          <p:nvPr/>
        </p:nvSpPr>
        <p:spPr>
          <a:xfrm flipH="false" flipV="false" rot="0">
            <a:off x="10476699" y="6852380"/>
            <a:ext cx="5844946" cy="2029873"/>
          </a:xfrm>
          <a:custGeom>
            <a:avLst/>
            <a:gdLst/>
            <a:ahLst/>
            <a:cxnLst/>
            <a:rect r="r" b="b" t="t" l="l"/>
            <a:pathLst>
              <a:path h="2029873" w="5844946">
                <a:moveTo>
                  <a:pt x="0" y="0"/>
                </a:moveTo>
                <a:lnTo>
                  <a:pt x="5844945" y="0"/>
                </a:lnTo>
                <a:lnTo>
                  <a:pt x="5844945" y="2029872"/>
                </a:lnTo>
                <a:lnTo>
                  <a:pt x="0" y="2029872"/>
                </a:lnTo>
                <a:lnTo>
                  <a:pt x="0" y="0"/>
                </a:lnTo>
                <a:close/>
              </a:path>
            </a:pathLst>
          </a:custGeom>
          <a:blipFill>
            <a:blip r:embed="rId6"/>
            <a:stretch>
              <a:fillRect l="0" t="0" r="0" b="0"/>
            </a:stretch>
          </a:blipFill>
        </p:spPr>
      </p:sp>
      <p:sp>
        <p:nvSpPr>
          <p:cNvPr name="Freeform 9" id="9"/>
          <p:cNvSpPr/>
          <p:nvPr/>
        </p:nvSpPr>
        <p:spPr>
          <a:xfrm flipH="false" flipV="false" rot="0">
            <a:off x="1417362" y="6852380"/>
            <a:ext cx="4902362" cy="2202782"/>
          </a:xfrm>
          <a:custGeom>
            <a:avLst/>
            <a:gdLst/>
            <a:ahLst/>
            <a:cxnLst/>
            <a:rect r="r" b="b" t="t" l="l"/>
            <a:pathLst>
              <a:path h="2202782" w="4902362">
                <a:moveTo>
                  <a:pt x="0" y="0"/>
                </a:moveTo>
                <a:lnTo>
                  <a:pt x="4902363" y="0"/>
                </a:lnTo>
                <a:lnTo>
                  <a:pt x="4902363" y="2202782"/>
                </a:lnTo>
                <a:lnTo>
                  <a:pt x="0" y="2202782"/>
                </a:lnTo>
                <a:lnTo>
                  <a:pt x="0" y="0"/>
                </a:lnTo>
                <a:close/>
              </a:path>
            </a:pathLst>
          </a:custGeom>
          <a:blipFill>
            <a:blip r:embed="rId7"/>
            <a:stretch>
              <a:fillRect l="0" t="0" r="0" b="0"/>
            </a:stretch>
          </a:blipFill>
        </p:spPr>
      </p:sp>
      <p:sp>
        <p:nvSpPr>
          <p:cNvPr name="Freeform 10" id="10"/>
          <p:cNvSpPr/>
          <p:nvPr/>
        </p:nvSpPr>
        <p:spPr>
          <a:xfrm flipH="false" flipV="false" rot="0">
            <a:off x="1123324" y="1695703"/>
            <a:ext cx="5660658" cy="2429014"/>
          </a:xfrm>
          <a:custGeom>
            <a:avLst/>
            <a:gdLst/>
            <a:ahLst/>
            <a:cxnLst/>
            <a:rect r="r" b="b" t="t" l="l"/>
            <a:pathLst>
              <a:path h="2429014" w="5660658">
                <a:moveTo>
                  <a:pt x="0" y="0"/>
                </a:moveTo>
                <a:lnTo>
                  <a:pt x="5660658" y="0"/>
                </a:lnTo>
                <a:lnTo>
                  <a:pt x="5660658" y="2429014"/>
                </a:lnTo>
                <a:lnTo>
                  <a:pt x="0" y="2429014"/>
                </a:lnTo>
                <a:lnTo>
                  <a:pt x="0" y="0"/>
                </a:lnTo>
                <a:close/>
              </a:path>
            </a:pathLst>
          </a:custGeom>
          <a:blipFill>
            <a:blip r:embed="rId8"/>
            <a:stretch>
              <a:fillRect l="0" t="0" r="0" b="0"/>
            </a:stretch>
          </a:blipFill>
        </p:spPr>
      </p:sp>
      <p:sp>
        <p:nvSpPr>
          <p:cNvPr name="Freeform 11" id="11"/>
          <p:cNvSpPr/>
          <p:nvPr/>
        </p:nvSpPr>
        <p:spPr>
          <a:xfrm flipH="false" flipV="false" rot="0">
            <a:off x="10384555" y="2169682"/>
            <a:ext cx="5574395" cy="1589042"/>
          </a:xfrm>
          <a:custGeom>
            <a:avLst/>
            <a:gdLst/>
            <a:ahLst/>
            <a:cxnLst/>
            <a:rect r="r" b="b" t="t" l="l"/>
            <a:pathLst>
              <a:path h="1589042" w="5574395">
                <a:moveTo>
                  <a:pt x="0" y="0"/>
                </a:moveTo>
                <a:lnTo>
                  <a:pt x="5574395" y="0"/>
                </a:lnTo>
                <a:lnTo>
                  <a:pt x="5574395" y="1589042"/>
                </a:lnTo>
                <a:lnTo>
                  <a:pt x="0" y="1589042"/>
                </a:lnTo>
                <a:lnTo>
                  <a:pt x="0" y="0"/>
                </a:lnTo>
                <a:close/>
              </a:path>
            </a:pathLst>
          </a:custGeom>
          <a:blipFill>
            <a:blip r:embed="rId9"/>
            <a:stretch>
              <a:fillRect l="0" t="0" r="0" b="0"/>
            </a:stretch>
          </a:blipFill>
        </p:spPr>
      </p:sp>
      <p:sp>
        <p:nvSpPr>
          <p:cNvPr name="TextBox 12" id="12"/>
          <p:cNvSpPr txBox="true"/>
          <p:nvPr/>
        </p:nvSpPr>
        <p:spPr>
          <a:xfrm rot="0">
            <a:off x="1028700" y="473328"/>
            <a:ext cx="10183295" cy="974725"/>
          </a:xfrm>
          <a:prstGeom prst="rect">
            <a:avLst/>
          </a:prstGeom>
        </p:spPr>
        <p:txBody>
          <a:bodyPr anchor="t" rtlCol="false" tIns="0" lIns="0" bIns="0" rIns="0">
            <a:spAutoFit/>
          </a:bodyPr>
          <a:lstStyle/>
          <a:p>
            <a:pPr algn="l" marL="0" indent="0" lvl="0">
              <a:lnSpc>
                <a:spcPts val="7699"/>
              </a:lnSpc>
              <a:spcBef>
                <a:spcPct val="0"/>
              </a:spcBef>
            </a:pPr>
            <a:r>
              <a:rPr lang="en-US" b="true" sz="5499">
                <a:solidFill>
                  <a:srgbClr val="E52328"/>
                </a:solidFill>
                <a:latin typeface="Times New Roman Bold"/>
                <a:ea typeface="Times New Roman Bold"/>
                <a:cs typeface="Times New Roman Bold"/>
                <a:sym typeface="Times New Roman Bold"/>
              </a:rPr>
              <a:t>Tools &amp; Libraries Used: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grpSp>
        <p:nvGrpSpPr>
          <p:cNvPr name="Group 3" id="3"/>
          <p:cNvGrpSpPr/>
          <p:nvPr/>
        </p:nvGrpSpPr>
        <p:grpSpPr>
          <a:xfrm rot="0">
            <a:off x="13271710" y="9131362"/>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TextBox 5" id="5"/>
          <p:cNvSpPr txBox="true"/>
          <p:nvPr/>
        </p:nvSpPr>
        <p:spPr>
          <a:xfrm rot="0">
            <a:off x="1028700" y="1062296"/>
            <a:ext cx="3931877" cy="915670"/>
          </a:xfrm>
          <a:prstGeom prst="rect">
            <a:avLst/>
          </a:prstGeom>
        </p:spPr>
        <p:txBody>
          <a:bodyPr anchor="t" rtlCol="false" tIns="0" lIns="0" bIns="0" rIns="0">
            <a:spAutoFit/>
          </a:bodyPr>
          <a:lstStyle/>
          <a:p>
            <a:pPr algn="ctr" marL="0" indent="0" lvl="0">
              <a:lnSpc>
                <a:spcPts val="7279"/>
              </a:lnSpc>
              <a:spcBef>
                <a:spcPct val="0"/>
              </a:spcBef>
            </a:pPr>
            <a:r>
              <a:rPr lang="en-US" b="true" sz="5199">
                <a:solidFill>
                  <a:srgbClr val="E52328"/>
                </a:solidFill>
                <a:latin typeface="Times New Roman Bold"/>
                <a:ea typeface="Times New Roman Bold"/>
                <a:cs typeface="Times New Roman Bold"/>
                <a:sym typeface="Times New Roman Bold"/>
              </a:rPr>
              <a:t>Web scraping</a:t>
            </a:r>
          </a:p>
        </p:txBody>
      </p:sp>
      <p:sp>
        <p:nvSpPr>
          <p:cNvPr name="TextBox 6" id="6"/>
          <p:cNvSpPr txBox="true"/>
          <p:nvPr/>
        </p:nvSpPr>
        <p:spPr>
          <a:xfrm rot="0">
            <a:off x="510981" y="2171789"/>
            <a:ext cx="16365806" cy="5407718"/>
          </a:xfrm>
          <a:prstGeom prst="rect">
            <a:avLst/>
          </a:prstGeom>
        </p:spPr>
        <p:txBody>
          <a:bodyPr anchor="t" rtlCol="false" tIns="0" lIns="0" bIns="0" rIns="0">
            <a:spAutoFit/>
          </a:bodyPr>
          <a:lstStyle/>
          <a:p>
            <a:pPr algn="just" marL="830724" indent="-415362" lvl="1">
              <a:lnSpc>
                <a:spcPts val="5386"/>
              </a:lnSpc>
              <a:buFont typeface="Arial"/>
              <a:buChar char="•"/>
            </a:pPr>
            <a:r>
              <a:rPr lang="en-US" sz="3847">
                <a:solidFill>
                  <a:srgbClr val="000000"/>
                </a:solidFill>
                <a:latin typeface="Times New Roman"/>
                <a:ea typeface="Times New Roman"/>
                <a:cs typeface="Times New Roman"/>
                <a:sym typeface="Times New Roman"/>
              </a:rPr>
              <a:t>Collected Restaurent data from the Easy Dinner website using web scraping techniques.</a:t>
            </a:r>
          </a:p>
          <a:p>
            <a:pPr algn="just" marL="830724" indent="-415362" lvl="1">
              <a:lnSpc>
                <a:spcPts val="5386"/>
              </a:lnSpc>
              <a:buFont typeface="Arial"/>
              <a:buChar char="•"/>
            </a:pPr>
            <a:r>
              <a:rPr lang="en-US" sz="3847">
                <a:solidFill>
                  <a:srgbClr val="000000"/>
                </a:solidFill>
                <a:latin typeface="Times New Roman"/>
                <a:ea typeface="Times New Roman"/>
                <a:cs typeface="Times New Roman"/>
                <a:sym typeface="Times New Roman"/>
              </a:rPr>
              <a:t>Extracted key details such as Restaurant name, price, ratings, and Offers..</a:t>
            </a:r>
          </a:p>
          <a:p>
            <a:pPr algn="just" marL="830724" indent="-415362" lvl="1">
              <a:lnSpc>
                <a:spcPts val="5386"/>
              </a:lnSpc>
              <a:buFont typeface="Arial"/>
              <a:buChar char="•"/>
            </a:pPr>
            <a:r>
              <a:rPr lang="en-US" sz="3847">
                <a:solidFill>
                  <a:srgbClr val="000000"/>
                </a:solidFill>
                <a:latin typeface="Times New Roman"/>
                <a:ea typeface="Times New Roman"/>
                <a:cs typeface="Times New Roman"/>
                <a:sym typeface="Times New Roman"/>
              </a:rPr>
              <a:t>Used powerful Python libraries like BeautifulSoup and Requests for data extraction.Sent HTTP requests to fetch web pages.</a:t>
            </a:r>
          </a:p>
          <a:p>
            <a:pPr algn="just" marL="830724" indent="-415362" lvl="1">
              <a:lnSpc>
                <a:spcPts val="5386"/>
              </a:lnSpc>
              <a:buFont typeface="Arial"/>
              <a:buChar char="•"/>
            </a:pPr>
            <a:r>
              <a:rPr lang="en-US" sz="3847">
                <a:solidFill>
                  <a:srgbClr val="000000"/>
                </a:solidFill>
                <a:latin typeface="Times New Roman"/>
                <a:ea typeface="Times New Roman"/>
                <a:cs typeface="Times New Roman"/>
                <a:sym typeface="Times New Roman"/>
              </a:rPr>
              <a:t>Automated the process to gather large-scale real-time data efficiently.</a:t>
            </a:r>
          </a:p>
          <a:p>
            <a:pPr algn="just" marL="830724" indent="-415362" lvl="1">
              <a:lnSpc>
                <a:spcPts val="5386"/>
              </a:lnSpc>
              <a:buFont typeface="Arial"/>
              <a:buChar char="•"/>
            </a:pPr>
            <a:r>
              <a:rPr lang="en-US" sz="3847">
                <a:solidFill>
                  <a:srgbClr val="000000"/>
                </a:solidFill>
                <a:latin typeface="Times New Roman"/>
                <a:ea typeface="Times New Roman"/>
                <a:cs typeface="Times New Roman"/>
                <a:sym typeface="Times New Roman"/>
              </a:rPr>
              <a:t>Cleaned and structured the scraped data for EDA and visualization.</a:t>
            </a:r>
          </a:p>
          <a:p>
            <a:pPr algn="just">
              <a:lnSpc>
                <a:spcPts val="5386"/>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524552"/>
            <a:ext cx="15522429" cy="8035373"/>
          </a:xfrm>
          <a:custGeom>
            <a:avLst/>
            <a:gdLst/>
            <a:ahLst/>
            <a:cxnLst/>
            <a:rect r="r" b="b" t="t" l="l"/>
            <a:pathLst>
              <a:path h="8035373" w="15522429">
                <a:moveTo>
                  <a:pt x="0" y="0"/>
                </a:moveTo>
                <a:lnTo>
                  <a:pt x="15522429" y="0"/>
                </a:lnTo>
                <a:lnTo>
                  <a:pt x="15522429" y="8035373"/>
                </a:lnTo>
                <a:lnTo>
                  <a:pt x="0" y="8035373"/>
                </a:lnTo>
                <a:lnTo>
                  <a:pt x="0" y="0"/>
                </a:lnTo>
                <a:close/>
              </a:path>
            </a:pathLst>
          </a:custGeom>
          <a:blipFill>
            <a:blip r:embed="rId2"/>
            <a:stretch>
              <a:fillRect l="0" t="-467" r="0" b="-467"/>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name="TextBox 4" id="4"/>
          <p:cNvSpPr txBox="true"/>
          <p:nvPr/>
        </p:nvSpPr>
        <p:spPr>
          <a:xfrm rot="0">
            <a:off x="945192" y="461651"/>
            <a:ext cx="3733800" cy="991222"/>
          </a:xfrm>
          <a:prstGeom prst="rect">
            <a:avLst/>
          </a:prstGeom>
        </p:spPr>
        <p:txBody>
          <a:bodyPr anchor="t" rtlCol="false" tIns="0" lIns="0" bIns="0" rIns="0">
            <a:spAutoFit/>
          </a:bodyPr>
          <a:lstStyle/>
          <a:p>
            <a:pPr algn="ctr" marL="0" indent="0" lvl="0">
              <a:lnSpc>
                <a:spcPts val="7840"/>
              </a:lnSpc>
              <a:spcBef>
                <a:spcPct val="0"/>
              </a:spcBef>
            </a:pPr>
            <a:r>
              <a:rPr lang="en-US" b="true" sz="5600">
                <a:solidFill>
                  <a:srgbClr val="FF3131"/>
                </a:solidFill>
                <a:latin typeface="Times New Roman Bold"/>
                <a:ea typeface="Times New Roman Bold"/>
                <a:cs typeface="Times New Roman Bold"/>
                <a:sym typeface="Times New Roman Bold"/>
              </a:rPr>
              <a:t>Raw dataset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grpSp>
        <p:nvGrpSpPr>
          <p:cNvPr name="Group 3" id="3"/>
          <p:cNvGrpSpPr/>
          <p:nvPr/>
        </p:nvGrpSpPr>
        <p:grpSpPr>
          <a:xfrm rot="0">
            <a:off x="13173942" y="9210675"/>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Freeform 5" id="5"/>
          <p:cNvSpPr/>
          <p:nvPr/>
        </p:nvSpPr>
        <p:spPr>
          <a:xfrm flipH="false" flipV="false" rot="0">
            <a:off x="-4474123" y="9715438"/>
            <a:ext cx="4474123" cy="6771113"/>
          </a:xfrm>
          <a:custGeom>
            <a:avLst/>
            <a:gdLst/>
            <a:ahLst/>
            <a:cxnLst/>
            <a:rect r="r" b="b" t="t" l="l"/>
            <a:pathLst>
              <a:path h="6771113" w="4474123">
                <a:moveTo>
                  <a:pt x="0" y="0"/>
                </a:moveTo>
                <a:lnTo>
                  <a:pt x="4474123" y="0"/>
                </a:lnTo>
                <a:lnTo>
                  <a:pt x="4474123" y="6771113"/>
                </a:lnTo>
                <a:lnTo>
                  <a:pt x="0" y="6771113"/>
                </a:lnTo>
                <a:lnTo>
                  <a:pt x="0" y="0"/>
                </a:lnTo>
                <a:close/>
              </a:path>
            </a:pathLst>
          </a:custGeom>
          <a:blipFill>
            <a:blip r:embed="rId3"/>
            <a:stretch>
              <a:fillRect l="-2483" t="0" r="0" b="0"/>
            </a:stretch>
          </a:blipFill>
        </p:spPr>
      </p:sp>
      <p:sp>
        <p:nvSpPr>
          <p:cNvPr name="Freeform 6" id="6"/>
          <p:cNvSpPr/>
          <p:nvPr/>
        </p:nvSpPr>
        <p:spPr>
          <a:xfrm flipH="false" flipV="false" rot="0">
            <a:off x="10849418" y="833244"/>
            <a:ext cx="5541863" cy="8009220"/>
          </a:xfrm>
          <a:custGeom>
            <a:avLst/>
            <a:gdLst/>
            <a:ahLst/>
            <a:cxnLst/>
            <a:rect r="r" b="b" t="t" l="l"/>
            <a:pathLst>
              <a:path h="8009220" w="5541863">
                <a:moveTo>
                  <a:pt x="0" y="0"/>
                </a:moveTo>
                <a:lnTo>
                  <a:pt x="5541863" y="0"/>
                </a:lnTo>
                <a:lnTo>
                  <a:pt x="5541863" y="8009219"/>
                </a:lnTo>
                <a:lnTo>
                  <a:pt x="0" y="8009219"/>
                </a:lnTo>
                <a:lnTo>
                  <a:pt x="0" y="0"/>
                </a:lnTo>
                <a:close/>
              </a:path>
            </a:pathLst>
          </a:custGeom>
          <a:blipFill>
            <a:blip r:embed="rId4"/>
            <a:stretch>
              <a:fillRect l="0" t="0" r="0" b="0"/>
            </a:stretch>
          </a:blipFill>
        </p:spPr>
      </p:sp>
      <p:sp>
        <p:nvSpPr>
          <p:cNvPr name="TextBox 7" id="7"/>
          <p:cNvSpPr txBox="true"/>
          <p:nvPr/>
        </p:nvSpPr>
        <p:spPr>
          <a:xfrm rot="0">
            <a:off x="971827" y="419106"/>
            <a:ext cx="6858476" cy="1066788"/>
          </a:xfrm>
          <a:prstGeom prst="rect">
            <a:avLst/>
          </a:prstGeom>
        </p:spPr>
        <p:txBody>
          <a:bodyPr anchor="t" rtlCol="false" tIns="0" lIns="0" bIns="0" rIns="0">
            <a:spAutoFit/>
          </a:bodyPr>
          <a:lstStyle/>
          <a:p>
            <a:pPr algn="ctr" marL="0" indent="0" lvl="0">
              <a:lnSpc>
                <a:spcPts val="8400"/>
              </a:lnSpc>
              <a:spcBef>
                <a:spcPct val="0"/>
              </a:spcBef>
            </a:pPr>
            <a:r>
              <a:rPr lang="en-US" b="true" sz="6000">
                <a:solidFill>
                  <a:srgbClr val="E52328"/>
                </a:solidFill>
                <a:latin typeface="Times New Roman Bold"/>
                <a:ea typeface="Times New Roman Bold"/>
                <a:cs typeface="Times New Roman Bold"/>
                <a:sym typeface="Times New Roman Bold"/>
              </a:rPr>
              <a:t>Data Cleaning Steps:</a:t>
            </a:r>
          </a:p>
        </p:txBody>
      </p:sp>
      <p:sp>
        <p:nvSpPr>
          <p:cNvPr name="TextBox 8" id="8"/>
          <p:cNvSpPr txBox="true"/>
          <p:nvPr/>
        </p:nvSpPr>
        <p:spPr>
          <a:xfrm rot="0">
            <a:off x="981352" y="1742132"/>
            <a:ext cx="9697700" cy="5057014"/>
          </a:xfrm>
          <a:prstGeom prst="rect">
            <a:avLst/>
          </a:prstGeom>
        </p:spPr>
        <p:txBody>
          <a:bodyPr anchor="t" rtlCol="false" tIns="0" lIns="0" bIns="0" rIns="0">
            <a:spAutoFit/>
          </a:bodyPr>
          <a:lstStyle/>
          <a:p>
            <a:pPr algn="just" marL="0" indent="0" lvl="0">
              <a:lnSpc>
                <a:spcPts val="4490"/>
              </a:lnSpc>
              <a:spcBef>
                <a:spcPct val="0"/>
              </a:spcBef>
            </a:pPr>
            <a:r>
              <a:rPr lang="en-US" sz="3207">
                <a:solidFill>
                  <a:srgbClr val="000000"/>
                </a:solidFill>
                <a:latin typeface="Times New Roman"/>
                <a:ea typeface="Times New Roman"/>
                <a:cs typeface="Times New Roman"/>
                <a:sym typeface="Times New Roman"/>
              </a:rPr>
              <a:t>• Remove</a:t>
            </a:r>
            <a:r>
              <a:rPr lang="en-US" sz="3207" strike="noStrike" u="none">
                <a:solidFill>
                  <a:srgbClr val="000000"/>
                </a:solidFill>
                <a:latin typeface="Times New Roman"/>
                <a:ea typeface="Times New Roman"/>
                <a:cs typeface="Times New Roman"/>
                <a:sym typeface="Times New Roman"/>
              </a:rPr>
              <a:t>d</a:t>
            </a:r>
            <a:r>
              <a:rPr lang="en-US" sz="3207" strike="noStrike" u="none">
                <a:solidFill>
                  <a:srgbClr val="000000"/>
                </a:solidFill>
                <a:latin typeface="Times New Roman"/>
                <a:ea typeface="Times New Roman"/>
                <a:cs typeface="Times New Roman"/>
                <a:sym typeface="Times New Roman"/>
              </a:rPr>
              <a:t> </a:t>
            </a:r>
            <a:r>
              <a:rPr lang="en-US" sz="3207" strike="noStrike" u="none">
                <a:solidFill>
                  <a:srgbClr val="000000"/>
                </a:solidFill>
                <a:latin typeface="Times New Roman"/>
                <a:ea typeface="Times New Roman"/>
                <a:cs typeface="Times New Roman"/>
                <a:sym typeface="Times New Roman"/>
              </a:rPr>
              <a:t>d</a:t>
            </a:r>
            <a:r>
              <a:rPr lang="en-US" sz="3207" strike="noStrike" u="none">
                <a:solidFill>
                  <a:srgbClr val="000000"/>
                </a:solidFill>
                <a:latin typeface="Times New Roman"/>
                <a:ea typeface="Times New Roman"/>
                <a:cs typeface="Times New Roman"/>
                <a:sym typeface="Times New Roman"/>
              </a:rPr>
              <a:t>uplicate</a:t>
            </a:r>
            <a:r>
              <a:rPr lang="en-US" sz="3207" strike="noStrike" u="none">
                <a:solidFill>
                  <a:srgbClr val="000000"/>
                </a:solidFill>
                <a:latin typeface="Times New Roman"/>
                <a:ea typeface="Times New Roman"/>
                <a:cs typeface="Times New Roman"/>
                <a:sym typeface="Times New Roman"/>
              </a:rPr>
              <a:t> </a:t>
            </a:r>
            <a:r>
              <a:rPr lang="en-US" sz="3207" strike="noStrike" u="none">
                <a:solidFill>
                  <a:srgbClr val="000000"/>
                </a:solidFill>
                <a:latin typeface="Times New Roman"/>
                <a:ea typeface="Times New Roman"/>
                <a:cs typeface="Times New Roman"/>
                <a:sym typeface="Times New Roman"/>
              </a:rPr>
              <a:t>records to maintain dat</a:t>
            </a:r>
            <a:r>
              <a:rPr lang="en-US" sz="3207" strike="noStrike" u="none">
                <a:solidFill>
                  <a:srgbClr val="000000"/>
                </a:solidFill>
                <a:latin typeface="Times New Roman"/>
                <a:ea typeface="Times New Roman"/>
                <a:cs typeface="Times New Roman"/>
                <a:sym typeface="Times New Roman"/>
              </a:rPr>
              <a:t>a </a:t>
            </a:r>
            <a:r>
              <a:rPr lang="en-US" sz="3207" strike="noStrike" u="none">
                <a:solidFill>
                  <a:srgbClr val="000000"/>
                </a:solidFill>
                <a:latin typeface="Times New Roman"/>
                <a:ea typeface="Times New Roman"/>
                <a:cs typeface="Times New Roman"/>
                <a:sym typeface="Times New Roman"/>
              </a:rPr>
              <a:t>consistency.</a:t>
            </a:r>
          </a:p>
          <a:p>
            <a:pPr algn="just" marL="0" indent="0" lvl="0">
              <a:lnSpc>
                <a:spcPts val="4490"/>
              </a:lnSpc>
              <a:spcBef>
                <a:spcPct val="0"/>
              </a:spcBef>
            </a:pPr>
            <a:r>
              <a:rPr lang="en-US" sz="3207" strike="noStrike" u="none">
                <a:solidFill>
                  <a:srgbClr val="000000"/>
                </a:solidFill>
                <a:latin typeface="Times New Roman"/>
                <a:ea typeface="Times New Roman"/>
                <a:cs typeface="Times New Roman"/>
                <a:sym typeface="Times New Roman"/>
              </a:rPr>
              <a:t>• Treated missing va</a:t>
            </a:r>
            <a:r>
              <a:rPr lang="en-US" sz="3207" strike="noStrike" u="none">
                <a:solidFill>
                  <a:srgbClr val="000000"/>
                </a:solidFill>
                <a:latin typeface="Times New Roman"/>
                <a:ea typeface="Times New Roman"/>
                <a:cs typeface="Times New Roman"/>
                <a:sym typeface="Times New Roman"/>
              </a:rPr>
              <a:t>l</a:t>
            </a:r>
            <a:r>
              <a:rPr lang="en-US" sz="3207" strike="noStrike" u="none">
                <a:solidFill>
                  <a:srgbClr val="000000"/>
                </a:solidFill>
                <a:latin typeface="Times New Roman"/>
                <a:ea typeface="Times New Roman"/>
                <a:cs typeface="Times New Roman"/>
                <a:sym typeface="Times New Roman"/>
              </a:rPr>
              <a:t>ues using su</a:t>
            </a:r>
            <a:r>
              <a:rPr lang="en-US" sz="3207" strike="noStrike" u="none">
                <a:solidFill>
                  <a:srgbClr val="000000"/>
                </a:solidFill>
                <a:latin typeface="Times New Roman"/>
                <a:ea typeface="Times New Roman"/>
                <a:cs typeface="Times New Roman"/>
                <a:sym typeface="Times New Roman"/>
              </a:rPr>
              <a:t>it</a:t>
            </a:r>
            <a:r>
              <a:rPr lang="en-US" sz="3207" strike="noStrike" u="none">
                <a:solidFill>
                  <a:srgbClr val="000000"/>
                </a:solidFill>
                <a:latin typeface="Times New Roman"/>
                <a:ea typeface="Times New Roman"/>
                <a:cs typeface="Times New Roman"/>
                <a:sym typeface="Times New Roman"/>
              </a:rPr>
              <a:t>able handling me</a:t>
            </a:r>
            <a:r>
              <a:rPr lang="en-US" sz="3207" strike="noStrike" u="none">
                <a:solidFill>
                  <a:srgbClr val="000000"/>
                </a:solidFill>
                <a:latin typeface="Times New Roman"/>
                <a:ea typeface="Times New Roman"/>
                <a:cs typeface="Times New Roman"/>
                <a:sym typeface="Times New Roman"/>
              </a:rPr>
              <a:t>t</a:t>
            </a:r>
            <a:r>
              <a:rPr lang="en-US" sz="3207" strike="noStrike" u="none">
                <a:solidFill>
                  <a:srgbClr val="000000"/>
                </a:solidFill>
                <a:latin typeface="Times New Roman"/>
                <a:ea typeface="Times New Roman"/>
                <a:cs typeface="Times New Roman"/>
                <a:sym typeface="Times New Roman"/>
              </a:rPr>
              <a:t>hods.</a:t>
            </a:r>
          </a:p>
          <a:p>
            <a:pPr algn="just" marL="0" indent="0" lvl="0">
              <a:lnSpc>
                <a:spcPts val="4490"/>
              </a:lnSpc>
              <a:spcBef>
                <a:spcPct val="0"/>
              </a:spcBef>
            </a:pPr>
            <a:r>
              <a:rPr lang="en-US" sz="3207" strike="noStrike" u="none">
                <a:solidFill>
                  <a:srgbClr val="000000"/>
                </a:solidFill>
                <a:latin typeface="Times New Roman"/>
                <a:ea typeface="Times New Roman"/>
                <a:cs typeface="Times New Roman"/>
                <a:sym typeface="Times New Roman"/>
              </a:rPr>
              <a:t>• Converted co</a:t>
            </a:r>
            <a:r>
              <a:rPr lang="en-US" sz="3207" strike="noStrike" u="none">
                <a:solidFill>
                  <a:srgbClr val="000000"/>
                </a:solidFill>
                <a:latin typeface="Times New Roman"/>
                <a:ea typeface="Times New Roman"/>
                <a:cs typeface="Times New Roman"/>
                <a:sym typeface="Times New Roman"/>
              </a:rPr>
              <a:t>l</a:t>
            </a:r>
            <a:r>
              <a:rPr lang="en-US" sz="3207" strike="noStrike" u="none">
                <a:solidFill>
                  <a:srgbClr val="000000"/>
                </a:solidFill>
                <a:latin typeface="Times New Roman"/>
                <a:ea typeface="Times New Roman"/>
                <a:cs typeface="Times New Roman"/>
                <a:sym typeface="Times New Roman"/>
              </a:rPr>
              <a:t>umns into corr</a:t>
            </a:r>
            <a:r>
              <a:rPr lang="en-US" sz="3207" strike="noStrike" u="none">
                <a:solidFill>
                  <a:srgbClr val="000000"/>
                </a:solidFill>
                <a:latin typeface="Times New Roman"/>
                <a:ea typeface="Times New Roman"/>
                <a:cs typeface="Times New Roman"/>
                <a:sym typeface="Times New Roman"/>
              </a:rPr>
              <a:t>e</a:t>
            </a:r>
            <a:r>
              <a:rPr lang="en-US" sz="3207" strike="noStrike" u="none">
                <a:solidFill>
                  <a:srgbClr val="000000"/>
                </a:solidFill>
                <a:latin typeface="Times New Roman"/>
                <a:ea typeface="Times New Roman"/>
                <a:cs typeface="Times New Roman"/>
                <a:sym typeface="Times New Roman"/>
              </a:rPr>
              <a:t>ct data types</a:t>
            </a:r>
            <a:r>
              <a:rPr lang="en-US" sz="3207" strike="noStrike" u="none">
                <a:solidFill>
                  <a:srgbClr val="000000"/>
                </a:solidFill>
                <a:latin typeface="Times New Roman"/>
                <a:ea typeface="Times New Roman"/>
                <a:cs typeface="Times New Roman"/>
                <a:sym typeface="Times New Roman"/>
              </a:rPr>
              <a:t> </a:t>
            </a:r>
            <a:r>
              <a:rPr lang="en-US" sz="3207" strike="noStrike" u="none">
                <a:solidFill>
                  <a:srgbClr val="000000"/>
                </a:solidFill>
                <a:latin typeface="Times New Roman"/>
                <a:ea typeface="Times New Roman"/>
                <a:cs typeface="Times New Roman"/>
                <a:sym typeface="Times New Roman"/>
              </a:rPr>
              <a:t>(price, ratings,</a:t>
            </a:r>
          </a:p>
          <a:p>
            <a:pPr algn="just" marL="0" indent="0" lvl="0">
              <a:lnSpc>
                <a:spcPts val="4490"/>
              </a:lnSpc>
              <a:spcBef>
                <a:spcPct val="0"/>
              </a:spcBef>
            </a:pPr>
            <a:r>
              <a:rPr lang="en-US" sz="3207" strike="noStrike" u="none">
                <a:solidFill>
                  <a:srgbClr val="000000"/>
                </a:solidFill>
                <a:latin typeface="Times New Roman"/>
                <a:ea typeface="Times New Roman"/>
                <a:cs typeface="Times New Roman"/>
                <a:sym typeface="Times New Roman"/>
              </a:rPr>
              <a:t>  Offers).</a:t>
            </a:r>
          </a:p>
          <a:p>
            <a:pPr algn="just" marL="0" indent="0" lvl="0">
              <a:lnSpc>
                <a:spcPts val="4490"/>
              </a:lnSpc>
              <a:spcBef>
                <a:spcPct val="0"/>
              </a:spcBef>
            </a:pPr>
            <a:r>
              <a:rPr lang="en-US" sz="3207" strike="noStrike" u="none">
                <a:solidFill>
                  <a:srgbClr val="000000"/>
                </a:solidFill>
                <a:latin typeface="Times New Roman"/>
                <a:ea typeface="Times New Roman"/>
                <a:cs typeface="Times New Roman"/>
                <a:sym typeface="Times New Roman"/>
              </a:rPr>
              <a:t>• Cleaned unwanted sym</a:t>
            </a:r>
            <a:r>
              <a:rPr lang="en-US" sz="3207" strike="noStrike" u="none">
                <a:solidFill>
                  <a:srgbClr val="000000"/>
                </a:solidFill>
                <a:latin typeface="Times New Roman"/>
                <a:ea typeface="Times New Roman"/>
                <a:cs typeface="Times New Roman"/>
                <a:sym typeface="Times New Roman"/>
              </a:rPr>
              <a:t>b</a:t>
            </a:r>
            <a:r>
              <a:rPr lang="en-US" sz="3207" strike="noStrike" u="none">
                <a:solidFill>
                  <a:srgbClr val="000000"/>
                </a:solidFill>
                <a:latin typeface="Times New Roman"/>
                <a:ea typeface="Times New Roman"/>
                <a:cs typeface="Times New Roman"/>
                <a:sym typeface="Times New Roman"/>
              </a:rPr>
              <a:t>ols l</a:t>
            </a:r>
            <a:r>
              <a:rPr lang="en-US" sz="3207" strike="noStrike" u="none">
                <a:solidFill>
                  <a:srgbClr val="000000"/>
                </a:solidFill>
                <a:latin typeface="Times New Roman"/>
                <a:ea typeface="Times New Roman"/>
                <a:cs typeface="Times New Roman"/>
                <a:sym typeface="Times New Roman"/>
              </a:rPr>
              <a:t>i</a:t>
            </a:r>
            <a:r>
              <a:rPr lang="en-US" sz="3207" strike="noStrike" u="none">
                <a:solidFill>
                  <a:srgbClr val="000000"/>
                </a:solidFill>
                <a:latin typeface="Times New Roman"/>
                <a:ea typeface="Times New Roman"/>
                <a:cs typeface="Times New Roman"/>
                <a:sym typeface="Times New Roman"/>
              </a:rPr>
              <a:t>ke ₹, %,</a:t>
            </a:r>
            <a:r>
              <a:rPr lang="en-US" sz="3207" strike="noStrike" u="none">
                <a:solidFill>
                  <a:srgbClr val="000000"/>
                </a:solidFill>
                <a:latin typeface="Times New Roman"/>
                <a:ea typeface="Times New Roman"/>
                <a:cs typeface="Times New Roman"/>
                <a:sym typeface="Times New Roman"/>
              </a:rPr>
              <a:t> </a:t>
            </a:r>
            <a:r>
              <a:rPr lang="en-US" sz="3207" strike="noStrike" u="none">
                <a:solidFill>
                  <a:srgbClr val="000000"/>
                </a:solidFill>
                <a:latin typeface="Times New Roman"/>
                <a:ea typeface="Times New Roman"/>
                <a:cs typeface="Times New Roman"/>
                <a:sym typeface="Times New Roman"/>
              </a:rPr>
              <a:t>c</a:t>
            </a:r>
            <a:r>
              <a:rPr lang="en-US" sz="3207" strike="noStrike" u="none">
                <a:solidFill>
                  <a:srgbClr val="000000"/>
                </a:solidFill>
                <a:latin typeface="Times New Roman"/>
                <a:ea typeface="Times New Roman"/>
                <a:cs typeface="Times New Roman"/>
                <a:sym typeface="Times New Roman"/>
              </a:rPr>
              <a:t>o</a:t>
            </a:r>
            <a:r>
              <a:rPr lang="en-US" sz="3207" strike="noStrike" u="none">
                <a:solidFill>
                  <a:srgbClr val="000000"/>
                </a:solidFill>
                <a:latin typeface="Times New Roman"/>
                <a:ea typeface="Times New Roman"/>
                <a:cs typeface="Times New Roman"/>
                <a:sym typeface="Times New Roman"/>
              </a:rPr>
              <a:t>mmas </a:t>
            </a:r>
            <a:r>
              <a:rPr lang="en-US" sz="3207" strike="noStrike" u="none">
                <a:solidFill>
                  <a:srgbClr val="000000"/>
                </a:solidFill>
                <a:latin typeface="Times New Roman"/>
                <a:ea typeface="Times New Roman"/>
                <a:cs typeface="Times New Roman"/>
                <a:sym typeface="Times New Roman"/>
              </a:rPr>
              <a:t>f</a:t>
            </a:r>
            <a:r>
              <a:rPr lang="en-US" sz="3207" strike="noStrike" u="none">
                <a:solidFill>
                  <a:srgbClr val="000000"/>
                </a:solidFill>
                <a:latin typeface="Times New Roman"/>
                <a:ea typeface="Times New Roman"/>
                <a:cs typeface="Times New Roman"/>
                <a:sym typeface="Times New Roman"/>
              </a:rPr>
              <a:t>rom</a:t>
            </a:r>
          </a:p>
          <a:p>
            <a:pPr algn="just" marL="0" indent="0" lvl="0">
              <a:lnSpc>
                <a:spcPts val="4490"/>
              </a:lnSpc>
              <a:spcBef>
                <a:spcPct val="0"/>
              </a:spcBef>
            </a:pPr>
            <a:r>
              <a:rPr lang="en-US" sz="3207" strike="noStrike" u="none">
                <a:solidFill>
                  <a:srgbClr val="000000"/>
                </a:solidFill>
                <a:latin typeface="Times New Roman"/>
                <a:ea typeface="Times New Roman"/>
                <a:cs typeface="Times New Roman"/>
                <a:sym typeface="Times New Roman"/>
              </a:rPr>
              <a:t>   numerical data.</a:t>
            </a:r>
          </a:p>
          <a:p>
            <a:pPr algn="just" marL="0" indent="0" lvl="0">
              <a:lnSpc>
                <a:spcPts val="4490"/>
              </a:lnSpc>
              <a:spcBef>
                <a:spcPct val="0"/>
              </a:spcBef>
            </a:pPr>
            <a:r>
              <a:rPr lang="en-US" sz="3207" strike="noStrike" u="none">
                <a:solidFill>
                  <a:srgbClr val="000000"/>
                </a:solidFill>
                <a:latin typeface="Times New Roman"/>
                <a:ea typeface="Times New Roman"/>
                <a:cs typeface="Times New Roman"/>
                <a:sym typeface="Times New Roman"/>
              </a:rPr>
              <a:t>• Dropped irrelevant and redundant c</a:t>
            </a:r>
            <a:r>
              <a:rPr lang="en-US" sz="3207" strike="noStrike" u="none">
                <a:solidFill>
                  <a:srgbClr val="000000"/>
                </a:solidFill>
                <a:latin typeface="Times New Roman"/>
                <a:ea typeface="Times New Roman"/>
                <a:cs typeface="Times New Roman"/>
                <a:sym typeface="Times New Roman"/>
              </a:rPr>
              <a:t>o</a:t>
            </a:r>
            <a:r>
              <a:rPr lang="en-US" sz="3207" strike="noStrike" u="none">
                <a:solidFill>
                  <a:srgbClr val="000000"/>
                </a:solidFill>
                <a:latin typeface="Times New Roman"/>
                <a:ea typeface="Times New Roman"/>
                <a:cs typeface="Times New Roman"/>
                <a:sym typeface="Times New Roman"/>
              </a:rPr>
              <a:t>lumns.</a:t>
            </a:r>
          </a:p>
          <a:p>
            <a:pPr algn="just" marL="0" indent="0" lvl="0">
              <a:lnSpc>
                <a:spcPts val="4490"/>
              </a:lnSpc>
              <a:spcBef>
                <a:spcPct val="0"/>
              </a:spcBef>
            </a:pPr>
            <a:r>
              <a:rPr lang="en-US" sz="3207" strike="noStrike" u="none">
                <a:solidFill>
                  <a:srgbClr val="000000"/>
                </a:solidFill>
                <a:latin typeface="Times New Roman"/>
                <a:ea typeface="Times New Roman"/>
                <a:cs typeface="Times New Roman"/>
                <a:sym typeface="Times New Roman"/>
              </a:rPr>
              <a:t>• Created a structured and analysis-rea</a:t>
            </a:r>
            <a:r>
              <a:rPr lang="en-US" sz="3207" strike="noStrike" u="none">
                <a:solidFill>
                  <a:srgbClr val="000000"/>
                </a:solidFill>
                <a:latin typeface="Times New Roman"/>
                <a:ea typeface="Times New Roman"/>
                <a:cs typeface="Times New Roman"/>
                <a:sym typeface="Times New Roman"/>
              </a:rPr>
              <a:t>dy </a:t>
            </a:r>
            <a:r>
              <a:rPr lang="en-US" sz="3207" strike="noStrike" u="none">
                <a:solidFill>
                  <a:srgbClr val="000000"/>
                </a:solidFill>
                <a:latin typeface="Times New Roman"/>
                <a:ea typeface="Times New Roman"/>
                <a:cs typeface="Times New Roman"/>
                <a:sym typeface="Times New Roman"/>
              </a:rPr>
              <a:t>da</a:t>
            </a:r>
            <a:r>
              <a:rPr lang="en-US" sz="3207" strike="noStrike" u="none">
                <a:solidFill>
                  <a:srgbClr val="000000"/>
                </a:solidFill>
                <a:latin typeface="Times New Roman"/>
                <a:ea typeface="Times New Roman"/>
                <a:cs typeface="Times New Roman"/>
                <a:sym typeface="Times New Roman"/>
              </a:rPr>
              <a:t>t</a:t>
            </a:r>
            <a:r>
              <a:rPr lang="en-US" sz="3207" strike="noStrike" u="none">
                <a:solidFill>
                  <a:srgbClr val="000000"/>
                </a:solidFill>
                <a:latin typeface="Times New Roman"/>
                <a:ea typeface="Times New Roman"/>
                <a:cs typeface="Times New Roman"/>
                <a:sym typeface="Times New Roman"/>
              </a:rPr>
              <a:t>as</a:t>
            </a:r>
            <a:r>
              <a:rPr lang="en-US" sz="3207" strike="noStrike" u="none">
                <a:solidFill>
                  <a:srgbClr val="000000"/>
                </a:solidFill>
                <a:latin typeface="Times New Roman"/>
                <a:ea typeface="Times New Roman"/>
                <a:cs typeface="Times New Roman"/>
                <a:sym typeface="Times New Roman"/>
              </a:rPr>
              <a:t>et</a:t>
            </a:r>
            <a:r>
              <a:rPr lang="en-US" sz="3207" strike="noStrike" u="none">
                <a:solidFill>
                  <a:srgbClr val="000000"/>
                </a:solidFill>
                <a:latin typeface="Times New Roman"/>
                <a:ea typeface="Times New Roman"/>
                <a:cs typeface="Times New Roman"/>
                <a:sym typeface="Times New Roman"/>
              </a:rPr>
              <a:t> for EDA.</a:t>
            </a:r>
          </a:p>
          <a:p>
            <a:pPr algn="just" marL="0" indent="0" lvl="0">
              <a:lnSpc>
                <a:spcPts val="4094"/>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grpSp>
        <p:nvGrpSpPr>
          <p:cNvPr name="Group 3" id="3"/>
          <p:cNvGrpSpPr/>
          <p:nvPr/>
        </p:nvGrpSpPr>
        <p:grpSpPr>
          <a:xfrm rot="0">
            <a:off x="13221348" y="9277474"/>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Freeform 5" id="5"/>
          <p:cNvSpPr/>
          <p:nvPr/>
        </p:nvSpPr>
        <p:spPr>
          <a:xfrm flipH="false" flipV="false" rot="0">
            <a:off x="973166" y="1572825"/>
            <a:ext cx="17352934" cy="7353306"/>
          </a:xfrm>
          <a:custGeom>
            <a:avLst/>
            <a:gdLst/>
            <a:ahLst/>
            <a:cxnLst/>
            <a:rect r="r" b="b" t="t" l="l"/>
            <a:pathLst>
              <a:path h="7353306" w="17352934">
                <a:moveTo>
                  <a:pt x="0" y="0"/>
                </a:moveTo>
                <a:lnTo>
                  <a:pt x="17352934" y="0"/>
                </a:lnTo>
                <a:lnTo>
                  <a:pt x="17352934" y="7353306"/>
                </a:lnTo>
                <a:lnTo>
                  <a:pt x="0" y="7353306"/>
                </a:lnTo>
                <a:lnTo>
                  <a:pt x="0" y="0"/>
                </a:lnTo>
                <a:close/>
              </a:path>
            </a:pathLst>
          </a:custGeom>
          <a:blipFill>
            <a:blip r:embed="rId3"/>
            <a:stretch>
              <a:fillRect l="0" t="0" r="0" b="0"/>
            </a:stretch>
          </a:blipFill>
        </p:spPr>
      </p:sp>
      <p:sp>
        <p:nvSpPr>
          <p:cNvPr name="TextBox 6" id="6"/>
          <p:cNvSpPr txBox="true"/>
          <p:nvPr/>
        </p:nvSpPr>
        <p:spPr>
          <a:xfrm rot="0">
            <a:off x="954163" y="348688"/>
            <a:ext cx="2347079" cy="915670"/>
          </a:xfrm>
          <a:prstGeom prst="rect">
            <a:avLst/>
          </a:prstGeom>
        </p:spPr>
        <p:txBody>
          <a:bodyPr anchor="t" rtlCol="false" tIns="0" lIns="0" bIns="0" rIns="0">
            <a:spAutoFit/>
          </a:bodyPr>
          <a:lstStyle/>
          <a:p>
            <a:pPr algn="ctr" marL="0" indent="0" lvl="0">
              <a:lnSpc>
                <a:spcPts val="7279"/>
              </a:lnSpc>
              <a:spcBef>
                <a:spcPct val="0"/>
              </a:spcBef>
            </a:pPr>
            <a:r>
              <a:rPr lang="en-US" b="true" sz="5199">
                <a:solidFill>
                  <a:srgbClr val="E52328"/>
                </a:solidFill>
                <a:latin typeface="Times New Roman Bold"/>
                <a:ea typeface="Times New Roman Bold"/>
                <a:cs typeface="Times New Roman Bold"/>
                <a:sym typeface="Times New Roman Bold"/>
              </a:rPr>
              <a:t>Dataset: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grpSp>
        <p:nvGrpSpPr>
          <p:cNvPr name="Group 3" id="3"/>
          <p:cNvGrpSpPr/>
          <p:nvPr/>
        </p:nvGrpSpPr>
        <p:grpSpPr>
          <a:xfrm rot="0">
            <a:off x="13221348" y="9277474"/>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Freeform 5" id="5"/>
          <p:cNvSpPr/>
          <p:nvPr/>
        </p:nvSpPr>
        <p:spPr>
          <a:xfrm flipH="false" flipV="false" rot="0">
            <a:off x="10864803" y="1593617"/>
            <a:ext cx="7194645" cy="4840724"/>
          </a:xfrm>
          <a:custGeom>
            <a:avLst/>
            <a:gdLst/>
            <a:ahLst/>
            <a:cxnLst/>
            <a:rect r="r" b="b" t="t" l="l"/>
            <a:pathLst>
              <a:path h="4840724" w="7194645">
                <a:moveTo>
                  <a:pt x="0" y="0"/>
                </a:moveTo>
                <a:lnTo>
                  <a:pt x="7194645" y="0"/>
                </a:lnTo>
                <a:lnTo>
                  <a:pt x="7194645" y="4840724"/>
                </a:lnTo>
                <a:lnTo>
                  <a:pt x="0" y="4840724"/>
                </a:lnTo>
                <a:lnTo>
                  <a:pt x="0" y="0"/>
                </a:lnTo>
                <a:close/>
              </a:path>
            </a:pathLst>
          </a:custGeom>
          <a:blipFill>
            <a:blip r:embed="rId3"/>
            <a:stretch>
              <a:fillRect l="-60830" t="-52504" r="-53895" b="-27012"/>
            </a:stretch>
          </a:blipFill>
        </p:spPr>
      </p:sp>
      <p:sp>
        <p:nvSpPr>
          <p:cNvPr name="TextBox 6" id="6"/>
          <p:cNvSpPr txBox="true"/>
          <p:nvPr/>
        </p:nvSpPr>
        <p:spPr>
          <a:xfrm rot="0">
            <a:off x="-2266614" y="276838"/>
            <a:ext cx="13870758" cy="932167"/>
          </a:xfrm>
          <a:prstGeom prst="rect">
            <a:avLst/>
          </a:prstGeom>
        </p:spPr>
        <p:txBody>
          <a:bodyPr anchor="t" rtlCol="false" tIns="0" lIns="0" bIns="0" rIns="0">
            <a:spAutoFit/>
          </a:bodyPr>
          <a:lstStyle/>
          <a:p>
            <a:pPr algn="ctr">
              <a:lnSpc>
                <a:spcPts val="7420"/>
              </a:lnSpc>
            </a:pPr>
            <a:r>
              <a:rPr lang="en-US" sz="5300" b="true">
                <a:solidFill>
                  <a:srgbClr val="E52328"/>
                </a:solidFill>
                <a:latin typeface="Times New Roman Bold"/>
                <a:ea typeface="Times New Roman Bold"/>
                <a:cs typeface="Times New Roman Bold"/>
                <a:sym typeface="Times New Roman Bold"/>
              </a:rPr>
              <a:t>EDA - </a:t>
            </a:r>
            <a:r>
              <a:rPr lang="en-US" b="true" sz="5300">
                <a:solidFill>
                  <a:srgbClr val="E52328"/>
                </a:solidFill>
                <a:latin typeface="Times New Roman Bold"/>
                <a:ea typeface="Times New Roman Bold"/>
                <a:cs typeface="Times New Roman Bold"/>
                <a:sym typeface="Times New Roman Bold"/>
              </a:rPr>
              <a:t>Univariate analysis</a:t>
            </a:r>
          </a:p>
        </p:txBody>
      </p:sp>
      <p:sp>
        <p:nvSpPr>
          <p:cNvPr name="TextBox 7" id="7"/>
          <p:cNvSpPr txBox="true"/>
          <p:nvPr/>
        </p:nvSpPr>
        <p:spPr>
          <a:xfrm rot="0">
            <a:off x="645885" y="1517417"/>
            <a:ext cx="9417780" cy="5675494"/>
          </a:xfrm>
          <a:prstGeom prst="rect">
            <a:avLst/>
          </a:prstGeom>
        </p:spPr>
        <p:txBody>
          <a:bodyPr anchor="t" rtlCol="false" tIns="0" lIns="0" bIns="0" rIns="0">
            <a:spAutoFit/>
          </a:bodyPr>
          <a:lstStyle/>
          <a:p>
            <a:pPr algn="just" marL="628106" indent="-314053" lvl="1">
              <a:lnSpc>
                <a:spcPts val="4072"/>
              </a:lnSpc>
              <a:spcBef>
                <a:spcPct val="0"/>
              </a:spcBef>
              <a:buFont typeface="Arial"/>
              <a:buChar char="•"/>
            </a:pPr>
            <a:r>
              <a:rPr lang="en-US" sz="2909">
                <a:solidFill>
                  <a:srgbClr val="000000"/>
                </a:solidFill>
                <a:latin typeface="Times New Roman"/>
                <a:ea typeface="Times New Roman"/>
                <a:cs typeface="Times New Roman"/>
                <a:sym typeface="Times New Roman"/>
              </a:rPr>
              <a:t>The majority of restaurants have ratings between 3.8 an</a:t>
            </a:r>
            <a:r>
              <a:rPr lang="en-US" sz="2909" strike="noStrike" u="none">
                <a:solidFill>
                  <a:srgbClr val="000000"/>
                </a:solidFill>
                <a:latin typeface="Times New Roman"/>
                <a:ea typeface="Times New Roman"/>
                <a:cs typeface="Times New Roman"/>
                <a:sym typeface="Times New Roman"/>
              </a:rPr>
              <a:t>d</a:t>
            </a:r>
            <a:r>
              <a:rPr lang="en-US" sz="2909" strike="noStrike" u="none">
                <a:solidFill>
                  <a:srgbClr val="000000"/>
                </a:solidFill>
                <a:latin typeface="Times New Roman"/>
                <a:ea typeface="Times New Roman"/>
                <a:cs typeface="Times New Roman"/>
                <a:sym typeface="Times New Roman"/>
              </a:rPr>
              <a:t> 4.5, in</a:t>
            </a:r>
            <a:r>
              <a:rPr lang="en-US" sz="2909" strike="noStrike" u="none">
                <a:solidFill>
                  <a:srgbClr val="000000"/>
                </a:solidFill>
                <a:latin typeface="Times New Roman"/>
                <a:ea typeface="Times New Roman"/>
                <a:cs typeface="Times New Roman"/>
                <a:sym typeface="Times New Roman"/>
              </a:rPr>
              <a:t>d</a:t>
            </a:r>
            <a:r>
              <a:rPr lang="en-US" sz="2909" strike="noStrike" u="none">
                <a:solidFill>
                  <a:srgbClr val="000000"/>
                </a:solidFill>
                <a:latin typeface="Times New Roman"/>
                <a:ea typeface="Times New Roman"/>
                <a:cs typeface="Times New Roman"/>
                <a:sym typeface="Times New Roman"/>
              </a:rPr>
              <a:t>icating</a:t>
            </a:r>
            <a:r>
              <a:rPr lang="en-US" sz="2909" strike="noStrike" u="none">
                <a:solidFill>
                  <a:srgbClr val="000000"/>
                </a:solidFill>
                <a:latin typeface="Times New Roman"/>
                <a:ea typeface="Times New Roman"/>
                <a:cs typeface="Times New Roman"/>
                <a:sym typeface="Times New Roman"/>
              </a:rPr>
              <a:t> </a:t>
            </a:r>
            <a:r>
              <a:rPr lang="en-US" sz="2909" strike="noStrike" u="none">
                <a:solidFill>
                  <a:srgbClr val="000000"/>
                </a:solidFill>
                <a:latin typeface="Times New Roman"/>
                <a:ea typeface="Times New Roman"/>
                <a:cs typeface="Times New Roman"/>
                <a:sym typeface="Times New Roman"/>
              </a:rPr>
              <a:t>gener</a:t>
            </a:r>
            <a:r>
              <a:rPr lang="en-US" sz="2909" strike="noStrike" u="none">
                <a:solidFill>
                  <a:srgbClr val="000000"/>
                </a:solidFill>
                <a:latin typeface="Times New Roman"/>
                <a:ea typeface="Times New Roman"/>
                <a:cs typeface="Times New Roman"/>
                <a:sym typeface="Times New Roman"/>
              </a:rPr>
              <a:t>a</a:t>
            </a:r>
            <a:r>
              <a:rPr lang="en-US" sz="2909" strike="noStrike" u="none">
                <a:solidFill>
                  <a:srgbClr val="000000"/>
                </a:solidFill>
                <a:latin typeface="Times New Roman"/>
                <a:ea typeface="Times New Roman"/>
                <a:cs typeface="Times New Roman"/>
                <a:sym typeface="Times New Roman"/>
              </a:rPr>
              <a:t>lly</a:t>
            </a:r>
            <a:r>
              <a:rPr lang="en-US" sz="2909" strike="noStrike" u="none">
                <a:solidFill>
                  <a:srgbClr val="000000"/>
                </a:solidFill>
                <a:latin typeface="Times New Roman"/>
                <a:ea typeface="Times New Roman"/>
                <a:cs typeface="Times New Roman"/>
                <a:sym typeface="Times New Roman"/>
              </a:rPr>
              <a:t> </a:t>
            </a:r>
            <a:r>
              <a:rPr lang="en-US" sz="2909" strike="noStrike" u="none">
                <a:solidFill>
                  <a:srgbClr val="000000"/>
                </a:solidFill>
                <a:latin typeface="Times New Roman"/>
                <a:ea typeface="Times New Roman"/>
                <a:cs typeface="Times New Roman"/>
                <a:sym typeface="Times New Roman"/>
              </a:rPr>
              <a:t>positive customer satisfaction.</a:t>
            </a:r>
          </a:p>
          <a:p>
            <a:pPr algn="just" marL="628106" indent="-314053" lvl="1">
              <a:lnSpc>
                <a:spcPts val="4072"/>
              </a:lnSpc>
              <a:spcBef>
                <a:spcPct val="0"/>
              </a:spcBef>
              <a:buFont typeface="Arial"/>
              <a:buChar char="•"/>
            </a:pPr>
            <a:r>
              <a:rPr lang="en-US" sz="2909" strike="noStrike" u="none">
                <a:solidFill>
                  <a:srgbClr val="000000"/>
                </a:solidFill>
                <a:latin typeface="Times New Roman"/>
                <a:ea typeface="Times New Roman"/>
                <a:cs typeface="Times New Roman"/>
                <a:sym typeface="Times New Roman"/>
              </a:rPr>
              <a:t>Very few restaurants fa</a:t>
            </a:r>
            <a:r>
              <a:rPr lang="en-US" sz="2909" strike="noStrike" u="none">
                <a:solidFill>
                  <a:srgbClr val="000000"/>
                </a:solidFill>
                <a:latin typeface="Times New Roman"/>
                <a:ea typeface="Times New Roman"/>
                <a:cs typeface="Times New Roman"/>
                <a:sym typeface="Times New Roman"/>
              </a:rPr>
              <a:t>l</a:t>
            </a:r>
            <a:r>
              <a:rPr lang="en-US" sz="2909" strike="noStrike" u="none">
                <a:solidFill>
                  <a:srgbClr val="000000"/>
                </a:solidFill>
                <a:latin typeface="Times New Roman"/>
                <a:ea typeface="Times New Roman"/>
                <a:cs typeface="Times New Roman"/>
                <a:sym typeface="Times New Roman"/>
              </a:rPr>
              <a:t>l below 3.0, suggest</a:t>
            </a:r>
            <a:r>
              <a:rPr lang="en-US" sz="2909" strike="noStrike" u="none">
                <a:solidFill>
                  <a:srgbClr val="000000"/>
                </a:solidFill>
                <a:latin typeface="Times New Roman"/>
                <a:ea typeface="Times New Roman"/>
                <a:cs typeface="Times New Roman"/>
                <a:sym typeface="Times New Roman"/>
              </a:rPr>
              <a:t>i</a:t>
            </a:r>
            <a:r>
              <a:rPr lang="en-US" sz="2909" strike="noStrike" u="none">
                <a:solidFill>
                  <a:srgbClr val="000000"/>
                </a:solidFill>
                <a:latin typeface="Times New Roman"/>
                <a:ea typeface="Times New Roman"/>
                <a:cs typeface="Times New Roman"/>
                <a:sym typeface="Times New Roman"/>
              </a:rPr>
              <a:t>ng </a:t>
            </a:r>
            <a:r>
              <a:rPr lang="en-US" sz="2909" strike="noStrike" u="none">
                <a:solidFill>
                  <a:srgbClr val="000000"/>
                </a:solidFill>
                <a:latin typeface="Times New Roman"/>
                <a:ea typeface="Times New Roman"/>
                <a:cs typeface="Times New Roman"/>
                <a:sym typeface="Times New Roman"/>
              </a:rPr>
              <a:t>t</a:t>
            </a:r>
            <a:r>
              <a:rPr lang="en-US" sz="2909" strike="noStrike" u="none">
                <a:solidFill>
                  <a:srgbClr val="000000"/>
                </a:solidFill>
                <a:latin typeface="Times New Roman"/>
                <a:ea typeface="Times New Roman"/>
                <a:cs typeface="Times New Roman"/>
                <a:sym typeface="Times New Roman"/>
              </a:rPr>
              <a:t>ha</a:t>
            </a:r>
            <a:r>
              <a:rPr lang="en-US" sz="2909" strike="noStrike" u="none">
                <a:solidFill>
                  <a:srgbClr val="000000"/>
                </a:solidFill>
                <a:latin typeface="Times New Roman"/>
                <a:ea typeface="Times New Roman"/>
                <a:cs typeface="Times New Roman"/>
                <a:sym typeface="Times New Roman"/>
              </a:rPr>
              <a:t>t</a:t>
            </a:r>
            <a:r>
              <a:rPr lang="en-US" sz="2909" strike="noStrike" u="none">
                <a:solidFill>
                  <a:srgbClr val="000000"/>
                </a:solidFill>
                <a:latin typeface="Times New Roman"/>
                <a:ea typeface="Times New Roman"/>
                <a:cs typeface="Times New Roman"/>
                <a:sym typeface="Times New Roman"/>
              </a:rPr>
              <a:t> poor</a:t>
            </a:r>
            <a:r>
              <a:rPr lang="en-US" sz="2909" strike="noStrike" u="none">
                <a:solidFill>
                  <a:srgbClr val="000000"/>
                </a:solidFill>
                <a:latin typeface="Times New Roman"/>
                <a:ea typeface="Times New Roman"/>
                <a:cs typeface="Times New Roman"/>
                <a:sym typeface="Times New Roman"/>
              </a:rPr>
              <a:t>l</a:t>
            </a:r>
            <a:r>
              <a:rPr lang="en-US" sz="2909" strike="noStrike" u="none">
                <a:solidFill>
                  <a:srgbClr val="000000"/>
                </a:solidFill>
                <a:latin typeface="Times New Roman"/>
                <a:ea typeface="Times New Roman"/>
                <a:cs typeface="Times New Roman"/>
                <a:sym typeface="Times New Roman"/>
              </a:rPr>
              <a:t>y rat</a:t>
            </a:r>
            <a:r>
              <a:rPr lang="en-US" sz="2909" strike="noStrike" u="none">
                <a:solidFill>
                  <a:srgbClr val="000000"/>
                </a:solidFill>
                <a:latin typeface="Times New Roman"/>
                <a:ea typeface="Times New Roman"/>
                <a:cs typeface="Times New Roman"/>
                <a:sym typeface="Times New Roman"/>
              </a:rPr>
              <a:t>e</a:t>
            </a:r>
            <a:r>
              <a:rPr lang="en-US" sz="2909" strike="noStrike" u="none">
                <a:solidFill>
                  <a:srgbClr val="000000"/>
                </a:solidFill>
                <a:latin typeface="Times New Roman"/>
                <a:ea typeface="Times New Roman"/>
                <a:cs typeface="Times New Roman"/>
                <a:sym typeface="Times New Roman"/>
              </a:rPr>
              <a:t>d</a:t>
            </a:r>
            <a:r>
              <a:rPr lang="en-US" sz="2909" strike="noStrike" u="none">
                <a:solidFill>
                  <a:srgbClr val="000000"/>
                </a:solidFill>
                <a:latin typeface="Times New Roman"/>
                <a:ea typeface="Times New Roman"/>
                <a:cs typeface="Times New Roman"/>
                <a:sym typeface="Times New Roman"/>
              </a:rPr>
              <a:t> </a:t>
            </a:r>
            <a:r>
              <a:rPr lang="en-US" sz="2909" strike="noStrike" u="none">
                <a:solidFill>
                  <a:srgbClr val="000000"/>
                </a:solidFill>
                <a:latin typeface="Times New Roman"/>
                <a:ea typeface="Times New Roman"/>
                <a:cs typeface="Times New Roman"/>
                <a:sym typeface="Times New Roman"/>
              </a:rPr>
              <a:t>esta</a:t>
            </a:r>
            <a:r>
              <a:rPr lang="en-US" sz="2909" strike="noStrike" u="none">
                <a:solidFill>
                  <a:srgbClr val="000000"/>
                </a:solidFill>
                <a:latin typeface="Times New Roman"/>
                <a:ea typeface="Times New Roman"/>
                <a:cs typeface="Times New Roman"/>
                <a:sym typeface="Times New Roman"/>
              </a:rPr>
              <a:t>b</a:t>
            </a:r>
            <a:r>
              <a:rPr lang="en-US" sz="2909" strike="noStrike" u="none">
                <a:solidFill>
                  <a:srgbClr val="000000"/>
                </a:solidFill>
                <a:latin typeface="Times New Roman"/>
                <a:ea typeface="Times New Roman"/>
                <a:cs typeface="Times New Roman"/>
                <a:sym typeface="Times New Roman"/>
              </a:rPr>
              <a:t>l</a:t>
            </a:r>
            <a:r>
              <a:rPr lang="en-US" sz="2909" strike="noStrike" u="none">
                <a:solidFill>
                  <a:srgbClr val="000000"/>
                </a:solidFill>
                <a:latin typeface="Times New Roman"/>
                <a:ea typeface="Times New Roman"/>
                <a:cs typeface="Times New Roman"/>
                <a:sym typeface="Times New Roman"/>
              </a:rPr>
              <a:t>i</a:t>
            </a:r>
            <a:r>
              <a:rPr lang="en-US" sz="2909" strike="noStrike" u="none">
                <a:solidFill>
                  <a:srgbClr val="000000"/>
                </a:solidFill>
                <a:latin typeface="Times New Roman"/>
                <a:ea typeface="Times New Roman"/>
                <a:cs typeface="Times New Roman"/>
                <a:sym typeface="Times New Roman"/>
              </a:rPr>
              <a:t>shmen</a:t>
            </a:r>
            <a:r>
              <a:rPr lang="en-US" sz="2909" strike="noStrike" u="none">
                <a:solidFill>
                  <a:srgbClr val="000000"/>
                </a:solidFill>
                <a:latin typeface="Times New Roman"/>
                <a:ea typeface="Times New Roman"/>
                <a:cs typeface="Times New Roman"/>
                <a:sym typeface="Times New Roman"/>
              </a:rPr>
              <a:t>t</a:t>
            </a:r>
            <a:r>
              <a:rPr lang="en-US" sz="2909" strike="noStrike" u="none">
                <a:solidFill>
                  <a:srgbClr val="000000"/>
                </a:solidFill>
                <a:latin typeface="Times New Roman"/>
                <a:ea typeface="Times New Roman"/>
                <a:cs typeface="Times New Roman"/>
                <a:sym typeface="Times New Roman"/>
              </a:rPr>
              <a:t>s are rare in the dataset.</a:t>
            </a:r>
          </a:p>
          <a:p>
            <a:pPr algn="just" marL="628106" indent="-314053" lvl="1">
              <a:lnSpc>
                <a:spcPts val="4072"/>
              </a:lnSpc>
              <a:spcBef>
                <a:spcPct val="0"/>
              </a:spcBef>
              <a:buFont typeface="Arial"/>
              <a:buChar char="•"/>
            </a:pPr>
            <a:r>
              <a:rPr lang="en-US" sz="2909" strike="noStrike" u="none">
                <a:solidFill>
                  <a:srgbClr val="000000"/>
                </a:solidFill>
                <a:latin typeface="Times New Roman"/>
                <a:ea typeface="Times New Roman"/>
                <a:cs typeface="Times New Roman"/>
                <a:sym typeface="Times New Roman"/>
              </a:rPr>
              <a:t>The highest density</a:t>
            </a:r>
            <a:r>
              <a:rPr lang="en-US" sz="2909" strike="noStrike" u="none">
                <a:solidFill>
                  <a:srgbClr val="000000"/>
                </a:solidFill>
                <a:latin typeface="Times New Roman"/>
                <a:ea typeface="Times New Roman"/>
                <a:cs typeface="Times New Roman"/>
                <a:sym typeface="Times New Roman"/>
              </a:rPr>
              <a:t> of </a:t>
            </a:r>
            <a:r>
              <a:rPr lang="en-US" sz="2909" strike="noStrike" u="none">
                <a:solidFill>
                  <a:srgbClr val="000000"/>
                </a:solidFill>
                <a:latin typeface="Times New Roman"/>
                <a:ea typeface="Times New Roman"/>
                <a:cs typeface="Times New Roman"/>
                <a:sym typeface="Times New Roman"/>
              </a:rPr>
              <a:t>ratings occurs around 4.0–4.2, which appears to </a:t>
            </a:r>
            <a:r>
              <a:rPr lang="en-US" sz="2909" strike="noStrike" u="none">
                <a:solidFill>
                  <a:srgbClr val="000000"/>
                </a:solidFill>
                <a:latin typeface="Times New Roman"/>
                <a:ea typeface="Times New Roman"/>
                <a:cs typeface="Times New Roman"/>
                <a:sym typeface="Times New Roman"/>
              </a:rPr>
              <a:t>b</a:t>
            </a:r>
            <a:r>
              <a:rPr lang="en-US" sz="2909" strike="noStrike" u="none">
                <a:solidFill>
                  <a:srgbClr val="000000"/>
                </a:solidFill>
                <a:latin typeface="Times New Roman"/>
                <a:ea typeface="Times New Roman"/>
                <a:cs typeface="Times New Roman"/>
                <a:sym typeface="Times New Roman"/>
              </a:rPr>
              <a:t>e the average perf</a:t>
            </a:r>
            <a:r>
              <a:rPr lang="en-US" sz="2909" strike="noStrike" u="none">
                <a:solidFill>
                  <a:srgbClr val="000000"/>
                </a:solidFill>
                <a:latin typeface="Times New Roman"/>
                <a:ea typeface="Times New Roman"/>
                <a:cs typeface="Times New Roman"/>
                <a:sym typeface="Times New Roman"/>
              </a:rPr>
              <a:t>o</a:t>
            </a:r>
            <a:r>
              <a:rPr lang="en-US" sz="2909" strike="noStrike" u="none">
                <a:solidFill>
                  <a:srgbClr val="000000"/>
                </a:solidFill>
                <a:latin typeface="Times New Roman"/>
                <a:ea typeface="Times New Roman"/>
                <a:cs typeface="Times New Roman"/>
                <a:sym typeface="Times New Roman"/>
              </a:rPr>
              <a:t>rmance level for most restaurants.</a:t>
            </a:r>
          </a:p>
          <a:p>
            <a:pPr algn="just" marL="628106" indent="-314053" lvl="1">
              <a:lnSpc>
                <a:spcPts val="4072"/>
              </a:lnSpc>
              <a:spcBef>
                <a:spcPct val="0"/>
              </a:spcBef>
              <a:buFont typeface="Arial"/>
              <a:buChar char="•"/>
            </a:pPr>
            <a:r>
              <a:rPr lang="en-US" sz="2909" strike="noStrike" u="none">
                <a:solidFill>
                  <a:srgbClr val="000000"/>
                </a:solidFill>
                <a:latin typeface="Times New Roman"/>
                <a:ea typeface="Times New Roman"/>
                <a:cs typeface="Times New Roman"/>
                <a:sym typeface="Times New Roman"/>
              </a:rPr>
              <a:t>The </a:t>
            </a:r>
            <a:r>
              <a:rPr lang="en-US" sz="2909" strike="noStrike" u="none">
                <a:solidFill>
                  <a:srgbClr val="000000"/>
                </a:solidFill>
                <a:latin typeface="Times New Roman"/>
                <a:ea typeface="Times New Roman"/>
                <a:cs typeface="Times New Roman"/>
                <a:sym typeface="Times New Roman"/>
              </a:rPr>
              <a:t>d</a:t>
            </a:r>
            <a:r>
              <a:rPr lang="en-US" sz="2909" strike="noStrike" u="none">
                <a:solidFill>
                  <a:srgbClr val="000000"/>
                </a:solidFill>
                <a:latin typeface="Times New Roman"/>
                <a:ea typeface="Times New Roman"/>
                <a:cs typeface="Times New Roman"/>
                <a:sym typeface="Times New Roman"/>
              </a:rPr>
              <a:t>istribution slightl</a:t>
            </a:r>
            <a:r>
              <a:rPr lang="en-US" sz="2909" strike="noStrike" u="none">
                <a:solidFill>
                  <a:srgbClr val="000000"/>
                </a:solidFill>
                <a:latin typeface="Times New Roman"/>
                <a:ea typeface="Times New Roman"/>
                <a:cs typeface="Times New Roman"/>
                <a:sym typeface="Times New Roman"/>
              </a:rPr>
              <a:t>y</a:t>
            </a:r>
            <a:r>
              <a:rPr lang="en-US" sz="2909" strike="noStrike" u="none">
                <a:solidFill>
                  <a:srgbClr val="000000"/>
                </a:solidFill>
                <a:latin typeface="Times New Roman"/>
                <a:ea typeface="Times New Roman"/>
                <a:cs typeface="Times New Roman"/>
                <a:sym typeface="Times New Roman"/>
              </a:rPr>
              <a:t> leans</a:t>
            </a:r>
            <a:r>
              <a:rPr lang="en-US" sz="2909" strike="noStrike" u="none">
                <a:solidFill>
                  <a:srgbClr val="000000"/>
                </a:solidFill>
                <a:latin typeface="Times New Roman"/>
                <a:ea typeface="Times New Roman"/>
                <a:cs typeface="Times New Roman"/>
                <a:sym typeface="Times New Roman"/>
              </a:rPr>
              <a:t> t</a:t>
            </a:r>
            <a:r>
              <a:rPr lang="en-US" sz="2909" strike="noStrike" u="none">
                <a:solidFill>
                  <a:srgbClr val="000000"/>
                </a:solidFill>
                <a:latin typeface="Times New Roman"/>
                <a:ea typeface="Times New Roman"/>
                <a:cs typeface="Times New Roman"/>
                <a:sym typeface="Times New Roman"/>
              </a:rPr>
              <a:t>oward higher ratings, implying that most r</a:t>
            </a:r>
            <a:r>
              <a:rPr lang="en-US" sz="2909" strike="noStrike" u="none">
                <a:solidFill>
                  <a:srgbClr val="000000"/>
                </a:solidFill>
                <a:latin typeface="Times New Roman"/>
                <a:ea typeface="Times New Roman"/>
                <a:cs typeface="Times New Roman"/>
                <a:sym typeface="Times New Roman"/>
              </a:rPr>
              <a:t>e</a:t>
            </a:r>
            <a:r>
              <a:rPr lang="en-US" sz="2909" strike="noStrike" u="none">
                <a:solidFill>
                  <a:srgbClr val="000000"/>
                </a:solidFill>
                <a:latin typeface="Times New Roman"/>
                <a:ea typeface="Times New Roman"/>
                <a:cs typeface="Times New Roman"/>
                <a:sym typeface="Times New Roman"/>
              </a:rPr>
              <a:t>s</a:t>
            </a:r>
            <a:r>
              <a:rPr lang="en-US" sz="2909" strike="noStrike" u="none">
                <a:solidFill>
                  <a:srgbClr val="000000"/>
                </a:solidFill>
                <a:latin typeface="Times New Roman"/>
                <a:ea typeface="Times New Roman"/>
                <a:cs typeface="Times New Roman"/>
                <a:sym typeface="Times New Roman"/>
              </a:rPr>
              <a:t>t</a:t>
            </a:r>
            <a:r>
              <a:rPr lang="en-US" sz="2909" strike="noStrike" u="none">
                <a:solidFill>
                  <a:srgbClr val="000000"/>
                </a:solidFill>
                <a:latin typeface="Times New Roman"/>
                <a:ea typeface="Times New Roman"/>
                <a:cs typeface="Times New Roman"/>
                <a:sym typeface="Times New Roman"/>
              </a:rPr>
              <a:t>aurants maintain relatively good service and quality.</a:t>
            </a:r>
          </a:p>
          <a:p>
            <a:pPr algn="just" marL="0" indent="0" lvl="0">
              <a:lnSpc>
                <a:spcPts val="4072"/>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b="true" sz="2000">
                <a:solidFill>
                  <a:srgbClr val="000000"/>
                </a:solidFill>
                <a:latin typeface="Canva Sans Bold"/>
                <a:ea typeface="Canva Sans Bold"/>
                <a:cs typeface="Canva Sans Bold"/>
                <a:sym typeface="Canva Sans Bold"/>
              </a:rPr>
              <a:t>12</a:t>
            </a:r>
          </a:p>
        </p:txBody>
      </p:sp>
      <p:sp>
        <p:nvSpPr>
          <p:cNvPr name="Freeform 3" id="3"/>
          <p:cNvSpPr/>
          <p:nvPr/>
        </p:nvSpPr>
        <p:spPr>
          <a:xfrm flipH="false" flipV="false" rot="0">
            <a:off x="3884300" y="5338200"/>
            <a:ext cx="7968535" cy="4444037"/>
          </a:xfrm>
          <a:custGeom>
            <a:avLst/>
            <a:gdLst/>
            <a:ahLst/>
            <a:cxnLst/>
            <a:rect r="r" b="b" t="t" l="l"/>
            <a:pathLst>
              <a:path h="4444037" w="7968535">
                <a:moveTo>
                  <a:pt x="0" y="0"/>
                </a:moveTo>
                <a:lnTo>
                  <a:pt x="7968536" y="0"/>
                </a:lnTo>
                <a:lnTo>
                  <a:pt x="7968536" y="4444037"/>
                </a:lnTo>
                <a:lnTo>
                  <a:pt x="0" y="4444037"/>
                </a:lnTo>
                <a:lnTo>
                  <a:pt x="0" y="0"/>
                </a:lnTo>
                <a:close/>
              </a:path>
            </a:pathLst>
          </a:custGeom>
          <a:blipFill>
            <a:blip r:embed="rId2"/>
            <a:stretch>
              <a:fillRect l="-42114" t="-44900" r="-11666" b="-10204"/>
            </a:stretch>
          </a:blipFill>
        </p:spPr>
      </p:sp>
      <p:sp>
        <p:nvSpPr>
          <p:cNvPr name="TextBox 4" id="4"/>
          <p:cNvSpPr txBox="true"/>
          <p:nvPr/>
        </p:nvSpPr>
        <p:spPr>
          <a:xfrm rot="0">
            <a:off x="539531" y="621363"/>
            <a:ext cx="7850280" cy="1703914"/>
          </a:xfrm>
          <a:prstGeom prst="rect">
            <a:avLst/>
          </a:prstGeom>
        </p:spPr>
        <p:txBody>
          <a:bodyPr anchor="t" rtlCol="false" tIns="0" lIns="0" bIns="0" rIns="0">
            <a:spAutoFit/>
          </a:bodyPr>
          <a:lstStyle/>
          <a:p>
            <a:pPr algn="ctr" marL="0" indent="0" lvl="0">
              <a:lnSpc>
                <a:spcPts val="6705"/>
              </a:lnSpc>
              <a:spcBef>
                <a:spcPct val="0"/>
              </a:spcBef>
            </a:pPr>
            <a:r>
              <a:rPr lang="en-US" b="true" sz="4789">
                <a:solidFill>
                  <a:srgbClr val="E52328"/>
                </a:solidFill>
                <a:latin typeface="Times New Roman Bold"/>
                <a:ea typeface="Times New Roman Bold"/>
                <a:cs typeface="Times New Roman Bold"/>
                <a:sym typeface="Times New Roman Bold"/>
              </a:rPr>
              <a:t>EDA - Univariate analysis:</a:t>
            </a:r>
          </a:p>
          <a:p>
            <a:pPr algn="ctr" marL="0" indent="0" lvl="0">
              <a:lnSpc>
                <a:spcPts val="6705"/>
              </a:lnSpc>
              <a:spcBef>
                <a:spcPct val="0"/>
              </a:spcBef>
            </a:pPr>
          </a:p>
        </p:txBody>
      </p:sp>
      <p:sp>
        <p:nvSpPr>
          <p:cNvPr name="TextBox 5" id="5"/>
          <p:cNvSpPr txBox="true"/>
          <p:nvPr/>
        </p:nvSpPr>
        <p:spPr>
          <a:xfrm rot="0">
            <a:off x="653831" y="1704934"/>
            <a:ext cx="17132738" cy="4284345"/>
          </a:xfrm>
          <a:prstGeom prst="rect">
            <a:avLst/>
          </a:prstGeom>
        </p:spPr>
        <p:txBody>
          <a:bodyPr anchor="t" rtlCol="false" tIns="0" lIns="0" bIns="0" rIns="0">
            <a:spAutoFit/>
          </a:bodyPr>
          <a:lstStyle/>
          <a:p>
            <a:pPr algn="just" marL="582933" indent="-291467" lvl="1">
              <a:lnSpc>
                <a:spcPts val="3780"/>
              </a:lnSpc>
              <a:spcBef>
                <a:spcPct val="0"/>
              </a:spcBef>
              <a:buFont typeface="Arial"/>
              <a:buChar char="•"/>
            </a:pPr>
            <a:r>
              <a:rPr lang="en-US" sz="2700" strike="noStrike" u="none">
                <a:solidFill>
                  <a:srgbClr val="000000"/>
                </a:solidFill>
                <a:latin typeface="Times New Roman"/>
                <a:ea typeface="Times New Roman"/>
                <a:cs typeface="Times New Roman"/>
                <a:sym typeface="Times New Roman"/>
              </a:rPr>
              <a:t>A</a:t>
            </a:r>
            <a:r>
              <a:rPr lang="en-US" sz="2700" strike="noStrike" u="none">
                <a:solidFill>
                  <a:srgbClr val="000000"/>
                </a:solidFill>
                <a:latin typeface="Times New Roman"/>
                <a:ea typeface="Times New Roman"/>
                <a:cs typeface="Times New Roman"/>
                <a:sym typeface="Times New Roman"/>
              </a:rPr>
              <a:t> few cuisines appear slightly more frequently than others, in</a:t>
            </a:r>
            <a:r>
              <a:rPr lang="en-US" sz="2700" strike="noStrike" u="none">
                <a:solidFill>
                  <a:srgbClr val="000000"/>
                </a:solidFill>
                <a:latin typeface="Times New Roman"/>
                <a:ea typeface="Times New Roman"/>
                <a:cs typeface="Times New Roman"/>
                <a:sym typeface="Times New Roman"/>
              </a:rPr>
              <a:t>d</a:t>
            </a:r>
            <a:r>
              <a:rPr lang="en-US" sz="2700" strike="noStrike" u="none">
                <a:solidFill>
                  <a:srgbClr val="000000"/>
                </a:solidFill>
                <a:latin typeface="Times New Roman"/>
                <a:ea typeface="Times New Roman"/>
                <a:cs typeface="Times New Roman"/>
                <a:sym typeface="Times New Roman"/>
              </a:rPr>
              <a:t>icating mo</a:t>
            </a:r>
            <a:r>
              <a:rPr lang="en-US" sz="2700" strike="noStrike" u="none">
                <a:solidFill>
                  <a:srgbClr val="000000"/>
                </a:solidFill>
                <a:latin typeface="Times New Roman"/>
                <a:ea typeface="Times New Roman"/>
                <a:cs typeface="Times New Roman"/>
                <a:sym typeface="Times New Roman"/>
              </a:rPr>
              <a:t>d</a:t>
            </a:r>
            <a:r>
              <a:rPr lang="en-US" sz="2700" strike="noStrike" u="none">
                <a:solidFill>
                  <a:srgbClr val="000000"/>
                </a:solidFill>
                <a:latin typeface="Times New Roman"/>
                <a:ea typeface="Times New Roman"/>
                <a:cs typeface="Times New Roman"/>
                <a:sym typeface="Times New Roman"/>
              </a:rPr>
              <a:t>erate</a:t>
            </a:r>
            <a:r>
              <a:rPr lang="en-US" sz="2700" strike="noStrike" u="none">
                <a:solidFill>
                  <a:srgbClr val="000000"/>
                </a:solidFill>
                <a:latin typeface="Times New Roman"/>
                <a:ea typeface="Times New Roman"/>
                <a:cs typeface="Times New Roman"/>
                <a:sym typeface="Times New Roman"/>
              </a:rPr>
              <a:t> </a:t>
            </a:r>
            <a:r>
              <a:rPr lang="en-US" sz="2700" strike="noStrike" u="none">
                <a:solidFill>
                  <a:srgbClr val="000000"/>
                </a:solidFill>
                <a:latin typeface="Times New Roman"/>
                <a:ea typeface="Times New Roman"/>
                <a:cs typeface="Times New Roman"/>
                <a:sym typeface="Times New Roman"/>
              </a:rPr>
              <a:t>popul</a:t>
            </a:r>
            <a:r>
              <a:rPr lang="en-US" sz="2700" strike="noStrike" u="none">
                <a:solidFill>
                  <a:srgbClr val="000000"/>
                </a:solidFill>
                <a:latin typeface="Times New Roman"/>
                <a:ea typeface="Times New Roman"/>
                <a:cs typeface="Times New Roman"/>
                <a:sym typeface="Times New Roman"/>
              </a:rPr>
              <a:t>a</a:t>
            </a:r>
            <a:r>
              <a:rPr lang="en-US" sz="2700" strike="noStrike" u="none">
                <a:solidFill>
                  <a:srgbClr val="000000"/>
                </a:solidFill>
                <a:latin typeface="Times New Roman"/>
                <a:ea typeface="Times New Roman"/>
                <a:cs typeface="Times New Roman"/>
                <a:sym typeface="Times New Roman"/>
              </a:rPr>
              <a:t>rity</a:t>
            </a:r>
            <a:r>
              <a:rPr lang="en-US" sz="2700" strike="noStrike" u="none">
                <a:solidFill>
                  <a:srgbClr val="000000"/>
                </a:solidFill>
                <a:latin typeface="Times New Roman"/>
                <a:ea typeface="Times New Roman"/>
                <a:cs typeface="Times New Roman"/>
                <a:sym typeface="Times New Roman"/>
              </a:rPr>
              <a:t> </a:t>
            </a:r>
            <a:r>
              <a:rPr lang="en-US" sz="2700" strike="noStrike" u="none">
                <a:solidFill>
                  <a:srgbClr val="000000"/>
                </a:solidFill>
                <a:latin typeface="Times New Roman"/>
                <a:ea typeface="Times New Roman"/>
                <a:cs typeface="Times New Roman"/>
                <a:sym typeface="Times New Roman"/>
              </a:rPr>
              <a:t>difference</a:t>
            </a:r>
            <a:r>
              <a:rPr lang="en-US" sz="2700" strike="noStrike" u="none">
                <a:solidFill>
                  <a:srgbClr val="000000"/>
                </a:solidFill>
                <a:latin typeface="Times New Roman"/>
                <a:ea typeface="Times New Roman"/>
                <a:cs typeface="Times New Roman"/>
                <a:sym typeface="Times New Roman"/>
              </a:rPr>
              <a:t>s</a:t>
            </a:r>
            <a:r>
              <a:rPr lang="en-US" sz="2700" strike="noStrike" u="none">
                <a:solidFill>
                  <a:srgbClr val="000000"/>
                </a:solidFill>
                <a:latin typeface="Times New Roman"/>
                <a:ea typeface="Times New Roman"/>
                <a:cs typeface="Times New Roman"/>
                <a:sym typeface="Times New Roman"/>
              </a:rPr>
              <a:t> among the top c</a:t>
            </a:r>
            <a:r>
              <a:rPr lang="en-US" sz="2700" strike="noStrike" u="none">
                <a:solidFill>
                  <a:srgbClr val="000000"/>
                </a:solidFill>
                <a:latin typeface="Times New Roman"/>
                <a:ea typeface="Times New Roman"/>
                <a:cs typeface="Times New Roman"/>
                <a:sym typeface="Times New Roman"/>
              </a:rPr>
              <a:t>u</a:t>
            </a:r>
            <a:r>
              <a:rPr lang="en-US" sz="2700" strike="noStrike" u="none">
                <a:solidFill>
                  <a:srgbClr val="000000"/>
                </a:solidFill>
                <a:latin typeface="Times New Roman"/>
                <a:ea typeface="Times New Roman"/>
                <a:cs typeface="Times New Roman"/>
                <a:sym typeface="Times New Roman"/>
              </a:rPr>
              <a:t>isines.</a:t>
            </a:r>
          </a:p>
          <a:p>
            <a:pPr algn="just" marL="582933" indent="-291467" lvl="1">
              <a:lnSpc>
                <a:spcPts val="3780"/>
              </a:lnSpc>
              <a:spcBef>
                <a:spcPct val="0"/>
              </a:spcBef>
              <a:buFont typeface="Arial"/>
              <a:buChar char="•"/>
            </a:pPr>
            <a:r>
              <a:rPr lang="en-US" sz="2700" strike="noStrike" u="none">
                <a:solidFill>
                  <a:srgbClr val="000000"/>
                </a:solidFill>
                <a:latin typeface="Times New Roman"/>
                <a:ea typeface="Times New Roman"/>
                <a:cs typeface="Times New Roman"/>
                <a:sym typeface="Times New Roman"/>
              </a:rPr>
              <a:t>Restaurants such as Spice It, Flavours, Coffee Island, and The Game Palacio appear among the most frequent categories in the dataset.</a:t>
            </a:r>
          </a:p>
          <a:p>
            <a:pPr algn="just" marL="582933" indent="-291467" lvl="1">
              <a:lnSpc>
                <a:spcPts val="3780"/>
              </a:lnSpc>
              <a:spcBef>
                <a:spcPct val="0"/>
              </a:spcBef>
              <a:buFont typeface="Arial"/>
              <a:buChar char="•"/>
            </a:pPr>
            <a:r>
              <a:rPr lang="en-US" sz="2700" strike="noStrike" u="none">
                <a:solidFill>
                  <a:srgbClr val="000000"/>
                </a:solidFill>
                <a:latin typeface="Times New Roman"/>
                <a:ea typeface="Times New Roman"/>
                <a:cs typeface="Times New Roman"/>
                <a:sym typeface="Times New Roman"/>
              </a:rPr>
              <a:t>Several cuisines have similar counts, suggesting that customer preferences are fairly distri</a:t>
            </a:r>
            <a:r>
              <a:rPr lang="en-US" sz="2700" strike="noStrike" u="none">
                <a:solidFill>
                  <a:srgbClr val="000000"/>
                </a:solidFill>
                <a:latin typeface="Times New Roman"/>
                <a:ea typeface="Times New Roman"/>
                <a:cs typeface="Times New Roman"/>
                <a:sym typeface="Times New Roman"/>
              </a:rPr>
              <a:t>b</a:t>
            </a:r>
            <a:r>
              <a:rPr lang="en-US" sz="2700" strike="noStrike" u="none">
                <a:solidFill>
                  <a:srgbClr val="000000"/>
                </a:solidFill>
                <a:latin typeface="Times New Roman"/>
                <a:ea typeface="Times New Roman"/>
                <a:cs typeface="Times New Roman"/>
                <a:sym typeface="Times New Roman"/>
              </a:rPr>
              <a:t>uted across multiple cuisine types rat</a:t>
            </a:r>
            <a:r>
              <a:rPr lang="en-US" sz="2700" strike="noStrike" u="none">
                <a:solidFill>
                  <a:srgbClr val="000000"/>
                </a:solidFill>
                <a:latin typeface="Times New Roman"/>
                <a:ea typeface="Times New Roman"/>
                <a:cs typeface="Times New Roman"/>
                <a:sym typeface="Times New Roman"/>
              </a:rPr>
              <a:t>he</a:t>
            </a:r>
            <a:r>
              <a:rPr lang="en-US" sz="2700" strike="noStrike" u="none">
                <a:solidFill>
                  <a:srgbClr val="000000"/>
                </a:solidFill>
                <a:latin typeface="Times New Roman"/>
                <a:ea typeface="Times New Roman"/>
                <a:cs typeface="Times New Roman"/>
                <a:sym typeface="Times New Roman"/>
              </a:rPr>
              <a:t>r th</a:t>
            </a:r>
            <a:r>
              <a:rPr lang="en-US" sz="2700" strike="noStrike" u="none">
                <a:solidFill>
                  <a:srgbClr val="000000"/>
                </a:solidFill>
                <a:latin typeface="Times New Roman"/>
                <a:ea typeface="Times New Roman"/>
                <a:cs typeface="Times New Roman"/>
                <a:sym typeface="Times New Roman"/>
              </a:rPr>
              <a:t>a</a:t>
            </a:r>
            <a:r>
              <a:rPr lang="en-US" sz="2700" strike="noStrike" u="none">
                <a:solidFill>
                  <a:srgbClr val="000000"/>
                </a:solidFill>
                <a:latin typeface="Times New Roman"/>
                <a:ea typeface="Times New Roman"/>
                <a:cs typeface="Times New Roman"/>
                <a:sym typeface="Times New Roman"/>
              </a:rPr>
              <a:t>n </a:t>
            </a:r>
            <a:r>
              <a:rPr lang="en-US" sz="2700" strike="noStrike" u="none">
                <a:solidFill>
                  <a:srgbClr val="000000"/>
                </a:solidFill>
                <a:latin typeface="Times New Roman"/>
                <a:ea typeface="Times New Roman"/>
                <a:cs typeface="Times New Roman"/>
                <a:sym typeface="Times New Roman"/>
              </a:rPr>
              <a:t>d</a:t>
            </a:r>
            <a:r>
              <a:rPr lang="en-US" sz="2700" strike="noStrike" u="none">
                <a:solidFill>
                  <a:srgbClr val="000000"/>
                </a:solidFill>
                <a:latin typeface="Times New Roman"/>
                <a:ea typeface="Times New Roman"/>
                <a:cs typeface="Times New Roman"/>
                <a:sym typeface="Times New Roman"/>
              </a:rPr>
              <a:t>ominated by a s</a:t>
            </a:r>
            <a:r>
              <a:rPr lang="en-US" sz="2700" strike="noStrike" u="none">
                <a:solidFill>
                  <a:srgbClr val="000000"/>
                </a:solidFill>
                <a:latin typeface="Times New Roman"/>
                <a:ea typeface="Times New Roman"/>
                <a:cs typeface="Times New Roman"/>
                <a:sym typeface="Times New Roman"/>
              </a:rPr>
              <a:t>ing</a:t>
            </a:r>
            <a:r>
              <a:rPr lang="en-US" sz="2700" strike="noStrike" u="none">
                <a:solidFill>
                  <a:srgbClr val="000000"/>
                </a:solidFill>
                <a:latin typeface="Times New Roman"/>
                <a:ea typeface="Times New Roman"/>
                <a:cs typeface="Times New Roman"/>
                <a:sym typeface="Times New Roman"/>
              </a:rPr>
              <a:t>le one.</a:t>
            </a:r>
          </a:p>
          <a:p>
            <a:pPr algn="just" marL="582933" indent="-291467" lvl="1">
              <a:lnSpc>
                <a:spcPts val="3780"/>
              </a:lnSpc>
              <a:spcBef>
                <a:spcPct val="0"/>
              </a:spcBef>
              <a:buFont typeface="Arial"/>
              <a:buChar char="•"/>
            </a:pPr>
            <a:r>
              <a:rPr lang="en-US" sz="2700" strike="noStrike" u="none">
                <a:solidFill>
                  <a:srgbClr val="000000"/>
                </a:solidFill>
                <a:latin typeface="Times New Roman"/>
                <a:ea typeface="Times New Roman"/>
                <a:cs typeface="Times New Roman"/>
                <a:sym typeface="Times New Roman"/>
              </a:rPr>
              <a:t>Some cuisines such as NOM NOM, Chili's Grill &amp; Bar, and Kaké Di Hatti appear slightly less frequently compared to the top ones.</a:t>
            </a:r>
          </a:p>
          <a:p>
            <a:pPr algn="just" marL="0" indent="0" lvl="0">
              <a:lnSpc>
                <a:spcPts val="3780"/>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grpSp>
        <p:nvGrpSpPr>
          <p:cNvPr name="Group 3" id="3"/>
          <p:cNvGrpSpPr/>
          <p:nvPr/>
        </p:nvGrpSpPr>
        <p:grpSpPr>
          <a:xfrm rot="0">
            <a:off x="13221348" y="9277474"/>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Freeform 5" id="5"/>
          <p:cNvSpPr/>
          <p:nvPr/>
        </p:nvSpPr>
        <p:spPr>
          <a:xfrm flipH="false" flipV="false" rot="0">
            <a:off x="9887644" y="1764322"/>
            <a:ext cx="8400356" cy="5726717"/>
          </a:xfrm>
          <a:custGeom>
            <a:avLst/>
            <a:gdLst/>
            <a:ahLst/>
            <a:cxnLst/>
            <a:rect r="r" b="b" t="t" l="l"/>
            <a:pathLst>
              <a:path h="5726717" w="8400356">
                <a:moveTo>
                  <a:pt x="0" y="0"/>
                </a:moveTo>
                <a:lnTo>
                  <a:pt x="8400356" y="0"/>
                </a:lnTo>
                <a:lnTo>
                  <a:pt x="8400356" y="5726717"/>
                </a:lnTo>
                <a:lnTo>
                  <a:pt x="0" y="5726717"/>
                </a:lnTo>
                <a:lnTo>
                  <a:pt x="0" y="0"/>
                </a:lnTo>
                <a:close/>
              </a:path>
            </a:pathLst>
          </a:custGeom>
          <a:blipFill>
            <a:blip r:embed="rId3"/>
            <a:stretch>
              <a:fillRect l="-49583" t="-40406" r="-36498" b="-13132"/>
            </a:stretch>
          </a:blipFill>
        </p:spPr>
      </p:sp>
      <p:sp>
        <p:nvSpPr>
          <p:cNvPr name="TextBox 6" id="6"/>
          <p:cNvSpPr txBox="true"/>
          <p:nvPr/>
        </p:nvSpPr>
        <p:spPr>
          <a:xfrm rot="0">
            <a:off x="438150" y="723570"/>
            <a:ext cx="9218515" cy="1007732"/>
          </a:xfrm>
          <a:prstGeom prst="rect">
            <a:avLst/>
          </a:prstGeom>
        </p:spPr>
        <p:txBody>
          <a:bodyPr anchor="t" rtlCol="false" tIns="0" lIns="0" bIns="0" rIns="0">
            <a:spAutoFit/>
          </a:bodyPr>
          <a:lstStyle/>
          <a:p>
            <a:pPr algn="ctr" marL="0" indent="0" lvl="0">
              <a:lnSpc>
                <a:spcPts val="7980"/>
              </a:lnSpc>
              <a:spcBef>
                <a:spcPct val="0"/>
              </a:spcBef>
            </a:pPr>
            <a:r>
              <a:rPr lang="en-US" b="true" sz="5700">
                <a:solidFill>
                  <a:srgbClr val="E52328"/>
                </a:solidFill>
                <a:latin typeface="Times New Roman Bold"/>
                <a:ea typeface="Times New Roman Bold"/>
                <a:cs typeface="Times New Roman Bold"/>
                <a:sym typeface="Times New Roman Bold"/>
              </a:rPr>
              <a:t>EDA - Univ</a:t>
            </a:r>
            <a:r>
              <a:rPr lang="en-US" b="true" sz="5700" strike="noStrike" u="none">
                <a:solidFill>
                  <a:srgbClr val="E52328"/>
                </a:solidFill>
                <a:latin typeface="Times New Roman Bold"/>
                <a:ea typeface="Times New Roman Bold"/>
                <a:cs typeface="Times New Roman Bold"/>
                <a:sym typeface="Times New Roman Bold"/>
              </a:rPr>
              <a:t>ariat</a:t>
            </a:r>
            <a:r>
              <a:rPr lang="en-US" b="true" sz="5700" strike="noStrike" u="none">
                <a:solidFill>
                  <a:srgbClr val="E52328"/>
                </a:solidFill>
                <a:latin typeface="Times New Roman Bold"/>
                <a:ea typeface="Times New Roman Bold"/>
                <a:cs typeface="Times New Roman Bold"/>
                <a:sym typeface="Times New Roman Bold"/>
              </a:rPr>
              <a:t>e a</a:t>
            </a:r>
            <a:r>
              <a:rPr lang="en-US" b="true" sz="5700" strike="noStrike" u="none">
                <a:solidFill>
                  <a:srgbClr val="E52328"/>
                </a:solidFill>
                <a:latin typeface="Times New Roman Bold"/>
                <a:ea typeface="Times New Roman Bold"/>
                <a:cs typeface="Times New Roman Bold"/>
                <a:sym typeface="Times New Roman Bold"/>
              </a:rPr>
              <a:t>nalysis</a:t>
            </a:r>
          </a:p>
        </p:txBody>
      </p:sp>
      <p:sp>
        <p:nvSpPr>
          <p:cNvPr name="TextBox 7" id="7"/>
          <p:cNvSpPr txBox="true"/>
          <p:nvPr/>
        </p:nvSpPr>
        <p:spPr>
          <a:xfrm rot="0">
            <a:off x="617440" y="1765887"/>
            <a:ext cx="9549834" cy="5967114"/>
          </a:xfrm>
          <a:prstGeom prst="rect">
            <a:avLst/>
          </a:prstGeom>
        </p:spPr>
        <p:txBody>
          <a:bodyPr anchor="t" rtlCol="false" tIns="0" lIns="0" bIns="0" rIns="0">
            <a:spAutoFit/>
          </a:bodyPr>
          <a:lstStyle/>
          <a:p>
            <a:pPr algn="l" marL="612386" indent="-306193" lvl="1">
              <a:lnSpc>
                <a:spcPts val="4793"/>
              </a:lnSpc>
              <a:buFont typeface="Arial"/>
              <a:buChar char="•"/>
            </a:pPr>
            <a:r>
              <a:rPr lang="en-US" sz="2836">
                <a:solidFill>
                  <a:srgbClr val="000000"/>
                </a:solidFill>
                <a:latin typeface="Times New Roman"/>
                <a:ea typeface="Times New Roman"/>
                <a:cs typeface="Times New Roman"/>
                <a:sym typeface="Times New Roman"/>
              </a:rPr>
              <a:t>The majority of restaurants provi</a:t>
            </a:r>
            <a:r>
              <a:rPr lang="en-US" sz="2836" strike="noStrike" u="none">
                <a:solidFill>
                  <a:srgbClr val="000000"/>
                </a:solidFill>
                <a:latin typeface="Times New Roman"/>
                <a:ea typeface="Times New Roman"/>
                <a:cs typeface="Times New Roman"/>
                <a:sym typeface="Times New Roman"/>
              </a:rPr>
              <a:t>d</a:t>
            </a:r>
            <a:r>
              <a:rPr lang="en-US" sz="2836" strike="noStrike" u="none">
                <a:solidFill>
                  <a:srgbClr val="000000"/>
                </a:solidFill>
                <a:latin typeface="Times New Roman"/>
                <a:ea typeface="Times New Roman"/>
                <a:cs typeface="Times New Roman"/>
                <a:sym typeface="Times New Roman"/>
              </a:rPr>
              <a:t>e </a:t>
            </a:r>
            <a:r>
              <a:rPr lang="en-US" sz="2836" strike="noStrike" u="none">
                <a:solidFill>
                  <a:srgbClr val="000000"/>
                </a:solidFill>
                <a:latin typeface="Times New Roman"/>
                <a:ea typeface="Times New Roman"/>
                <a:cs typeface="Times New Roman"/>
                <a:sym typeface="Times New Roman"/>
              </a:rPr>
              <a:t>d</a:t>
            </a:r>
            <a:r>
              <a:rPr lang="en-US" sz="2836" strike="noStrike" u="none">
                <a:solidFill>
                  <a:srgbClr val="000000"/>
                </a:solidFill>
                <a:latin typeface="Times New Roman"/>
                <a:ea typeface="Times New Roman"/>
                <a:cs typeface="Times New Roman"/>
                <a:sym typeface="Times New Roman"/>
              </a:rPr>
              <a:t>iscounts between 10%</a:t>
            </a:r>
            <a:r>
              <a:rPr lang="en-US" sz="2836" strike="noStrike" u="none">
                <a:solidFill>
                  <a:srgbClr val="000000"/>
                </a:solidFill>
                <a:latin typeface="Times New Roman"/>
                <a:ea typeface="Times New Roman"/>
                <a:cs typeface="Times New Roman"/>
                <a:sym typeface="Times New Roman"/>
              </a:rPr>
              <a:t> a</a:t>
            </a:r>
            <a:r>
              <a:rPr lang="en-US" sz="2836" strike="noStrike" u="none">
                <a:solidFill>
                  <a:srgbClr val="000000"/>
                </a:solidFill>
                <a:latin typeface="Times New Roman"/>
                <a:ea typeface="Times New Roman"/>
                <a:cs typeface="Times New Roman"/>
                <a:sym typeface="Times New Roman"/>
              </a:rPr>
              <a:t>nd 20%, indicating</a:t>
            </a:r>
            <a:r>
              <a:rPr lang="en-US" sz="2836" strike="noStrike" u="none">
                <a:solidFill>
                  <a:srgbClr val="000000"/>
                </a:solidFill>
                <a:latin typeface="Times New Roman"/>
                <a:ea typeface="Times New Roman"/>
                <a:cs typeface="Times New Roman"/>
                <a:sym typeface="Times New Roman"/>
              </a:rPr>
              <a:t> </a:t>
            </a:r>
            <a:r>
              <a:rPr lang="en-US" sz="2836" strike="noStrike" u="none">
                <a:solidFill>
                  <a:srgbClr val="000000"/>
                </a:solidFill>
                <a:latin typeface="Times New Roman"/>
                <a:ea typeface="Times New Roman"/>
                <a:cs typeface="Times New Roman"/>
                <a:sym typeface="Times New Roman"/>
              </a:rPr>
              <a:t>that moderate promotion</a:t>
            </a:r>
            <a:r>
              <a:rPr lang="en-US" sz="2836" strike="noStrike" u="none">
                <a:solidFill>
                  <a:srgbClr val="000000"/>
                </a:solidFill>
                <a:latin typeface="Times New Roman"/>
                <a:ea typeface="Times New Roman"/>
                <a:cs typeface="Times New Roman"/>
                <a:sym typeface="Times New Roman"/>
              </a:rPr>
              <a:t>s</a:t>
            </a:r>
            <a:r>
              <a:rPr lang="en-US" sz="2836" strike="noStrike" u="none">
                <a:solidFill>
                  <a:srgbClr val="000000"/>
                </a:solidFill>
                <a:latin typeface="Times New Roman"/>
                <a:ea typeface="Times New Roman"/>
                <a:cs typeface="Times New Roman"/>
                <a:sym typeface="Times New Roman"/>
              </a:rPr>
              <a:t> are the most common marketing strategy.</a:t>
            </a:r>
          </a:p>
          <a:p>
            <a:pPr algn="l" marL="612386" indent="-306193" lvl="1">
              <a:lnSpc>
                <a:spcPts val="4793"/>
              </a:lnSpc>
              <a:buFont typeface="Arial"/>
              <a:buChar char="•"/>
            </a:pPr>
            <a:r>
              <a:rPr lang="en-US" sz="2836" strike="noStrike" u="none">
                <a:solidFill>
                  <a:srgbClr val="000000"/>
                </a:solidFill>
                <a:latin typeface="Times New Roman"/>
                <a:ea typeface="Times New Roman"/>
                <a:cs typeface="Times New Roman"/>
                <a:sym typeface="Times New Roman"/>
              </a:rPr>
              <a:t>Higher disco</a:t>
            </a:r>
            <a:r>
              <a:rPr lang="en-US" sz="2836" strike="noStrike" u="none">
                <a:solidFill>
                  <a:srgbClr val="000000"/>
                </a:solidFill>
                <a:latin typeface="Times New Roman"/>
                <a:ea typeface="Times New Roman"/>
                <a:cs typeface="Times New Roman"/>
                <a:sym typeface="Times New Roman"/>
              </a:rPr>
              <a:t>u</a:t>
            </a:r>
            <a:r>
              <a:rPr lang="en-US" sz="2836" strike="noStrike" u="none">
                <a:solidFill>
                  <a:srgbClr val="000000"/>
                </a:solidFill>
                <a:latin typeface="Times New Roman"/>
                <a:ea typeface="Times New Roman"/>
                <a:cs typeface="Times New Roman"/>
                <a:sym typeface="Times New Roman"/>
              </a:rPr>
              <a:t>nts a</a:t>
            </a:r>
            <a:r>
              <a:rPr lang="en-US" sz="2836" strike="noStrike" u="none">
                <a:solidFill>
                  <a:srgbClr val="000000"/>
                </a:solidFill>
                <a:latin typeface="Times New Roman"/>
                <a:ea typeface="Times New Roman"/>
                <a:cs typeface="Times New Roman"/>
                <a:sym typeface="Times New Roman"/>
              </a:rPr>
              <a:t>b</a:t>
            </a:r>
            <a:r>
              <a:rPr lang="en-US" sz="2836" strike="noStrike" u="none">
                <a:solidFill>
                  <a:srgbClr val="000000"/>
                </a:solidFill>
                <a:latin typeface="Times New Roman"/>
                <a:ea typeface="Times New Roman"/>
                <a:cs typeface="Times New Roman"/>
                <a:sym typeface="Times New Roman"/>
              </a:rPr>
              <a:t>ove 30% are muc</a:t>
            </a:r>
            <a:r>
              <a:rPr lang="en-US" sz="2836" strike="noStrike" u="none">
                <a:solidFill>
                  <a:srgbClr val="000000"/>
                </a:solidFill>
                <a:latin typeface="Times New Roman"/>
                <a:ea typeface="Times New Roman"/>
                <a:cs typeface="Times New Roman"/>
                <a:sym typeface="Times New Roman"/>
              </a:rPr>
              <a:t>h</a:t>
            </a:r>
            <a:r>
              <a:rPr lang="en-US" sz="2836" strike="noStrike" u="none">
                <a:solidFill>
                  <a:srgbClr val="000000"/>
                </a:solidFill>
                <a:latin typeface="Times New Roman"/>
                <a:ea typeface="Times New Roman"/>
                <a:cs typeface="Times New Roman"/>
                <a:sym typeface="Times New Roman"/>
              </a:rPr>
              <a:t> l</a:t>
            </a:r>
            <a:r>
              <a:rPr lang="en-US" sz="2836" strike="noStrike" u="none">
                <a:solidFill>
                  <a:srgbClr val="000000"/>
                </a:solidFill>
                <a:latin typeface="Times New Roman"/>
                <a:ea typeface="Times New Roman"/>
                <a:cs typeface="Times New Roman"/>
                <a:sym typeface="Times New Roman"/>
              </a:rPr>
              <a:t>e</a:t>
            </a:r>
            <a:r>
              <a:rPr lang="en-US" sz="2836" strike="noStrike" u="none">
                <a:solidFill>
                  <a:srgbClr val="000000"/>
                </a:solidFill>
                <a:latin typeface="Times New Roman"/>
                <a:ea typeface="Times New Roman"/>
                <a:cs typeface="Times New Roman"/>
                <a:sym typeface="Times New Roman"/>
              </a:rPr>
              <a:t>ss frequent, suggesting that restaurants limit l</a:t>
            </a:r>
            <a:r>
              <a:rPr lang="en-US" sz="2836" strike="noStrike" u="none">
                <a:solidFill>
                  <a:srgbClr val="000000"/>
                </a:solidFill>
                <a:latin typeface="Times New Roman"/>
                <a:ea typeface="Times New Roman"/>
                <a:cs typeface="Times New Roman"/>
                <a:sym typeface="Times New Roman"/>
              </a:rPr>
              <a:t>a</a:t>
            </a:r>
            <a:r>
              <a:rPr lang="en-US" sz="2836" strike="noStrike" u="none">
                <a:solidFill>
                  <a:srgbClr val="000000"/>
                </a:solidFill>
                <a:latin typeface="Times New Roman"/>
                <a:ea typeface="Times New Roman"/>
                <a:cs typeface="Times New Roman"/>
                <a:sym typeface="Times New Roman"/>
              </a:rPr>
              <a:t>rge </a:t>
            </a:r>
            <a:r>
              <a:rPr lang="en-US" sz="2836" strike="noStrike" u="none">
                <a:solidFill>
                  <a:srgbClr val="000000"/>
                </a:solidFill>
                <a:latin typeface="Times New Roman"/>
                <a:ea typeface="Times New Roman"/>
                <a:cs typeface="Times New Roman"/>
                <a:sym typeface="Times New Roman"/>
              </a:rPr>
              <a:t>di</a:t>
            </a:r>
            <a:r>
              <a:rPr lang="en-US" sz="2836" strike="noStrike" u="none">
                <a:solidFill>
                  <a:srgbClr val="000000"/>
                </a:solidFill>
                <a:latin typeface="Times New Roman"/>
                <a:ea typeface="Times New Roman"/>
                <a:cs typeface="Times New Roman"/>
                <a:sym typeface="Times New Roman"/>
              </a:rPr>
              <a:t>scou</a:t>
            </a:r>
            <a:r>
              <a:rPr lang="en-US" sz="2836" strike="noStrike" u="none">
                <a:solidFill>
                  <a:srgbClr val="000000"/>
                </a:solidFill>
                <a:latin typeface="Times New Roman"/>
                <a:ea typeface="Times New Roman"/>
                <a:cs typeface="Times New Roman"/>
                <a:sym typeface="Times New Roman"/>
              </a:rPr>
              <a:t>n</a:t>
            </a:r>
            <a:r>
              <a:rPr lang="en-US" sz="2836" strike="noStrike" u="none">
                <a:solidFill>
                  <a:srgbClr val="000000"/>
                </a:solidFill>
                <a:latin typeface="Times New Roman"/>
                <a:ea typeface="Times New Roman"/>
                <a:cs typeface="Times New Roman"/>
                <a:sym typeface="Times New Roman"/>
              </a:rPr>
              <a:t>ts to protect profit mar</a:t>
            </a:r>
            <a:r>
              <a:rPr lang="en-US" sz="2836" strike="noStrike" u="none">
                <a:solidFill>
                  <a:srgbClr val="000000"/>
                </a:solidFill>
                <a:latin typeface="Times New Roman"/>
                <a:ea typeface="Times New Roman"/>
                <a:cs typeface="Times New Roman"/>
                <a:sym typeface="Times New Roman"/>
              </a:rPr>
              <a:t>g</a:t>
            </a:r>
            <a:r>
              <a:rPr lang="en-US" sz="2836" strike="noStrike" u="none">
                <a:solidFill>
                  <a:srgbClr val="000000"/>
                </a:solidFill>
                <a:latin typeface="Times New Roman"/>
                <a:ea typeface="Times New Roman"/>
                <a:cs typeface="Times New Roman"/>
                <a:sym typeface="Times New Roman"/>
              </a:rPr>
              <a:t>ins.</a:t>
            </a:r>
          </a:p>
          <a:p>
            <a:pPr algn="l" marL="612386" indent="-306193" lvl="1">
              <a:lnSpc>
                <a:spcPts val="4793"/>
              </a:lnSpc>
              <a:buFont typeface="Arial"/>
              <a:buChar char="•"/>
            </a:pPr>
            <a:r>
              <a:rPr lang="en-US" sz="2836" strike="noStrike" u="none">
                <a:solidFill>
                  <a:srgbClr val="000000"/>
                </a:solidFill>
                <a:latin typeface="Times New Roman"/>
                <a:ea typeface="Times New Roman"/>
                <a:cs typeface="Times New Roman"/>
                <a:sym typeface="Times New Roman"/>
              </a:rPr>
              <a:t>The distribution shows that restaurants prefer smaller but more sustainable promotional offers rather than large discount campaigns.</a:t>
            </a:r>
          </a:p>
          <a:p>
            <a:pPr algn="l" marL="0" indent="0" lvl="0">
              <a:lnSpc>
                <a:spcPts val="4793"/>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grpSp>
        <p:nvGrpSpPr>
          <p:cNvPr name="Group 3" id="3"/>
          <p:cNvGrpSpPr/>
          <p:nvPr/>
        </p:nvGrpSpPr>
        <p:grpSpPr>
          <a:xfrm rot="0">
            <a:off x="13221348" y="9277474"/>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Freeform 5" id="5"/>
          <p:cNvSpPr/>
          <p:nvPr/>
        </p:nvSpPr>
        <p:spPr>
          <a:xfrm flipH="false" flipV="false" rot="0">
            <a:off x="10684310" y="2346294"/>
            <a:ext cx="7603690" cy="5150641"/>
          </a:xfrm>
          <a:custGeom>
            <a:avLst/>
            <a:gdLst/>
            <a:ahLst/>
            <a:cxnLst/>
            <a:rect r="r" b="b" t="t" l="l"/>
            <a:pathLst>
              <a:path h="5150641" w="7603690">
                <a:moveTo>
                  <a:pt x="0" y="0"/>
                </a:moveTo>
                <a:lnTo>
                  <a:pt x="7603690" y="0"/>
                </a:lnTo>
                <a:lnTo>
                  <a:pt x="7603690" y="5150641"/>
                </a:lnTo>
                <a:lnTo>
                  <a:pt x="0" y="5150641"/>
                </a:lnTo>
                <a:lnTo>
                  <a:pt x="0" y="0"/>
                </a:lnTo>
                <a:close/>
              </a:path>
            </a:pathLst>
          </a:custGeom>
          <a:blipFill>
            <a:blip r:embed="rId3"/>
            <a:stretch>
              <a:fillRect l="-57443" t="-61992" r="-56651" b="-15790"/>
            </a:stretch>
          </a:blipFill>
        </p:spPr>
      </p:sp>
      <p:sp>
        <p:nvSpPr>
          <p:cNvPr name="TextBox 6" id="6"/>
          <p:cNvSpPr txBox="true"/>
          <p:nvPr/>
        </p:nvSpPr>
        <p:spPr>
          <a:xfrm rot="0">
            <a:off x="0" y="895350"/>
            <a:ext cx="8753757" cy="892175"/>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E52328"/>
                </a:solidFill>
                <a:latin typeface="Times New Roman Bold"/>
                <a:ea typeface="Times New Roman Bold"/>
                <a:cs typeface="Times New Roman Bold"/>
                <a:sym typeface="Times New Roman Bold"/>
              </a:rPr>
              <a:t>EDA - Un</a:t>
            </a:r>
            <a:r>
              <a:rPr lang="en-US" b="true" sz="5000" strike="noStrike" u="none">
                <a:solidFill>
                  <a:srgbClr val="E52328"/>
                </a:solidFill>
                <a:latin typeface="Times New Roman Bold"/>
                <a:ea typeface="Times New Roman Bold"/>
                <a:cs typeface="Times New Roman Bold"/>
                <a:sym typeface="Times New Roman Bold"/>
              </a:rPr>
              <a:t>i</a:t>
            </a:r>
            <a:r>
              <a:rPr lang="en-US" b="true" sz="5000" strike="noStrike" u="none">
                <a:solidFill>
                  <a:srgbClr val="E52328"/>
                </a:solidFill>
                <a:latin typeface="Times New Roman Bold"/>
                <a:ea typeface="Times New Roman Bold"/>
                <a:cs typeface="Times New Roman Bold"/>
                <a:sym typeface="Times New Roman Bold"/>
              </a:rPr>
              <a:t>v</a:t>
            </a:r>
            <a:r>
              <a:rPr lang="en-US" b="true" sz="5000" strike="noStrike" u="none">
                <a:solidFill>
                  <a:srgbClr val="E52328"/>
                </a:solidFill>
                <a:latin typeface="Times New Roman Bold"/>
                <a:ea typeface="Times New Roman Bold"/>
                <a:cs typeface="Times New Roman Bold"/>
                <a:sym typeface="Times New Roman Bold"/>
              </a:rPr>
              <a:t>a</a:t>
            </a:r>
            <a:r>
              <a:rPr lang="en-US" b="true" sz="5000" strike="noStrike" u="none">
                <a:solidFill>
                  <a:srgbClr val="E52328"/>
                </a:solidFill>
                <a:latin typeface="Times New Roman Bold"/>
                <a:ea typeface="Times New Roman Bold"/>
                <a:cs typeface="Times New Roman Bold"/>
                <a:sym typeface="Times New Roman Bold"/>
              </a:rPr>
              <a:t>r</a:t>
            </a:r>
            <a:r>
              <a:rPr lang="en-US" b="true" sz="5000" strike="noStrike" u="none">
                <a:solidFill>
                  <a:srgbClr val="E52328"/>
                </a:solidFill>
                <a:latin typeface="Times New Roman Bold"/>
                <a:ea typeface="Times New Roman Bold"/>
                <a:cs typeface="Times New Roman Bold"/>
                <a:sym typeface="Times New Roman Bold"/>
              </a:rPr>
              <a:t>iat</a:t>
            </a:r>
            <a:r>
              <a:rPr lang="en-US" b="true" sz="5000" strike="noStrike" u="none">
                <a:solidFill>
                  <a:srgbClr val="E52328"/>
                </a:solidFill>
                <a:latin typeface="Times New Roman Bold"/>
                <a:ea typeface="Times New Roman Bold"/>
                <a:cs typeface="Times New Roman Bold"/>
                <a:sym typeface="Times New Roman Bold"/>
              </a:rPr>
              <a:t>e a</a:t>
            </a:r>
            <a:r>
              <a:rPr lang="en-US" b="true" sz="5000" strike="noStrike" u="none">
                <a:solidFill>
                  <a:srgbClr val="E52328"/>
                </a:solidFill>
                <a:latin typeface="Times New Roman Bold"/>
                <a:ea typeface="Times New Roman Bold"/>
                <a:cs typeface="Times New Roman Bold"/>
                <a:sym typeface="Times New Roman Bold"/>
              </a:rPr>
              <a:t>nalysis</a:t>
            </a:r>
          </a:p>
        </p:txBody>
      </p:sp>
      <p:sp>
        <p:nvSpPr>
          <p:cNvPr name="TextBox 7" id="7"/>
          <p:cNvSpPr txBox="true"/>
          <p:nvPr/>
        </p:nvSpPr>
        <p:spPr>
          <a:xfrm rot="0">
            <a:off x="609066" y="1956801"/>
            <a:ext cx="9867882" cy="5796277"/>
          </a:xfrm>
          <a:prstGeom prst="rect">
            <a:avLst/>
          </a:prstGeom>
        </p:spPr>
        <p:txBody>
          <a:bodyPr anchor="t" rtlCol="false" tIns="0" lIns="0" bIns="0" rIns="0">
            <a:spAutoFit/>
          </a:bodyPr>
          <a:lstStyle/>
          <a:p>
            <a:pPr algn="just" marL="626122" indent="-313061" lvl="1">
              <a:lnSpc>
                <a:spcPts val="4640"/>
              </a:lnSpc>
              <a:buFont typeface="Arial"/>
              <a:buChar char="•"/>
            </a:pPr>
            <a:r>
              <a:rPr lang="en-US" sz="2900">
                <a:solidFill>
                  <a:srgbClr val="000000"/>
                </a:solidFill>
                <a:latin typeface="Times New Roman"/>
                <a:ea typeface="Times New Roman"/>
                <a:cs typeface="Times New Roman"/>
                <a:sym typeface="Times New Roman"/>
              </a:rPr>
              <a:t>Most restaurants in the </a:t>
            </a:r>
            <a:r>
              <a:rPr lang="en-US" sz="2900" strike="noStrike" u="none">
                <a:solidFill>
                  <a:srgbClr val="000000"/>
                </a:solidFill>
                <a:latin typeface="Times New Roman"/>
                <a:ea typeface="Times New Roman"/>
                <a:cs typeface="Times New Roman"/>
                <a:sym typeface="Times New Roman"/>
              </a:rPr>
              <a:t>d</a:t>
            </a:r>
            <a:r>
              <a:rPr lang="en-US" sz="2900" strike="noStrike" u="none">
                <a:solidFill>
                  <a:srgbClr val="000000"/>
                </a:solidFill>
                <a:latin typeface="Times New Roman"/>
                <a:ea typeface="Times New Roman"/>
                <a:cs typeface="Times New Roman"/>
                <a:sym typeface="Times New Roman"/>
              </a:rPr>
              <a:t>ataset fall within the ₹800–₹2000 price range, in</a:t>
            </a:r>
            <a:r>
              <a:rPr lang="en-US" sz="2900" strike="noStrike" u="none">
                <a:solidFill>
                  <a:srgbClr val="000000"/>
                </a:solidFill>
                <a:latin typeface="Times New Roman"/>
                <a:ea typeface="Times New Roman"/>
                <a:cs typeface="Times New Roman"/>
                <a:sym typeface="Times New Roman"/>
              </a:rPr>
              <a:t>d</a:t>
            </a:r>
            <a:r>
              <a:rPr lang="en-US" sz="2900" strike="noStrike" u="none">
                <a:solidFill>
                  <a:srgbClr val="000000"/>
                </a:solidFill>
                <a:latin typeface="Times New Roman"/>
                <a:ea typeface="Times New Roman"/>
                <a:cs typeface="Times New Roman"/>
                <a:sym typeface="Times New Roman"/>
              </a:rPr>
              <a:t>icating</a:t>
            </a:r>
            <a:r>
              <a:rPr lang="en-US" sz="2900" strike="noStrike" u="none">
                <a:solidFill>
                  <a:srgbClr val="000000"/>
                </a:solidFill>
                <a:latin typeface="Times New Roman"/>
                <a:ea typeface="Times New Roman"/>
                <a:cs typeface="Times New Roman"/>
                <a:sym typeface="Times New Roman"/>
              </a:rPr>
              <a:t> </a:t>
            </a:r>
            <a:r>
              <a:rPr lang="en-US" sz="2900" strike="noStrike" u="none">
                <a:solidFill>
                  <a:srgbClr val="000000"/>
                </a:solidFill>
                <a:latin typeface="Times New Roman"/>
                <a:ea typeface="Times New Roman"/>
                <a:cs typeface="Times New Roman"/>
                <a:sym typeface="Times New Roman"/>
              </a:rPr>
              <a:t>th</a:t>
            </a:r>
            <a:r>
              <a:rPr lang="en-US" sz="2900" strike="noStrike" u="none">
                <a:solidFill>
                  <a:srgbClr val="000000"/>
                </a:solidFill>
                <a:latin typeface="Times New Roman"/>
                <a:ea typeface="Times New Roman"/>
                <a:cs typeface="Times New Roman"/>
                <a:sym typeface="Times New Roman"/>
              </a:rPr>
              <a:t>a</a:t>
            </a:r>
            <a:r>
              <a:rPr lang="en-US" sz="2900" strike="noStrike" u="none">
                <a:solidFill>
                  <a:srgbClr val="000000"/>
                </a:solidFill>
                <a:latin typeface="Times New Roman"/>
                <a:ea typeface="Times New Roman"/>
                <a:cs typeface="Times New Roman"/>
                <a:sym typeface="Times New Roman"/>
              </a:rPr>
              <a:t>t mid-range</a:t>
            </a:r>
            <a:r>
              <a:rPr lang="en-US" sz="2900" strike="noStrike" u="none">
                <a:solidFill>
                  <a:srgbClr val="000000"/>
                </a:solidFill>
                <a:latin typeface="Times New Roman"/>
                <a:ea typeface="Times New Roman"/>
                <a:cs typeface="Times New Roman"/>
                <a:sym typeface="Times New Roman"/>
              </a:rPr>
              <a:t> </a:t>
            </a:r>
            <a:r>
              <a:rPr lang="en-US" sz="2900" strike="noStrike" u="none">
                <a:solidFill>
                  <a:srgbClr val="000000"/>
                </a:solidFill>
                <a:latin typeface="Times New Roman"/>
                <a:ea typeface="Times New Roman"/>
                <a:cs typeface="Times New Roman"/>
                <a:sym typeface="Times New Roman"/>
              </a:rPr>
              <a:t>dining option</a:t>
            </a:r>
            <a:r>
              <a:rPr lang="en-US" sz="2900" strike="noStrike" u="none">
                <a:solidFill>
                  <a:srgbClr val="000000"/>
                </a:solidFill>
                <a:latin typeface="Times New Roman"/>
                <a:ea typeface="Times New Roman"/>
                <a:cs typeface="Times New Roman"/>
                <a:sym typeface="Times New Roman"/>
              </a:rPr>
              <a:t>s</a:t>
            </a:r>
            <a:r>
              <a:rPr lang="en-US" sz="2900" strike="noStrike" u="none">
                <a:solidFill>
                  <a:srgbClr val="000000"/>
                </a:solidFill>
                <a:latin typeface="Times New Roman"/>
                <a:ea typeface="Times New Roman"/>
                <a:cs typeface="Times New Roman"/>
                <a:sym typeface="Times New Roman"/>
              </a:rPr>
              <a:t> dominate the market.</a:t>
            </a:r>
          </a:p>
          <a:p>
            <a:pPr algn="just" marL="626122" indent="-313061" lvl="1">
              <a:lnSpc>
                <a:spcPts val="4640"/>
              </a:lnSpc>
              <a:buFont typeface="Arial"/>
              <a:buChar char="•"/>
            </a:pPr>
            <a:r>
              <a:rPr lang="en-US" sz="2900" strike="noStrike" u="none">
                <a:solidFill>
                  <a:srgbClr val="000000"/>
                </a:solidFill>
                <a:latin typeface="Times New Roman"/>
                <a:ea typeface="Times New Roman"/>
                <a:cs typeface="Times New Roman"/>
                <a:sym typeface="Times New Roman"/>
              </a:rPr>
              <a:t>The price distrib</a:t>
            </a:r>
            <a:r>
              <a:rPr lang="en-US" sz="2900" strike="noStrike" u="none">
                <a:solidFill>
                  <a:srgbClr val="000000"/>
                </a:solidFill>
                <a:latin typeface="Times New Roman"/>
                <a:ea typeface="Times New Roman"/>
                <a:cs typeface="Times New Roman"/>
                <a:sym typeface="Times New Roman"/>
              </a:rPr>
              <a:t>u</a:t>
            </a:r>
            <a:r>
              <a:rPr lang="en-US" sz="2900" strike="noStrike" u="none">
                <a:solidFill>
                  <a:srgbClr val="000000"/>
                </a:solidFill>
                <a:latin typeface="Times New Roman"/>
                <a:ea typeface="Times New Roman"/>
                <a:cs typeface="Times New Roman"/>
                <a:sym typeface="Times New Roman"/>
              </a:rPr>
              <a:t>tion is positively skewed, meaning there are only a few expensive restaurants compared to many moderately priced ones.</a:t>
            </a:r>
          </a:p>
          <a:p>
            <a:pPr algn="just" marL="626122" indent="-313061" lvl="1">
              <a:lnSpc>
                <a:spcPts val="4640"/>
              </a:lnSpc>
              <a:buFont typeface="Arial"/>
              <a:buChar char="•"/>
            </a:pPr>
            <a:r>
              <a:rPr lang="en-US" sz="2900" strike="noStrike" u="none">
                <a:solidFill>
                  <a:srgbClr val="000000"/>
                </a:solidFill>
                <a:latin typeface="Times New Roman"/>
                <a:ea typeface="Times New Roman"/>
                <a:cs typeface="Times New Roman"/>
                <a:sym typeface="Times New Roman"/>
              </a:rPr>
              <a:t>Hig</a:t>
            </a:r>
            <a:r>
              <a:rPr lang="en-US" sz="2900" strike="noStrike" u="none">
                <a:solidFill>
                  <a:srgbClr val="000000"/>
                </a:solidFill>
                <a:latin typeface="Times New Roman"/>
                <a:ea typeface="Times New Roman"/>
                <a:cs typeface="Times New Roman"/>
                <a:sym typeface="Times New Roman"/>
              </a:rPr>
              <a:t>h</a:t>
            </a:r>
            <a:r>
              <a:rPr lang="en-US" sz="2900" strike="noStrike" u="none">
                <a:solidFill>
                  <a:srgbClr val="000000"/>
                </a:solidFill>
                <a:latin typeface="Times New Roman"/>
                <a:ea typeface="Times New Roman"/>
                <a:cs typeface="Times New Roman"/>
                <a:sym typeface="Times New Roman"/>
              </a:rPr>
              <a:t>-</a:t>
            </a:r>
            <a:r>
              <a:rPr lang="en-US" sz="2900" strike="noStrike" u="none">
                <a:solidFill>
                  <a:srgbClr val="000000"/>
                </a:solidFill>
                <a:latin typeface="Times New Roman"/>
                <a:ea typeface="Times New Roman"/>
                <a:cs typeface="Times New Roman"/>
                <a:sym typeface="Times New Roman"/>
              </a:rPr>
              <a:t>e</a:t>
            </a:r>
            <a:r>
              <a:rPr lang="en-US" sz="2900" strike="noStrike" u="none">
                <a:solidFill>
                  <a:srgbClr val="000000"/>
                </a:solidFill>
                <a:latin typeface="Times New Roman"/>
                <a:ea typeface="Times New Roman"/>
                <a:cs typeface="Times New Roman"/>
                <a:sym typeface="Times New Roman"/>
              </a:rPr>
              <a:t>nd restaurants costing </a:t>
            </a:r>
            <a:r>
              <a:rPr lang="en-US" sz="2900" strike="noStrike" u="none">
                <a:solidFill>
                  <a:srgbClr val="000000"/>
                </a:solidFill>
                <a:latin typeface="Times New Roman"/>
                <a:ea typeface="Times New Roman"/>
                <a:cs typeface="Times New Roman"/>
                <a:sym typeface="Times New Roman"/>
              </a:rPr>
              <a:t>a</a:t>
            </a:r>
            <a:r>
              <a:rPr lang="en-US" sz="2900" strike="noStrike" u="none">
                <a:solidFill>
                  <a:srgbClr val="000000"/>
                </a:solidFill>
                <a:latin typeface="Times New Roman"/>
                <a:ea typeface="Times New Roman"/>
                <a:cs typeface="Times New Roman"/>
                <a:sym typeface="Times New Roman"/>
              </a:rPr>
              <a:t>bove ₹3000 are relatively rare, suggesting that premium </a:t>
            </a:r>
            <a:r>
              <a:rPr lang="en-US" sz="2900" strike="noStrike" u="none">
                <a:solidFill>
                  <a:srgbClr val="000000"/>
                </a:solidFill>
                <a:latin typeface="Times New Roman"/>
                <a:ea typeface="Times New Roman"/>
                <a:cs typeface="Times New Roman"/>
                <a:sym typeface="Times New Roman"/>
              </a:rPr>
              <a:t>din</a:t>
            </a:r>
            <a:r>
              <a:rPr lang="en-US" sz="2900" strike="noStrike" u="none">
                <a:solidFill>
                  <a:srgbClr val="000000"/>
                </a:solidFill>
                <a:latin typeface="Times New Roman"/>
                <a:ea typeface="Times New Roman"/>
                <a:cs typeface="Times New Roman"/>
                <a:sym typeface="Times New Roman"/>
              </a:rPr>
              <a:t>in</a:t>
            </a:r>
            <a:r>
              <a:rPr lang="en-US" sz="2900" strike="noStrike" u="none">
                <a:solidFill>
                  <a:srgbClr val="000000"/>
                </a:solidFill>
                <a:latin typeface="Times New Roman"/>
                <a:ea typeface="Times New Roman"/>
                <a:cs typeface="Times New Roman"/>
                <a:sym typeface="Times New Roman"/>
              </a:rPr>
              <a:t>g</a:t>
            </a:r>
            <a:r>
              <a:rPr lang="en-US" sz="2900" strike="noStrike" u="none">
                <a:solidFill>
                  <a:srgbClr val="000000"/>
                </a:solidFill>
                <a:latin typeface="Times New Roman"/>
                <a:ea typeface="Times New Roman"/>
                <a:cs typeface="Times New Roman"/>
                <a:sym typeface="Times New Roman"/>
              </a:rPr>
              <a:t> options represent a smaller portion of the overall restaurant landscape.</a:t>
            </a:r>
          </a:p>
          <a:p>
            <a:pPr algn="just" marL="0" indent="0" lvl="0">
              <a:lnSpc>
                <a:spcPts val="464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grpSp>
        <p:nvGrpSpPr>
          <p:cNvPr name="Group 3" id="3"/>
          <p:cNvGrpSpPr/>
          <p:nvPr/>
        </p:nvGrpSpPr>
        <p:grpSpPr>
          <a:xfrm rot="0">
            <a:off x="13221348" y="9277474"/>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Freeform 5" id="5"/>
          <p:cNvSpPr/>
          <p:nvPr/>
        </p:nvSpPr>
        <p:spPr>
          <a:xfrm flipH="false" flipV="false" rot="0">
            <a:off x="9735688" y="1691641"/>
            <a:ext cx="8323760" cy="4837291"/>
          </a:xfrm>
          <a:custGeom>
            <a:avLst/>
            <a:gdLst/>
            <a:ahLst/>
            <a:cxnLst/>
            <a:rect r="r" b="b" t="t" l="l"/>
            <a:pathLst>
              <a:path h="4837291" w="8323760">
                <a:moveTo>
                  <a:pt x="0" y="0"/>
                </a:moveTo>
                <a:lnTo>
                  <a:pt x="8323760" y="0"/>
                </a:lnTo>
                <a:lnTo>
                  <a:pt x="8323760" y="4837291"/>
                </a:lnTo>
                <a:lnTo>
                  <a:pt x="0" y="4837291"/>
                </a:lnTo>
                <a:lnTo>
                  <a:pt x="0" y="0"/>
                </a:lnTo>
                <a:close/>
              </a:path>
            </a:pathLst>
          </a:custGeom>
          <a:blipFill>
            <a:blip r:embed="rId3"/>
            <a:stretch>
              <a:fillRect l="-40091" t="-38632" r="-12829" b="-9382"/>
            </a:stretch>
          </a:blipFill>
        </p:spPr>
      </p:sp>
      <p:sp>
        <p:nvSpPr>
          <p:cNvPr name="TextBox 6" id="6"/>
          <p:cNvSpPr txBox="true"/>
          <p:nvPr/>
        </p:nvSpPr>
        <p:spPr>
          <a:xfrm rot="0">
            <a:off x="438245" y="904875"/>
            <a:ext cx="7405581" cy="816610"/>
          </a:xfrm>
          <a:prstGeom prst="rect">
            <a:avLst/>
          </a:prstGeom>
        </p:spPr>
        <p:txBody>
          <a:bodyPr anchor="t" rtlCol="false" tIns="0" lIns="0" bIns="0" rIns="0">
            <a:spAutoFit/>
          </a:bodyPr>
          <a:lstStyle/>
          <a:p>
            <a:pPr algn="ctr" marL="0" indent="0" lvl="0">
              <a:lnSpc>
                <a:spcPts val="6440"/>
              </a:lnSpc>
              <a:spcBef>
                <a:spcPct val="0"/>
              </a:spcBef>
            </a:pPr>
            <a:r>
              <a:rPr lang="en-US" b="true" sz="4600">
                <a:solidFill>
                  <a:srgbClr val="E52328"/>
                </a:solidFill>
                <a:latin typeface="Times New Roman Bold"/>
                <a:ea typeface="Times New Roman Bold"/>
                <a:cs typeface="Times New Roman Bold"/>
                <a:sym typeface="Times New Roman Bold"/>
              </a:rPr>
              <a:t>EDA - B</a:t>
            </a:r>
            <a:r>
              <a:rPr lang="en-US" b="true" sz="4600" strike="noStrike" u="none">
                <a:solidFill>
                  <a:srgbClr val="E52328"/>
                </a:solidFill>
                <a:latin typeface="Times New Roman Bold"/>
                <a:ea typeface="Times New Roman Bold"/>
                <a:cs typeface="Times New Roman Bold"/>
                <a:sym typeface="Times New Roman Bold"/>
              </a:rPr>
              <a:t>i</a:t>
            </a:r>
            <a:r>
              <a:rPr lang="en-US" b="true" sz="4600" strike="noStrike" u="none">
                <a:solidFill>
                  <a:srgbClr val="E52328"/>
                </a:solidFill>
                <a:latin typeface="Times New Roman Bold"/>
                <a:ea typeface="Times New Roman Bold"/>
                <a:cs typeface="Times New Roman Bold"/>
                <a:sym typeface="Times New Roman Bold"/>
              </a:rPr>
              <a:t>v</a:t>
            </a:r>
            <a:r>
              <a:rPr lang="en-US" b="true" sz="4600" strike="noStrike" u="none">
                <a:solidFill>
                  <a:srgbClr val="E52328"/>
                </a:solidFill>
                <a:latin typeface="Times New Roman Bold"/>
                <a:ea typeface="Times New Roman Bold"/>
                <a:cs typeface="Times New Roman Bold"/>
                <a:sym typeface="Times New Roman Bold"/>
              </a:rPr>
              <a:t>a</a:t>
            </a:r>
            <a:r>
              <a:rPr lang="en-US" b="true" sz="4600" strike="noStrike" u="none">
                <a:solidFill>
                  <a:srgbClr val="E52328"/>
                </a:solidFill>
                <a:latin typeface="Times New Roman Bold"/>
                <a:ea typeface="Times New Roman Bold"/>
                <a:cs typeface="Times New Roman Bold"/>
                <a:sym typeface="Times New Roman Bold"/>
              </a:rPr>
              <a:t>r</a:t>
            </a:r>
            <a:r>
              <a:rPr lang="en-US" b="true" sz="4600" strike="noStrike" u="none">
                <a:solidFill>
                  <a:srgbClr val="E52328"/>
                </a:solidFill>
                <a:latin typeface="Times New Roman Bold"/>
                <a:ea typeface="Times New Roman Bold"/>
                <a:cs typeface="Times New Roman Bold"/>
                <a:sym typeface="Times New Roman Bold"/>
              </a:rPr>
              <a:t>iate </a:t>
            </a:r>
            <a:r>
              <a:rPr lang="en-US" b="true" sz="4600" strike="noStrike" u="none">
                <a:solidFill>
                  <a:srgbClr val="E52328"/>
                </a:solidFill>
                <a:latin typeface="Times New Roman Bold"/>
                <a:ea typeface="Times New Roman Bold"/>
                <a:cs typeface="Times New Roman Bold"/>
                <a:sym typeface="Times New Roman Bold"/>
              </a:rPr>
              <a:t>a</a:t>
            </a:r>
            <a:r>
              <a:rPr lang="en-US" b="true" sz="4600" strike="noStrike" u="none">
                <a:solidFill>
                  <a:srgbClr val="E52328"/>
                </a:solidFill>
                <a:latin typeface="Times New Roman Bold"/>
                <a:ea typeface="Times New Roman Bold"/>
                <a:cs typeface="Times New Roman Bold"/>
                <a:sym typeface="Times New Roman Bold"/>
              </a:rPr>
              <a:t>nalysis:</a:t>
            </a:r>
          </a:p>
        </p:txBody>
      </p:sp>
      <p:sp>
        <p:nvSpPr>
          <p:cNvPr name="TextBox 7" id="7"/>
          <p:cNvSpPr txBox="true"/>
          <p:nvPr/>
        </p:nvSpPr>
        <p:spPr>
          <a:xfrm rot="0">
            <a:off x="581635" y="1952308"/>
            <a:ext cx="9516083" cy="6187006"/>
          </a:xfrm>
          <a:prstGeom prst="rect">
            <a:avLst/>
          </a:prstGeom>
        </p:spPr>
        <p:txBody>
          <a:bodyPr anchor="t" rtlCol="false" tIns="0" lIns="0" bIns="0" rIns="0">
            <a:spAutoFit/>
          </a:bodyPr>
          <a:lstStyle/>
          <a:p>
            <a:pPr algn="l" marL="683777" indent="-341888" lvl="1">
              <a:lnSpc>
                <a:spcPts val="4433"/>
              </a:lnSpc>
              <a:spcBef>
                <a:spcPct val="0"/>
              </a:spcBef>
              <a:buFont typeface="Arial"/>
              <a:buChar char="•"/>
            </a:pPr>
            <a:r>
              <a:rPr lang="en-US" sz="3167">
                <a:solidFill>
                  <a:srgbClr val="000000"/>
                </a:solidFill>
                <a:latin typeface="Times New Roman"/>
                <a:ea typeface="Times New Roman"/>
                <a:cs typeface="Times New Roman"/>
                <a:sym typeface="Times New Roman"/>
              </a:rPr>
              <a:t>The bar chart shows the average price of resta</a:t>
            </a:r>
            <a:r>
              <a:rPr lang="en-US" sz="3167" strike="noStrike" u="none">
                <a:solidFill>
                  <a:srgbClr val="000000"/>
                </a:solidFill>
                <a:latin typeface="Times New Roman"/>
                <a:ea typeface="Times New Roman"/>
                <a:cs typeface="Times New Roman"/>
                <a:sym typeface="Times New Roman"/>
              </a:rPr>
              <a:t>u</a:t>
            </a:r>
            <a:r>
              <a:rPr lang="en-US" sz="3167" strike="noStrike" u="none">
                <a:solidFill>
                  <a:srgbClr val="000000"/>
                </a:solidFill>
                <a:latin typeface="Times New Roman"/>
                <a:ea typeface="Times New Roman"/>
                <a:cs typeface="Times New Roman"/>
                <a:sym typeface="Times New Roman"/>
              </a:rPr>
              <a:t>r</a:t>
            </a:r>
            <a:r>
              <a:rPr lang="en-US" sz="3167" strike="noStrike" u="none">
                <a:solidFill>
                  <a:srgbClr val="000000"/>
                </a:solidFill>
                <a:latin typeface="Times New Roman"/>
                <a:ea typeface="Times New Roman"/>
                <a:cs typeface="Times New Roman"/>
                <a:sym typeface="Times New Roman"/>
              </a:rPr>
              <a:t>a</a:t>
            </a:r>
            <a:r>
              <a:rPr lang="en-US" sz="3167" strike="noStrike" u="none">
                <a:solidFill>
                  <a:srgbClr val="000000"/>
                </a:solidFill>
                <a:latin typeface="Times New Roman"/>
                <a:ea typeface="Times New Roman"/>
                <a:cs typeface="Times New Roman"/>
                <a:sym typeface="Times New Roman"/>
              </a:rPr>
              <a:t>nt</a:t>
            </a:r>
            <a:r>
              <a:rPr lang="en-US" sz="3167" strike="noStrike" u="none">
                <a:solidFill>
                  <a:srgbClr val="000000"/>
                </a:solidFill>
                <a:latin typeface="Times New Roman"/>
                <a:ea typeface="Times New Roman"/>
                <a:cs typeface="Times New Roman"/>
                <a:sym typeface="Times New Roman"/>
              </a:rPr>
              <a:t>s a</a:t>
            </a:r>
            <a:r>
              <a:rPr lang="en-US" sz="3167" strike="noStrike" u="none">
                <a:solidFill>
                  <a:srgbClr val="000000"/>
                </a:solidFill>
                <a:latin typeface="Times New Roman"/>
                <a:ea typeface="Times New Roman"/>
                <a:cs typeface="Times New Roman"/>
                <a:sym typeface="Times New Roman"/>
              </a:rPr>
              <a:t>c</a:t>
            </a:r>
            <a:r>
              <a:rPr lang="en-US" sz="3167" strike="noStrike" u="none">
                <a:solidFill>
                  <a:srgbClr val="000000"/>
                </a:solidFill>
                <a:latin typeface="Times New Roman"/>
                <a:ea typeface="Times New Roman"/>
                <a:cs typeface="Times New Roman"/>
                <a:sym typeface="Times New Roman"/>
              </a:rPr>
              <a:t>r</a:t>
            </a:r>
            <a:r>
              <a:rPr lang="en-US" sz="3167" strike="noStrike" u="none">
                <a:solidFill>
                  <a:srgbClr val="000000"/>
                </a:solidFill>
                <a:latin typeface="Times New Roman"/>
                <a:ea typeface="Times New Roman"/>
                <a:cs typeface="Times New Roman"/>
                <a:sym typeface="Times New Roman"/>
              </a:rPr>
              <a:t>oss</a:t>
            </a:r>
            <a:r>
              <a:rPr lang="en-US" sz="3167" strike="noStrike" u="none">
                <a:solidFill>
                  <a:srgbClr val="000000"/>
                </a:solidFill>
                <a:latin typeface="Times New Roman"/>
                <a:ea typeface="Times New Roman"/>
                <a:cs typeface="Times New Roman"/>
                <a:sym typeface="Times New Roman"/>
              </a:rPr>
              <a:t> di</a:t>
            </a:r>
            <a:r>
              <a:rPr lang="en-US" sz="3167" strike="noStrike" u="none">
                <a:solidFill>
                  <a:srgbClr val="000000"/>
                </a:solidFill>
                <a:latin typeface="Times New Roman"/>
                <a:ea typeface="Times New Roman"/>
                <a:cs typeface="Times New Roman"/>
                <a:sym typeface="Times New Roman"/>
              </a:rPr>
              <a:t>ff</a:t>
            </a:r>
            <a:r>
              <a:rPr lang="en-US" sz="3167" strike="noStrike" u="none">
                <a:solidFill>
                  <a:srgbClr val="000000"/>
                </a:solidFill>
                <a:latin typeface="Times New Roman"/>
                <a:ea typeface="Times New Roman"/>
                <a:cs typeface="Times New Roman"/>
                <a:sym typeface="Times New Roman"/>
              </a:rPr>
              <a:t>e</a:t>
            </a:r>
            <a:r>
              <a:rPr lang="en-US" sz="3167" strike="noStrike" u="none">
                <a:solidFill>
                  <a:srgbClr val="000000"/>
                </a:solidFill>
                <a:latin typeface="Times New Roman"/>
                <a:ea typeface="Times New Roman"/>
                <a:cs typeface="Times New Roman"/>
                <a:sym typeface="Times New Roman"/>
              </a:rPr>
              <a:t>re</a:t>
            </a:r>
            <a:r>
              <a:rPr lang="en-US" sz="3167" strike="noStrike" u="none">
                <a:solidFill>
                  <a:srgbClr val="000000"/>
                </a:solidFill>
                <a:latin typeface="Times New Roman"/>
                <a:ea typeface="Times New Roman"/>
                <a:cs typeface="Times New Roman"/>
                <a:sym typeface="Times New Roman"/>
              </a:rPr>
              <a:t>nt</a:t>
            </a:r>
            <a:r>
              <a:rPr lang="en-US" sz="3167" strike="noStrike" u="none">
                <a:solidFill>
                  <a:srgbClr val="000000"/>
                </a:solidFill>
                <a:latin typeface="Times New Roman"/>
                <a:ea typeface="Times New Roman"/>
                <a:cs typeface="Times New Roman"/>
                <a:sym typeface="Times New Roman"/>
              </a:rPr>
              <a:t> cu</a:t>
            </a:r>
            <a:r>
              <a:rPr lang="en-US" sz="3167" strike="noStrike" u="none">
                <a:solidFill>
                  <a:srgbClr val="000000"/>
                </a:solidFill>
                <a:latin typeface="Times New Roman"/>
                <a:ea typeface="Times New Roman"/>
                <a:cs typeface="Times New Roman"/>
                <a:sym typeface="Times New Roman"/>
              </a:rPr>
              <a:t>i</a:t>
            </a:r>
            <a:r>
              <a:rPr lang="en-US" sz="3167" strike="noStrike" u="none">
                <a:solidFill>
                  <a:srgbClr val="000000"/>
                </a:solidFill>
                <a:latin typeface="Times New Roman"/>
                <a:ea typeface="Times New Roman"/>
                <a:cs typeface="Times New Roman"/>
                <a:sym typeface="Times New Roman"/>
              </a:rPr>
              <a:t>si</a:t>
            </a:r>
            <a:r>
              <a:rPr lang="en-US" sz="3167" strike="noStrike" u="none">
                <a:solidFill>
                  <a:srgbClr val="000000"/>
                </a:solidFill>
                <a:latin typeface="Times New Roman"/>
                <a:ea typeface="Times New Roman"/>
                <a:cs typeface="Times New Roman"/>
                <a:sym typeface="Times New Roman"/>
              </a:rPr>
              <a:t>n</a:t>
            </a:r>
            <a:r>
              <a:rPr lang="en-US" sz="3167" strike="noStrike" u="none">
                <a:solidFill>
                  <a:srgbClr val="000000"/>
                </a:solidFill>
                <a:latin typeface="Times New Roman"/>
                <a:ea typeface="Times New Roman"/>
                <a:cs typeface="Times New Roman"/>
                <a:sym typeface="Times New Roman"/>
              </a:rPr>
              <a:t>e</a:t>
            </a:r>
            <a:r>
              <a:rPr lang="en-US" sz="3167" strike="noStrike" u="none">
                <a:solidFill>
                  <a:srgbClr val="000000"/>
                </a:solidFill>
                <a:latin typeface="Times New Roman"/>
                <a:ea typeface="Times New Roman"/>
                <a:cs typeface="Times New Roman"/>
                <a:sym typeface="Times New Roman"/>
              </a:rPr>
              <a:t> t</a:t>
            </a:r>
            <a:r>
              <a:rPr lang="en-US" sz="3167" strike="noStrike" u="none">
                <a:solidFill>
                  <a:srgbClr val="000000"/>
                </a:solidFill>
                <a:latin typeface="Times New Roman"/>
                <a:ea typeface="Times New Roman"/>
                <a:cs typeface="Times New Roman"/>
                <a:sym typeface="Times New Roman"/>
              </a:rPr>
              <a:t>ypes.</a:t>
            </a:r>
          </a:p>
          <a:p>
            <a:pPr algn="l" marL="683777" indent="-341888" lvl="1">
              <a:lnSpc>
                <a:spcPts val="4433"/>
              </a:lnSpc>
              <a:spcBef>
                <a:spcPct val="0"/>
              </a:spcBef>
              <a:buFont typeface="Arial"/>
              <a:buChar char="•"/>
            </a:pPr>
            <a:r>
              <a:rPr lang="en-US" sz="3167" strike="noStrike" u="none">
                <a:solidFill>
                  <a:srgbClr val="000000"/>
                </a:solidFill>
                <a:latin typeface="Times New Roman"/>
                <a:ea typeface="Times New Roman"/>
                <a:cs typeface="Times New Roman"/>
                <a:sym typeface="Times New Roman"/>
              </a:rPr>
              <a:t>Tre</a:t>
            </a:r>
            <a:r>
              <a:rPr lang="en-US" sz="3167" strike="noStrike" u="none">
                <a:solidFill>
                  <a:srgbClr val="000000"/>
                </a:solidFill>
                <a:latin typeface="Times New Roman"/>
                <a:ea typeface="Times New Roman"/>
                <a:cs typeface="Times New Roman"/>
                <a:sym typeface="Times New Roman"/>
              </a:rPr>
              <a:t>sin</a:t>
            </a:r>
            <a:r>
              <a:rPr lang="en-US" sz="3167" strike="noStrike" u="none">
                <a:solidFill>
                  <a:srgbClr val="000000"/>
                </a:solidFill>
                <a:latin typeface="Times New Roman"/>
                <a:ea typeface="Times New Roman"/>
                <a:cs typeface="Times New Roman"/>
                <a:sym typeface="Times New Roman"/>
              </a:rPr>
              <a:t>d h</a:t>
            </a:r>
            <a:r>
              <a:rPr lang="en-US" sz="3167" strike="noStrike" u="none">
                <a:solidFill>
                  <a:srgbClr val="000000"/>
                </a:solidFill>
                <a:latin typeface="Times New Roman"/>
                <a:ea typeface="Times New Roman"/>
                <a:cs typeface="Times New Roman"/>
                <a:sym typeface="Times New Roman"/>
              </a:rPr>
              <a:t>a</a:t>
            </a:r>
            <a:r>
              <a:rPr lang="en-US" sz="3167" strike="noStrike" u="none">
                <a:solidFill>
                  <a:srgbClr val="000000"/>
                </a:solidFill>
                <a:latin typeface="Times New Roman"/>
                <a:ea typeface="Times New Roman"/>
                <a:cs typeface="Times New Roman"/>
                <a:sym typeface="Times New Roman"/>
              </a:rPr>
              <a:t>s </a:t>
            </a:r>
            <a:r>
              <a:rPr lang="en-US" sz="3167" strike="noStrike" u="none">
                <a:solidFill>
                  <a:srgbClr val="000000"/>
                </a:solidFill>
                <a:latin typeface="Times New Roman"/>
                <a:ea typeface="Times New Roman"/>
                <a:cs typeface="Times New Roman"/>
                <a:sym typeface="Times New Roman"/>
              </a:rPr>
              <a:t>t</a:t>
            </a:r>
            <a:r>
              <a:rPr lang="en-US" sz="3167" strike="noStrike" u="none">
                <a:solidFill>
                  <a:srgbClr val="000000"/>
                </a:solidFill>
                <a:latin typeface="Times New Roman"/>
                <a:ea typeface="Times New Roman"/>
                <a:cs typeface="Times New Roman"/>
                <a:sym typeface="Times New Roman"/>
              </a:rPr>
              <a:t>he</a:t>
            </a:r>
            <a:r>
              <a:rPr lang="en-US" sz="3167" strike="noStrike" u="none">
                <a:solidFill>
                  <a:srgbClr val="000000"/>
                </a:solidFill>
                <a:latin typeface="Times New Roman"/>
                <a:ea typeface="Times New Roman"/>
                <a:cs typeface="Times New Roman"/>
                <a:sym typeface="Times New Roman"/>
              </a:rPr>
              <a:t> highe</a:t>
            </a:r>
            <a:r>
              <a:rPr lang="en-US" sz="3167" strike="noStrike" u="none">
                <a:solidFill>
                  <a:srgbClr val="000000"/>
                </a:solidFill>
                <a:latin typeface="Times New Roman"/>
                <a:ea typeface="Times New Roman"/>
                <a:cs typeface="Times New Roman"/>
                <a:sym typeface="Times New Roman"/>
              </a:rPr>
              <a:t>st</a:t>
            </a:r>
            <a:r>
              <a:rPr lang="en-US" sz="3167" strike="noStrike" u="none">
                <a:solidFill>
                  <a:srgbClr val="000000"/>
                </a:solidFill>
                <a:latin typeface="Times New Roman"/>
                <a:ea typeface="Times New Roman"/>
                <a:cs typeface="Times New Roman"/>
                <a:sym typeface="Times New Roman"/>
              </a:rPr>
              <a:t> average price </a:t>
            </a:r>
            <a:r>
              <a:rPr lang="en-US" sz="3167" strike="noStrike" u="none">
                <a:solidFill>
                  <a:srgbClr val="000000"/>
                </a:solidFill>
                <a:latin typeface="Times New Roman"/>
                <a:ea typeface="Times New Roman"/>
                <a:cs typeface="Times New Roman"/>
                <a:sym typeface="Times New Roman"/>
              </a:rPr>
              <a:t>(</a:t>
            </a:r>
            <a:r>
              <a:rPr lang="en-US" sz="3167" strike="noStrike" u="none">
                <a:solidFill>
                  <a:srgbClr val="000000"/>
                </a:solidFill>
                <a:latin typeface="Times New Roman"/>
                <a:ea typeface="Times New Roman"/>
                <a:cs typeface="Times New Roman"/>
                <a:sym typeface="Times New Roman"/>
              </a:rPr>
              <a:t>a</a:t>
            </a:r>
            <a:r>
              <a:rPr lang="en-US" sz="3167" strike="noStrike" u="none">
                <a:solidFill>
                  <a:srgbClr val="000000"/>
                </a:solidFill>
                <a:latin typeface="Times New Roman"/>
                <a:ea typeface="Times New Roman"/>
                <a:cs typeface="Times New Roman"/>
                <a:sym typeface="Times New Roman"/>
              </a:rPr>
              <a:t>rou</a:t>
            </a:r>
            <a:r>
              <a:rPr lang="en-US" sz="3167" strike="noStrike" u="none">
                <a:solidFill>
                  <a:srgbClr val="000000"/>
                </a:solidFill>
                <a:latin typeface="Times New Roman"/>
                <a:ea typeface="Times New Roman"/>
                <a:cs typeface="Times New Roman"/>
                <a:sym typeface="Times New Roman"/>
              </a:rPr>
              <a:t>n</a:t>
            </a:r>
            <a:r>
              <a:rPr lang="en-US" sz="3167" strike="noStrike" u="none">
                <a:solidFill>
                  <a:srgbClr val="000000"/>
                </a:solidFill>
                <a:latin typeface="Times New Roman"/>
                <a:ea typeface="Times New Roman"/>
                <a:cs typeface="Times New Roman"/>
                <a:sym typeface="Times New Roman"/>
              </a:rPr>
              <a:t>d</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₹8000),</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indica</a:t>
            </a:r>
            <a:r>
              <a:rPr lang="en-US" sz="3167" strike="noStrike" u="none">
                <a:solidFill>
                  <a:srgbClr val="000000"/>
                </a:solidFill>
                <a:latin typeface="Times New Roman"/>
                <a:ea typeface="Times New Roman"/>
                <a:cs typeface="Times New Roman"/>
                <a:sym typeface="Times New Roman"/>
              </a:rPr>
              <a:t>t</a:t>
            </a:r>
            <a:r>
              <a:rPr lang="en-US" sz="3167" strike="noStrike" u="none">
                <a:solidFill>
                  <a:srgbClr val="000000"/>
                </a:solidFill>
                <a:latin typeface="Times New Roman"/>
                <a:ea typeface="Times New Roman"/>
                <a:cs typeface="Times New Roman"/>
                <a:sym typeface="Times New Roman"/>
              </a:rPr>
              <a:t>i</a:t>
            </a:r>
            <a:r>
              <a:rPr lang="en-US" sz="3167" strike="noStrike" u="none">
                <a:solidFill>
                  <a:srgbClr val="000000"/>
                </a:solidFill>
                <a:latin typeface="Times New Roman"/>
                <a:ea typeface="Times New Roman"/>
                <a:cs typeface="Times New Roman"/>
                <a:sym typeface="Times New Roman"/>
              </a:rPr>
              <a:t>n</a:t>
            </a:r>
            <a:r>
              <a:rPr lang="en-US" sz="3167" strike="noStrike" u="none">
                <a:solidFill>
                  <a:srgbClr val="000000"/>
                </a:solidFill>
                <a:latin typeface="Times New Roman"/>
                <a:ea typeface="Times New Roman"/>
                <a:cs typeface="Times New Roman"/>
                <a:sym typeface="Times New Roman"/>
              </a:rPr>
              <a:t>g i</a:t>
            </a:r>
            <a:r>
              <a:rPr lang="en-US" sz="3167" strike="noStrike" u="none">
                <a:solidFill>
                  <a:srgbClr val="000000"/>
                </a:solidFill>
                <a:latin typeface="Times New Roman"/>
                <a:ea typeface="Times New Roman"/>
                <a:cs typeface="Times New Roman"/>
                <a:sym typeface="Times New Roman"/>
              </a:rPr>
              <a:t>t</a:t>
            </a:r>
            <a:r>
              <a:rPr lang="en-US" sz="3167" strike="noStrike" u="none">
                <a:solidFill>
                  <a:srgbClr val="000000"/>
                </a:solidFill>
                <a:latin typeface="Times New Roman"/>
                <a:ea typeface="Times New Roman"/>
                <a:cs typeface="Times New Roman"/>
                <a:sym typeface="Times New Roman"/>
              </a:rPr>
              <a:t> i</a:t>
            </a:r>
            <a:r>
              <a:rPr lang="en-US" sz="3167" strike="noStrike" u="none">
                <a:solidFill>
                  <a:srgbClr val="000000"/>
                </a:solidFill>
                <a:latin typeface="Times New Roman"/>
                <a:ea typeface="Times New Roman"/>
                <a:cs typeface="Times New Roman"/>
                <a:sym typeface="Times New Roman"/>
              </a:rPr>
              <a:t>s </a:t>
            </a:r>
            <a:r>
              <a:rPr lang="en-US" sz="3167" strike="noStrike" u="none">
                <a:solidFill>
                  <a:srgbClr val="000000"/>
                </a:solidFill>
                <a:latin typeface="Times New Roman"/>
                <a:ea typeface="Times New Roman"/>
                <a:cs typeface="Times New Roman"/>
                <a:sym typeface="Times New Roman"/>
              </a:rPr>
              <a:t>a</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pr</a:t>
            </a:r>
            <a:r>
              <a:rPr lang="en-US" sz="3167" strike="noStrike" u="none">
                <a:solidFill>
                  <a:srgbClr val="000000"/>
                </a:solidFill>
                <a:latin typeface="Times New Roman"/>
                <a:ea typeface="Times New Roman"/>
                <a:cs typeface="Times New Roman"/>
                <a:sym typeface="Times New Roman"/>
              </a:rPr>
              <a:t>e</a:t>
            </a:r>
            <a:r>
              <a:rPr lang="en-US" sz="3167" strike="noStrike" u="none">
                <a:solidFill>
                  <a:srgbClr val="000000"/>
                </a:solidFill>
                <a:latin typeface="Times New Roman"/>
                <a:ea typeface="Times New Roman"/>
                <a:cs typeface="Times New Roman"/>
                <a:sym typeface="Times New Roman"/>
              </a:rPr>
              <a:t>mium</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fin</a:t>
            </a:r>
            <a:r>
              <a:rPr lang="en-US" sz="3167" strike="noStrike" u="none">
                <a:solidFill>
                  <a:srgbClr val="000000"/>
                </a:solidFill>
                <a:latin typeface="Times New Roman"/>
                <a:ea typeface="Times New Roman"/>
                <a:cs typeface="Times New Roman"/>
                <a:sym typeface="Times New Roman"/>
              </a:rPr>
              <a:t>e</a:t>
            </a:r>
            <a:r>
              <a:rPr lang="en-US" sz="3167" strike="noStrike" u="none">
                <a:solidFill>
                  <a:srgbClr val="000000"/>
                </a:solidFill>
                <a:latin typeface="Times New Roman"/>
                <a:ea typeface="Times New Roman"/>
                <a:cs typeface="Times New Roman"/>
                <a:sym typeface="Times New Roman"/>
              </a:rPr>
              <a:t>-dining</a:t>
            </a:r>
            <a:r>
              <a:rPr lang="en-US" sz="3167" strike="noStrike" u="none">
                <a:solidFill>
                  <a:srgbClr val="000000"/>
                </a:solidFill>
                <a:latin typeface="Times New Roman"/>
                <a:ea typeface="Times New Roman"/>
                <a:cs typeface="Times New Roman"/>
                <a:sym typeface="Times New Roman"/>
              </a:rPr>
              <a:t> restaurant</a:t>
            </a:r>
            <a:r>
              <a:rPr lang="en-US" sz="3167" strike="noStrike" u="none">
                <a:solidFill>
                  <a:srgbClr val="000000"/>
                </a:solidFill>
                <a:latin typeface="Times New Roman"/>
                <a:ea typeface="Times New Roman"/>
                <a:cs typeface="Times New Roman"/>
                <a:sym typeface="Times New Roman"/>
              </a:rPr>
              <a:t>.</a:t>
            </a:r>
          </a:p>
          <a:p>
            <a:pPr algn="l" marL="683777" indent="-341888" lvl="1">
              <a:lnSpc>
                <a:spcPts val="4433"/>
              </a:lnSpc>
              <a:spcBef>
                <a:spcPct val="0"/>
              </a:spcBef>
              <a:buFont typeface="Arial"/>
              <a:buChar char="•"/>
            </a:pPr>
            <a:r>
              <a:rPr lang="en-US" sz="3167" strike="noStrike" u="none">
                <a:solidFill>
                  <a:srgbClr val="000000"/>
                </a:solidFill>
                <a:latin typeface="Times New Roman"/>
                <a:ea typeface="Times New Roman"/>
                <a:cs typeface="Times New Roman"/>
                <a:sym typeface="Times New Roman"/>
              </a:rPr>
              <a:t>Ottimo</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Cucin</a:t>
            </a:r>
            <a:r>
              <a:rPr lang="en-US" sz="3167" strike="noStrike" u="none">
                <a:solidFill>
                  <a:srgbClr val="000000"/>
                </a:solidFill>
                <a:latin typeface="Times New Roman"/>
                <a:ea typeface="Times New Roman"/>
                <a:cs typeface="Times New Roman"/>
                <a:sym typeface="Times New Roman"/>
              </a:rPr>
              <a:t>a </a:t>
            </a:r>
            <a:r>
              <a:rPr lang="en-US" sz="3167" strike="noStrike" u="none">
                <a:solidFill>
                  <a:srgbClr val="000000"/>
                </a:solidFill>
                <a:latin typeface="Times New Roman"/>
                <a:ea typeface="Times New Roman"/>
                <a:cs typeface="Times New Roman"/>
                <a:sym typeface="Times New Roman"/>
              </a:rPr>
              <a:t>I</a:t>
            </a:r>
            <a:r>
              <a:rPr lang="en-US" sz="3167" strike="noStrike" u="none">
                <a:solidFill>
                  <a:srgbClr val="000000"/>
                </a:solidFill>
                <a:latin typeface="Times New Roman"/>
                <a:ea typeface="Times New Roman"/>
                <a:cs typeface="Times New Roman"/>
                <a:sym typeface="Times New Roman"/>
              </a:rPr>
              <a:t>t</a:t>
            </a:r>
            <a:r>
              <a:rPr lang="en-US" sz="3167" strike="noStrike" u="none">
                <a:solidFill>
                  <a:srgbClr val="000000"/>
                </a:solidFill>
                <a:latin typeface="Times New Roman"/>
                <a:ea typeface="Times New Roman"/>
                <a:cs typeface="Times New Roman"/>
                <a:sym typeface="Times New Roman"/>
              </a:rPr>
              <a:t>al</a:t>
            </a:r>
            <a:r>
              <a:rPr lang="en-US" sz="3167" strike="noStrike" u="none">
                <a:solidFill>
                  <a:srgbClr val="000000"/>
                </a:solidFill>
                <a:latin typeface="Times New Roman"/>
                <a:ea typeface="Times New Roman"/>
                <a:cs typeface="Times New Roman"/>
                <a:sym typeface="Times New Roman"/>
              </a:rPr>
              <a:t>i</a:t>
            </a:r>
            <a:r>
              <a:rPr lang="en-US" sz="3167" strike="noStrike" u="none">
                <a:solidFill>
                  <a:srgbClr val="000000"/>
                </a:solidFill>
                <a:latin typeface="Times New Roman"/>
                <a:ea typeface="Times New Roman"/>
                <a:cs typeface="Times New Roman"/>
                <a:sym typeface="Times New Roman"/>
              </a:rPr>
              <a:t>a</a:t>
            </a:r>
            <a:r>
              <a:rPr lang="en-US" sz="3167" strike="noStrike" u="none">
                <a:solidFill>
                  <a:srgbClr val="000000"/>
                </a:solidFill>
                <a:latin typeface="Times New Roman"/>
                <a:ea typeface="Times New Roman"/>
                <a:cs typeface="Times New Roman"/>
                <a:sym typeface="Times New Roman"/>
              </a:rPr>
              <a:t>n</a:t>
            </a:r>
            <a:r>
              <a:rPr lang="en-US" sz="3167" strike="noStrike" u="none">
                <a:solidFill>
                  <a:srgbClr val="000000"/>
                </a:solidFill>
                <a:latin typeface="Times New Roman"/>
                <a:ea typeface="Times New Roman"/>
                <a:cs typeface="Times New Roman"/>
                <a:sym typeface="Times New Roman"/>
              </a:rPr>
              <a:t>a</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and T</a:t>
            </a:r>
            <a:r>
              <a:rPr lang="en-US" sz="3167" strike="noStrike" u="none">
                <a:solidFill>
                  <a:srgbClr val="000000"/>
                </a:solidFill>
                <a:latin typeface="Times New Roman"/>
                <a:ea typeface="Times New Roman"/>
                <a:cs typeface="Times New Roman"/>
                <a:sym typeface="Times New Roman"/>
              </a:rPr>
              <a:t>he </a:t>
            </a:r>
            <a:r>
              <a:rPr lang="en-US" sz="3167" strike="noStrike" u="none">
                <a:solidFill>
                  <a:srgbClr val="000000"/>
                </a:solidFill>
                <a:latin typeface="Times New Roman"/>
                <a:ea typeface="Times New Roman"/>
                <a:cs typeface="Times New Roman"/>
                <a:sym typeface="Times New Roman"/>
              </a:rPr>
              <a:t>Me</a:t>
            </a:r>
            <a:r>
              <a:rPr lang="en-US" sz="3167" strike="noStrike" u="none">
                <a:solidFill>
                  <a:srgbClr val="000000"/>
                </a:solidFill>
                <a:latin typeface="Times New Roman"/>
                <a:ea typeface="Times New Roman"/>
                <a:cs typeface="Times New Roman"/>
                <a:sym typeface="Times New Roman"/>
              </a:rPr>
              <a:t>rc</a:t>
            </a:r>
            <a:r>
              <a:rPr lang="en-US" sz="3167" strike="noStrike" u="none">
                <a:solidFill>
                  <a:srgbClr val="000000"/>
                </a:solidFill>
                <a:latin typeface="Times New Roman"/>
                <a:ea typeface="Times New Roman"/>
                <a:cs typeface="Times New Roman"/>
                <a:sym typeface="Times New Roman"/>
              </a:rPr>
              <a:t>h</a:t>
            </a:r>
            <a:r>
              <a:rPr lang="en-US" sz="3167" strike="noStrike" u="none">
                <a:solidFill>
                  <a:srgbClr val="000000"/>
                </a:solidFill>
                <a:latin typeface="Times New Roman"/>
                <a:ea typeface="Times New Roman"/>
                <a:cs typeface="Times New Roman"/>
                <a:sym typeface="Times New Roman"/>
              </a:rPr>
              <a:t>an</a:t>
            </a:r>
            <a:r>
              <a:rPr lang="en-US" sz="3167" strike="noStrike" u="none">
                <a:solidFill>
                  <a:srgbClr val="000000"/>
                </a:solidFill>
                <a:latin typeface="Times New Roman"/>
                <a:ea typeface="Times New Roman"/>
                <a:cs typeface="Times New Roman"/>
                <a:sym typeface="Times New Roman"/>
              </a:rPr>
              <a:t>ts</a:t>
            </a:r>
            <a:r>
              <a:rPr lang="en-US" sz="3167" strike="noStrike" u="none">
                <a:solidFill>
                  <a:srgbClr val="000000"/>
                </a:solidFill>
                <a:latin typeface="Times New Roman"/>
                <a:ea typeface="Times New Roman"/>
                <a:cs typeface="Times New Roman"/>
                <a:sym typeface="Times New Roman"/>
              </a:rPr>
              <a:t> also </a:t>
            </a:r>
            <a:r>
              <a:rPr lang="en-US" sz="3167" strike="noStrike" u="none">
                <a:solidFill>
                  <a:srgbClr val="000000"/>
                </a:solidFill>
                <a:latin typeface="Times New Roman"/>
                <a:ea typeface="Times New Roman"/>
                <a:cs typeface="Times New Roman"/>
                <a:sym typeface="Times New Roman"/>
              </a:rPr>
              <a:t>hav</a:t>
            </a:r>
            <a:r>
              <a:rPr lang="en-US" sz="3167" strike="noStrike" u="none">
                <a:solidFill>
                  <a:srgbClr val="000000"/>
                </a:solidFill>
                <a:latin typeface="Times New Roman"/>
                <a:ea typeface="Times New Roman"/>
                <a:cs typeface="Times New Roman"/>
                <a:sym typeface="Times New Roman"/>
              </a:rPr>
              <a:t>e </a:t>
            </a:r>
            <a:r>
              <a:rPr lang="en-US" sz="3167" strike="noStrike" u="none">
                <a:solidFill>
                  <a:srgbClr val="000000"/>
                </a:solidFill>
                <a:latin typeface="Times New Roman"/>
                <a:ea typeface="Times New Roman"/>
                <a:cs typeface="Times New Roman"/>
                <a:sym typeface="Times New Roman"/>
              </a:rPr>
              <a:t>h</a:t>
            </a:r>
            <a:r>
              <a:rPr lang="en-US" sz="3167" strike="noStrike" u="none">
                <a:solidFill>
                  <a:srgbClr val="000000"/>
                </a:solidFill>
                <a:latin typeface="Times New Roman"/>
                <a:ea typeface="Times New Roman"/>
                <a:cs typeface="Times New Roman"/>
                <a:sym typeface="Times New Roman"/>
              </a:rPr>
              <a:t>i</a:t>
            </a:r>
            <a:r>
              <a:rPr lang="en-US" sz="3167" strike="noStrike" u="none">
                <a:solidFill>
                  <a:srgbClr val="000000"/>
                </a:solidFill>
                <a:latin typeface="Times New Roman"/>
                <a:ea typeface="Times New Roman"/>
                <a:cs typeface="Times New Roman"/>
                <a:sym typeface="Times New Roman"/>
              </a:rPr>
              <a:t>gh ave</a:t>
            </a:r>
            <a:r>
              <a:rPr lang="en-US" sz="3167" strike="noStrike" u="none">
                <a:solidFill>
                  <a:srgbClr val="000000"/>
                </a:solidFill>
                <a:latin typeface="Times New Roman"/>
                <a:ea typeface="Times New Roman"/>
                <a:cs typeface="Times New Roman"/>
                <a:sym typeface="Times New Roman"/>
              </a:rPr>
              <a:t>rage </a:t>
            </a:r>
            <a:r>
              <a:rPr lang="en-US" sz="3167" strike="noStrike" u="none">
                <a:solidFill>
                  <a:srgbClr val="000000"/>
                </a:solidFill>
                <a:latin typeface="Times New Roman"/>
                <a:ea typeface="Times New Roman"/>
                <a:cs typeface="Times New Roman"/>
                <a:sym typeface="Times New Roman"/>
              </a:rPr>
              <a:t>pr</a:t>
            </a:r>
            <a:r>
              <a:rPr lang="en-US" sz="3167" strike="noStrike" u="none">
                <a:solidFill>
                  <a:srgbClr val="000000"/>
                </a:solidFill>
                <a:latin typeface="Times New Roman"/>
                <a:ea typeface="Times New Roman"/>
                <a:cs typeface="Times New Roman"/>
                <a:sym typeface="Times New Roman"/>
              </a:rPr>
              <a:t>i</a:t>
            </a:r>
            <a:r>
              <a:rPr lang="en-US" sz="3167" strike="noStrike" u="none">
                <a:solidFill>
                  <a:srgbClr val="000000"/>
                </a:solidFill>
                <a:latin typeface="Times New Roman"/>
                <a:ea typeface="Times New Roman"/>
                <a:cs typeface="Times New Roman"/>
                <a:sym typeface="Times New Roman"/>
              </a:rPr>
              <a:t>c</a:t>
            </a:r>
            <a:r>
              <a:rPr lang="en-US" sz="3167" strike="noStrike" u="none">
                <a:solidFill>
                  <a:srgbClr val="000000"/>
                </a:solidFill>
                <a:latin typeface="Times New Roman"/>
                <a:ea typeface="Times New Roman"/>
                <a:cs typeface="Times New Roman"/>
                <a:sym typeface="Times New Roman"/>
              </a:rPr>
              <a:t>es</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above ₹6000).</a:t>
            </a:r>
          </a:p>
          <a:p>
            <a:pPr algn="l" marL="683777" indent="-341888" lvl="1">
              <a:lnSpc>
                <a:spcPts val="4433"/>
              </a:lnSpc>
              <a:spcBef>
                <a:spcPct val="0"/>
              </a:spcBef>
              <a:buFont typeface="Arial"/>
              <a:buChar char="•"/>
            </a:pPr>
            <a:r>
              <a:rPr lang="en-US" sz="3167" strike="noStrike" u="none">
                <a:solidFill>
                  <a:srgbClr val="000000"/>
                </a:solidFill>
                <a:latin typeface="Times New Roman"/>
                <a:ea typeface="Times New Roman"/>
                <a:cs typeface="Times New Roman"/>
                <a:sym typeface="Times New Roman"/>
              </a:rPr>
              <a:t>Ot</a:t>
            </a:r>
            <a:r>
              <a:rPr lang="en-US" sz="3167" strike="noStrike" u="none">
                <a:solidFill>
                  <a:srgbClr val="000000"/>
                </a:solidFill>
                <a:latin typeface="Times New Roman"/>
                <a:ea typeface="Times New Roman"/>
                <a:cs typeface="Times New Roman"/>
                <a:sym typeface="Times New Roman"/>
              </a:rPr>
              <a:t>he</a:t>
            </a:r>
            <a:r>
              <a:rPr lang="en-US" sz="3167" strike="noStrike" u="none">
                <a:solidFill>
                  <a:srgbClr val="000000"/>
                </a:solidFill>
                <a:latin typeface="Times New Roman"/>
                <a:ea typeface="Times New Roman"/>
                <a:cs typeface="Times New Roman"/>
                <a:sym typeface="Times New Roman"/>
              </a:rPr>
              <a:t>r</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cu</a:t>
            </a:r>
            <a:r>
              <a:rPr lang="en-US" sz="3167" strike="noStrike" u="none">
                <a:solidFill>
                  <a:srgbClr val="000000"/>
                </a:solidFill>
                <a:latin typeface="Times New Roman"/>
                <a:ea typeface="Times New Roman"/>
                <a:cs typeface="Times New Roman"/>
                <a:sym typeface="Times New Roman"/>
              </a:rPr>
              <a:t>isin</a:t>
            </a:r>
            <a:r>
              <a:rPr lang="en-US" sz="3167" strike="noStrike" u="none">
                <a:solidFill>
                  <a:srgbClr val="000000"/>
                </a:solidFill>
                <a:latin typeface="Times New Roman"/>
                <a:ea typeface="Times New Roman"/>
                <a:cs typeface="Times New Roman"/>
                <a:sym typeface="Times New Roman"/>
              </a:rPr>
              <a:t>es</a:t>
            </a:r>
            <a:r>
              <a:rPr lang="en-US" sz="3167" strike="noStrike" u="none">
                <a:solidFill>
                  <a:srgbClr val="000000"/>
                </a:solidFill>
                <a:latin typeface="Times New Roman"/>
                <a:ea typeface="Times New Roman"/>
                <a:cs typeface="Times New Roman"/>
                <a:sym typeface="Times New Roman"/>
              </a:rPr>
              <a:t> su</a:t>
            </a:r>
            <a:r>
              <a:rPr lang="en-US" sz="3167" strike="noStrike" u="none">
                <a:solidFill>
                  <a:srgbClr val="000000"/>
                </a:solidFill>
                <a:latin typeface="Times New Roman"/>
                <a:ea typeface="Times New Roman"/>
                <a:cs typeface="Times New Roman"/>
                <a:sym typeface="Times New Roman"/>
              </a:rPr>
              <a:t>ch a</a:t>
            </a:r>
            <a:r>
              <a:rPr lang="en-US" sz="3167" strike="noStrike" u="none">
                <a:solidFill>
                  <a:srgbClr val="000000"/>
                </a:solidFill>
                <a:latin typeface="Times New Roman"/>
                <a:ea typeface="Times New Roman"/>
                <a:cs typeface="Times New Roman"/>
                <a:sym typeface="Times New Roman"/>
              </a:rPr>
              <a:t>s </a:t>
            </a:r>
            <a:r>
              <a:rPr lang="en-US" sz="3167" strike="noStrike" u="none">
                <a:solidFill>
                  <a:srgbClr val="000000"/>
                </a:solidFill>
                <a:latin typeface="Times New Roman"/>
                <a:ea typeface="Times New Roman"/>
                <a:cs typeface="Times New Roman"/>
                <a:sym typeface="Times New Roman"/>
              </a:rPr>
              <a:t>Pes</a:t>
            </a:r>
            <a:r>
              <a:rPr lang="en-US" sz="3167" strike="noStrike" u="none">
                <a:solidFill>
                  <a:srgbClr val="000000"/>
                </a:solidFill>
                <a:latin typeface="Times New Roman"/>
                <a:ea typeface="Times New Roman"/>
                <a:cs typeface="Times New Roman"/>
                <a:sym typeface="Times New Roman"/>
              </a:rPr>
              <a:t>haw</a:t>
            </a:r>
            <a:r>
              <a:rPr lang="en-US" sz="3167" strike="noStrike" u="none">
                <a:solidFill>
                  <a:srgbClr val="000000"/>
                </a:solidFill>
                <a:latin typeface="Times New Roman"/>
                <a:ea typeface="Times New Roman"/>
                <a:cs typeface="Times New Roman"/>
                <a:sym typeface="Times New Roman"/>
              </a:rPr>
              <a:t>r</a:t>
            </a:r>
            <a:r>
              <a:rPr lang="en-US" sz="3167" strike="noStrike" u="none">
                <a:solidFill>
                  <a:srgbClr val="000000"/>
                </a:solidFill>
                <a:latin typeface="Times New Roman"/>
                <a:ea typeface="Times New Roman"/>
                <a:cs typeface="Times New Roman"/>
                <a:sym typeface="Times New Roman"/>
              </a:rPr>
              <a:t>i</a:t>
            </a:r>
            <a:r>
              <a:rPr lang="en-US" sz="3167" strike="noStrike" u="none">
                <a:solidFill>
                  <a:srgbClr val="000000"/>
                </a:solidFill>
                <a:latin typeface="Times New Roman"/>
                <a:ea typeface="Times New Roman"/>
                <a:cs typeface="Times New Roman"/>
                <a:sym typeface="Times New Roman"/>
              </a:rPr>
              <a:t>,</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S</a:t>
            </a:r>
            <a:r>
              <a:rPr lang="en-US" sz="3167" strike="noStrike" u="none">
                <a:solidFill>
                  <a:srgbClr val="000000"/>
                </a:solidFill>
                <a:latin typeface="Times New Roman"/>
                <a:ea typeface="Times New Roman"/>
                <a:cs typeface="Times New Roman"/>
                <a:sym typeface="Times New Roman"/>
              </a:rPr>
              <a:t>yra</a:t>
            </a:r>
            <a:r>
              <a:rPr lang="en-US" sz="3167" strike="noStrike" u="none">
                <a:solidFill>
                  <a:srgbClr val="000000"/>
                </a:solidFill>
                <a:latin typeface="Times New Roman"/>
                <a:ea typeface="Times New Roman"/>
                <a:cs typeface="Times New Roman"/>
                <a:sym typeface="Times New Roman"/>
              </a:rPr>
              <a:t>h, D</a:t>
            </a:r>
            <a:r>
              <a:rPr lang="en-US" sz="3167" strike="noStrike" u="none">
                <a:solidFill>
                  <a:srgbClr val="000000"/>
                </a:solidFill>
                <a:latin typeface="Times New Roman"/>
                <a:ea typeface="Times New Roman"/>
                <a:cs typeface="Times New Roman"/>
                <a:sym typeface="Times New Roman"/>
              </a:rPr>
              <a:t>u</a:t>
            </a:r>
            <a:r>
              <a:rPr lang="en-US" sz="3167" strike="noStrike" u="none">
                <a:solidFill>
                  <a:srgbClr val="000000"/>
                </a:solidFill>
                <a:latin typeface="Times New Roman"/>
                <a:ea typeface="Times New Roman"/>
                <a:cs typeface="Times New Roman"/>
                <a:sym typeface="Times New Roman"/>
              </a:rPr>
              <a:t>m</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Pukh</a:t>
            </a:r>
            <a:r>
              <a:rPr lang="en-US" sz="3167" strike="noStrike" u="none">
                <a:solidFill>
                  <a:srgbClr val="000000"/>
                </a:solidFill>
                <a:latin typeface="Times New Roman"/>
                <a:ea typeface="Times New Roman"/>
                <a:cs typeface="Times New Roman"/>
                <a:sym typeface="Times New Roman"/>
              </a:rPr>
              <a:t>t, </a:t>
            </a:r>
            <a:r>
              <a:rPr lang="en-US" sz="3167" strike="noStrike" u="none">
                <a:solidFill>
                  <a:srgbClr val="000000"/>
                </a:solidFill>
                <a:latin typeface="Times New Roman"/>
                <a:ea typeface="Times New Roman"/>
                <a:cs typeface="Times New Roman"/>
                <a:sym typeface="Times New Roman"/>
              </a:rPr>
              <a:t>A</a:t>
            </a:r>
            <a:r>
              <a:rPr lang="en-US" sz="3167" strike="noStrike" u="none">
                <a:solidFill>
                  <a:srgbClr val="000000"/>
                </a:solidFill>
                <a:latin typeface="Times New Roman"/>
                <a:ea typeface="Times New Roman"/>
                <a:cs typeface="Times New Roman"/>
                <a:sym typeface="Times New Roman"/>
              </a:rPr>
              <a:t>mar</a:t>
            </a:r>
            <a:r>
              <a:rPr lang="en-US" sz="3167" strike="noStrike" u="none">
                <a:solidFill>
                  <a:srgbClr val="000000"/>
                </a:solidFill>
                <a:latin typeface="Times New Roman"/>
                <a:ea typeface="Times New Roman"/>
                <a:cs typeface="Times New Roman"/>
                <a:sym typeface="Times New Roman"/>
              </a:rPr>
              <a:t>a,</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Spectra,</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T</a:t>
            </a:r>
            <a:r>
              <a:rPr lang="en-US" sz="3167" strike="noStrike" u="none">
                <a:solidFill>
                  <a:srgbClr val="000000"/>
                </a:solidFill>
                <a:latin typeface="Times New Roman"/>
                <a:ea typeface="Times New Roman"/>
                <a:cs typeface="Times New Roman"/>
                <a:sym typeface="Times New Roman"/>
              </a:rPr>
              <a:t>he </a:t>
            </a:r>
            <a:r>
              <a:rPr lang="en-US" sz="3167" strike="noStrike" u="none">
                <a:solidFill>
                  <a:srgbClr val="000000"/>
                </a:solidFill>
                <a:latin typeface="Times New Roman"/>
                <a:ea typeface="Times New Roman"/>
                <a:cs typeface="Times New Roman"/>
                <a:sym typeface="Times New Roman"/>
              </a:rPr>
              <a:t>C</a:t>
            </a:r>
            <a:r>
              <a:rPr lang="en-US" sz="3167" strike="noStrike" u="none">
                <a:solidFill>
                  <a:srgbClr val="000000"/>
                </a:solidFill>
                <a:latin typeface="Times New Roman"/>
                <a:ea typeface="Times New Roman"/>
                <a:cs typeface="Times New Roman"/>
                <a:sym typeface="Times New Roman"/>
              </a:rPr>
              <a:t>reat</a:t>
            </a:r>
            <a:r>
              <a:rPr lang="en-US" sz="3167" strike="noStrike" u="none">
                <a:solidFill>
                  <a:srgbClr val="000000"/>
                </a:solidFill>
                <a:latin typeface="Times New Roman"/>
                <a:ea typeface="Times New Roman"/>
                <a:cs typeface="Times New Roman"/>
                <a:sym typeface="Times New Roman"/>
              </a:rPr>
              <a:t>ive</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K</a:t>
            </a:r>
            <a:r>
              <a:rPr lang="en-US" sz="3167" strike="noStrike" u="none">
                <a:solidFill>
                  <a:srgbClr val="000000"/>
                </a:solidFill>
                <a:latin typeface="Times New Roman"/>
                <a:ea typeface="Times New Roman"/>
                <a:cs typeface="Times New Roman"/>
                <a:sym typeface="Times New Roman"/>
              </a:rPr>
              <a:t>it</a:t>
            </a:r>
            <a:r>
              <a:rPr lang="en-US" sz="3167" strike="noStrike" u="none">
                <a:solidFill>
                  <a:srgbClr val="000000"/>
                </a:solidFill>
                <a:latin typeface="Times New Roman"/>
                <a:ea typeface="Times New Roman"/>
                <a:cs typeface="Times New Roman"/>
                <a:sym typeface="Times New Roman"/>
              </a:rPr>
              <a:t>che</a:t>
            </a:r>
            <a:r>
              <a:rPr lang="en-US" sz="3167" strike="noStrike" u="none">
                <a:solidFill>
                  <a:srgbClr val="000000"/>
                </a:solidFill>
                <a:latin typeface="Times New Roman"/>
                <a:ea typeface="Times New Roman"/>
                <a:cs typeface="Times New Roman"/>
                <a:sym typeface="Times New Roman"/>
              </a:rPr>
              <a:t>n</a:t>
            </a:r>
            <a:r>
              <a:rPr lang="en-US" sz="3167" strike="noStrike" u="none">
                <a:solidFill>
                  <a:srgbClr val="000000"/>
                </a:solidFill>
                <a:latin typeface="Times New Roman"/>
                <a:ea typeface="Times New Roman"/>
                <a:cs typeface="Times New Roman"/>
                <a:sym typeface="Times New Roman"/>
              </a:rPr>
              <a:t>,</a:t>
            </a:r>
            <a:r>
              <a:rPr lang="en-US" sz="3167" strike="noStrike" u="none">
                <a:solidFill>
                  <a:srgbClr val="000000"/>
                </a:solidFill>
                <a:latin typeface="Times New Roman"/>
                <a:ea typeface="Times New Roman"/>
                <a:cs typeface="Times New Roman"/>
                <a:sym typeface="Times New Roman"/>
              </a:rPr>
              <a:t> </a:t>
            </a:r>
            <a:r>
              <a:rPr lang="en-US" sz="3167" strike="noStrike" u="none">
                <a:solidFill>
                  <a:srgbClr val="000000"/>
                </a:solidFill>
                <a:latin typeface="Times New Roman"/>
                <a:ea typeface="Times New Roman"/>
                <a:cs typeface="Times New Roman"/>
                <a:sym typeface="Times New Roman"/>
              </a:rPr>
              <a:t>an</a:t>
            </a:r>
            <a:r>
              <a:rPr lang="en-US" sz="3167" strike="noStrike" u="none">
                <a:solidFill>
                  <a:srgbClr val="000000"/>
                </a:solidFill>
                <a:latin typeface="Times New Roman"/>
                <a:ea typeface="Times New Roman"/>
                <a:cs typeface="Times New Roman"/>
                <a:sym typeface="Times New Roman"/>
              </a:rPr>
              <a:t>d</a:t>
            </a:r>
            <a:r>
              <a:rPr lang="en-US" sz="3167" strike="noStrike" u="none">
                <a:solidFill>
                  <a:srgbClr val="000000"/>
                </a:solidFill>
                <a:latin typeface="Times New Roman"/>
                <a:ea typeface="Times New Roman"/>
                <a:cs typeface="Times New Roman"/>
                <a:sym typeface="Times New Roman"/>
              </a:rPr>
              <a:t> B</a:t>
            </a:r>
            <a:r>
              <a:rPr lang="en-US" sz="3167" strike="noStrike" u="none">
                <a:solidFill>
                  <a:srgbClr val="000000"/>
                </a:solidFill>
                <a:latin typeface="Times New Roman"/>
                <a:ea typeface="Times New Roman"/>
                <a:cs typeface="Times New Roman"/>
                <a:sym typeface="Times New Roman"/>
              </a:rPr>
              <a:t>y </a:t>
            </a:r>
            <a:r>
              <a:rPr lang="en-US" sz="3167" strike="noStrike" u="none">
                <a:solidFill>
                  <a:srgbClr val="000000"/>
                </a:solidFill>
                <a:latin typeface="Times New Roman"/>
                <a:ea typeface="Times New Roman"/>
                <a:cs typeface="Times New Roman"/>
                <a:sym typeface="Times New Roman"/>
              </a:rPr>
              <a:t>Th</a:t>
            </a:r>
            <a:r>
              <a:rPr lang="en-US" sz="3167" strike="noStrike" u="none">
                <a:solidFill>
                  <a:srgbClr val="000000"/>
                </a:solidFill>
                <a:latin typeface="Times New Roman"/>
                <a:ea typeface="Times New Roman"/>
                <a:cs typeface="Times New Roman"/>
                <a:sym typeface="Times New Roman"/>
              </a:rPr>
              <a:t>e </a:t>
            </a:r>
            <a:r>
              <a:rPr lang="en-US" sz="3167" strike="noStrike" u="none">
                <a:solidFill>
                  <a:srgbClr val="000000"/>
                </a:solidFill>
                <a:latin typeface="Times New Roman"/>
                <a:ea typeface="Times New Roman"/>
                <a:cs typeface="Times New Roman"/>
                <a:sym typeface="Times New Roman"/>
              </a:rPr>
              <a:t>Meko</a:t>
            </a:r>
            <a:r>
              <a:rPr lang="en-US" sz="3167" strike="noStrike" u="none">
                <a:solidFill>
                  <a:srgbClr val="000000"/>
                </a:solidFill>
                <a:latin typeface="Times New Roman"/>
                <a:ea typeface="Times New Roman"/>
                <a:cs typeface="Times New Roman"/>
                <a:sym typeface="Times New Roman"/>
              </a:rPr>
              <a:t>ng </a:t>
            </a:r>
            <a:r>
              <a:rPr lang="en-US" sz="3167" strike="noStrike" u="none">
                <a:solidFill>
                  <a:srgbClr val="000000"/>
                </a:solidFill>
                <a:latin typeface="Times New Roman"/>
                <a:ea typeface="Times New Roman"/>
                <a:cs typeface="Times New Roman"/>
                <a:sym typeface="Times New Roman"/>
              </a:rPr>
              <a:t>fa</a:t>
            </a:r>
            <a:r>
              <a:rPr lang="en-US" sz="3167" strike="noStrike" u="none">
                <a:solidFill>
                  <a:srgbClr val="000000"/>
                </a:solidFill>
                <a:latin typeface="Times New Roman"/>
                <a:ea typeface="Times New Roman"/>
                <a:cs typeface="Times New Roman"/>
                <a:sym typeface="Times New Roman"/>
              </a:rPr>
              <a:t>ll</a:t>
            </a:r>
            <a:r>
              <a:rPr lang="en-US" sz="3167" strike="noStrike" u="none">
                <a:solidFill>
                  <a:srgbClr val="000000"/>
                </a:solidFill>
                <a:latin typeface="Times New Roman"/>
                <a:ea typeface="Times New Roman"/>
                <a:cs typeface="Times New Roman"/>
                <a:sym typeface="Times New Roman"/>
              </a:rPr>
              <a:t> in</a:t>
            </a:r>
            <a:r>
              <a:rPr lang="en-US" sz="3167" strike="noStrike" u="none">
                <a:solidFill>
                  <a:srgbClr val="000000"/>
                </a:solidFill>
                <a:latin typeface="Times New Roman"/>
                <a:ea typeface="Times New Roman"/>
                <a:cs typeface="Times New Roman"/>
                <a:sym typeface="Times New Roman"/>
              </a:rPr>
              <a:t> the</a:t>
            </a:r>
            <a:r>
              <a:rPr lang="en-US" sz="3167" strike="noStrike" u="none">
                <a:solidFill>
                  <a:srgbClr val="000000"/>
                </a:solidFill>
                <a:latin typeface="Times New Roman"/>
                <a:ea typeface="Times New Roman"/>
                <a:cs typeface="Times New Roman"/>
                <a:sym typeface="Times New Roman"/>
              </a:rPr>
              <a:t> ₹5000–₹5300 </a:t>
            </a:r>
            <a:r>
              <a:rPr lang="en-US" sz="3167" strike="noStrike" u="none">
                <a:solidFill>
                  <a:srgbClr val="000000"/>
                </a:solidFill>
                <a:latin typeface="Times New Roman"/>
                <a:ea typeface="Times New Roman"/>
                <a:cs typeface="Times New Roman"/>
                <a:sym typeface="Times New Roman"/>
              </a:rPr>
              <a:t>ran</a:t>
            </a:r>
            <a:r>
              <a:rPr lang="en-US" sz="3167" strike="noStrike" u="none">
                <a:solidFill>
                  <a:srgbClr val="000000"/>
                </a:solidFill>
                <a:latin typeface="Times New Roman"/>
                <a:ea typeface="Times New Roman"/>
                <a:cs typeface="Times New Roman"/>
                <a:sym typeface="Times New Roman"/>
              </a:rPr>
              <a:t>g</a:t>
            </a:r>
            <a:r>
              <a:rPr lang="en-US" sz="3167" strike="noStrike" u="none">
                <a:solidFill>
                  <a:srgbClr val="000000"/>
                </a:solidFill>
                <a:latin typeface="Times New Roman"/>
                <a:ea typeface="Times New Roman"/>
                <a:cs typeface="Times New Roman"/>
                <a:sym typeface="Times New Roman"/>
              </a:rPr>
              <a:t>e</a:t>
            </a:r>
            <a:r>
              <a:rPr lang="en-US" sz="3167" strike="noStrike" u="none">
                <a:solidFill>
                  <a:srgbClr val="000000"/>
                </a:solidFill>
                <a:latin typeface="Times New Roman"/>
                <a:ea typeface="Times New Roman"/>
                <a:cs typeface="Times New Roman"/>
                <a:sym typeface="Times New Roman"/>
              </a:rPr>
              <a:t>.</a:t>
            </a:r>
          </a:p>
          <a:p>
            <a:pPr algn="l" marL="683777" indent="-341888" lvl="1">
              <a:lnSpc>
                <a:spcPts val="4433"/>
              </a:lnSpc>
              <a:spcBef>
                <a:spcPct val="0"/>
              </a:spcBef>
              <a:buFont typeface="Arial"/>
              <a:buChar char="•"/>
            </a:pPr>
            <a:r>
              <a:rPr lang="en-US" sz="3167" strike="noStrike" u="none">
                <a:solidFill>
                  <a:srgbClr val="000000"/>
                </a:solidFill>
                <a:latin typeface="Times New Roman"/>
                <a:ea typeface="Times New Roman"/>
                <a:cs typeface="Times New Roman"/>
                <a:sym typeface="Times New Roman"/>
              </a:rPr>
              <a:t>Ins</a:t>
            </a:r>
            <a:r>
              <a:rPr lang="en-US" sz="3167" strike="noStrike" u="none">
                <a:solidFill>
                  <a:srgbClr val="000000"/>
                </a:solidFill>
                <a:latin typeface="Times New Roman"/>
                <a:ea typeface="Times New Roman"/>
                <a:cs typeface="Times New Roman"/>
                <a:sym typeface="Times New Roman"/>
              </a:rPr>
              <a:t>igh</a:t>
            </a:r>
            <a:r>
              <a:rPr lang="en-US" sz="3167" strike="noStrike" u="none">
                <a:solidFill>
                  <a:srgbClr val="000000"/>
                </a:solidFill>
                <a:latin typeface="Times New Roman"/>
                <a:ea typeface="Times New Roman"/>
                <a:cs typeface="Times New Roman"/>
                <a:sym typeface="Times New Roman"/>
              </a:rPr>
              <a:t>t:</a:t>
            </a:r>
          </a:p>
          <a:p>
            <a:pPr algn="l" marL="0" indent="0" lvl="0">
              <a:lnSpc>
                <a:spcPts val="4433"/>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grpSp>
        <p:nvGrpSpPr>
          <p:cNvPr name="Group 3" id="3"/>
          <p:cNvGrpSpPr/>
          <p:nvPr/>
        </p:nvGrpSpPr>
        <p:grpSpPr>
          <a:xfrm rot="0">
            <a:off x="13221348" y="9277474"/>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Freeform 5" id="5"/>
          <p:cNvSpPr/>
          <p:nvPr/>
        </p:nvSpPr>
        <p:spPr>
          <a:xfrm flipH="false" flipV="false" rot="0">
            <a:off x="9731468" y="1875364"/>
            <a:ext cx="8327980" cy="4903098"/>
          </a:xfrm>
          <a:custGeom>
            <a:avLst/>
            <a:gdLst/>
            <a:ahLst/>
            <a:cxnLst/>
            <a:rect r="r" b="b" t="t" l="l"/>
            <a:pathLst>
              <a:path h="4903098" w="8327980">
                <a:moveTo>
                  <a:pt x="0" y="0"/>
                </a:moveTo>
                <a:lnTo>
                  <a:pt x="8327980" y="0"/>
                </a:lnTo>
                <a:lnTo>
                  <a:pt x="8327980" y="4903099"/>
                </a:lnTo>
                <a:lnTo>
                  <a:pt x="0" y="4903099"/>
                </a:lnTo>
                <a:lnTo>
                  <a:pt x="0" y="0"/>
                </a:lnTo>
                <a:close/>
              </a:path>
            </a:pathLst>
          </a:custGeom>
          <a:blipFill>
            <a:blip r:embed="rId3"/>
            <a:stretch>
              <a:fillRect l="0" t="0" r="0" b="0"/>
            </a:stretch>
          </a:blipFill>
        </p:spPr>
      </p:sp>
      <p:sp>
        <p:nvSpPr>
          <p:cNvPr name="TextBox 6" id="6"/>
          <p:cNvSpPr txBox="true"/>
          <p:nvPr/>
        </p:nvSpPr>
        <p:spPr>
          <a:xfrm rot="0">
            <a:off x="352128" y="904875"/>
            <a:ext cx="8012068" cy="849630"/>
          </a:xfrm>
          <a:prstGeom prst="rect">
            <a:avLst/>
          </a:prstGeom>
        </p:spPr>
        <p:txBody>
          <a:bodyPr anchor="t" rtlCol="false" tIns="0" lIns="0" bIns="0" rIns="0">
            <a:spAutoFit/>
          </a:bodyPr>
          <a:lstStyle/>
          <a:p>
            <a:pPr algn="ctr" marL="0" indent="0" lvl="0">
              <a:lnSpc>
                <a:spcPts val="6720"/>
              </a:lnSpc>
              <a:spcBef>
                <a:spcPct val="0"/>
              </a:spcBef>
            </a:pPr>
            <a:r>
              <a:rPr lang="en-US" b="true" sz="4800">
                <a:solidFill>
                  <a:srgbClr val="E52328"/>
                </a:solidFill>
                <a:latin typeface="Times New Roman Bold"/>
                <a:ea typeface="Times New Roman Bold"/>
                <a:cs typeface="Times New Roman Bold"/>
                <a:sym typeface="Times New Roman Bold"/>
              </a:rPr>
              <a:t>EDA - B</a:t>
            </a:r>
            <a:r>
              <a:rPr lang="en-US" b="true" sz="4800" strike="noStrike" u="none">
                <a:solidFill>
                  <a:srgbClr val="E52328"/>
                </a:solidFill>
                <a:latin typeface="Times New Roman Bold"/>
                <a:ea typeface="Times New Roman Bold"/>
                <a:cs typeface="Times New Roman Bold"/>
                <a:sym typeface="Times New Roman Bold"/>
              </a:rPr>
              <a:t>i</a:t>
            </a:r>
            <a:r>
              <a:rPr lang="en-US" b="true" sz="4800" strike="noStrike" u="none">
                <a:solidFill>
                  <a:srgbClr val="E52328"/>
                </a:solidFill>
                <a:latin typeface="Times New Roman Bold"/>
                <a:ea typeface="Times New Roman Bold"/>
                <a:cs typeface="Times New Roman Bold"/>
                <a:sym typeface="Times New Roman Bold"/>
              </a:rPr>
              <a:t>v</a:t>
            </a:r>
            <a:r>
              <a:rPr lang="en-US" b="true" sz="4800" strike="noStrike" u="none">
                <a:solidFill>
                  <a:srgbClr val="E52328"/>
                </a:solidFill>
                <a:latin typeface="Times New Roman Bold"/>
                <a:ea typeface="Times New Roman Bold"/>
                <a:cs typeface="Times New Roman Bold"/>
                <a:sym typeface="Times New Roman Bold"/>
              </a:rPr>
              <a:t>a</a:t>
            </a:r>
            <a:r>
              <a:rPr lang="en-US" b="true" sz="4800" strike="noStrike" u="none">
                <a:solidFill>
                  <a:srgbClr val="E52328"/>
                </a:solidFill>
                <a:latin typeface="Times New Roman Bold"/>
                <a:ea typeface="Times New Roman Bold"/>
                <a:cs typeface="Times New Roman Bold"/>
                <a:sym typeface="Times New Roman Bold"/>
              </a:rPr>
              <a:t>r</a:t>
            </a:r>
            <a:r>
              <a:rPr lang="en-US" b="true" sz="4800" strike="noStrike" u="none">
                <a:solidFill>
                  <a:srgbClr val="E52328"/>
                </a:solidFill>
                <a:latin typeface="Times New Roman Bold"/>
                <a:ea typeface="Times New Roman Bold"/>
                <a:cs typeface="Times New Roman Bold"/>
                <a:sym typeface="Times New Roman Bold"/>
              </a:rPr>
              <a:t>iat</a:t>
            </a:r>
            <a:r>
              <a:rPr lang="en-US" b="true" sz="4800" strike="noStrike" u="none">
                <a:solidFill>
                  <a:srgbClr val="E52328"/>
                </a:solidFill>
                <a:latin typeface="Times New Roman Bold"/>
                <a:ea typeface="Times New Roman Bold"/>
                <a:cs typeface="Times New Roman Bold"/>
                <a:sym typeface="Times New Roman Bold"/>
              </a:rPr>
              <a:t>e a</a:t>
            </a:r>
            <a:r>
              <a:rPr lang="en-US" b="true" sz="4800" strike="noStrike" u="none">
                <a:solidFill>
                  <a:srgbClr val="E52328"/>
                </a:solidFill>
                <a:latin typeface="Times New Roman Bold"/>
                <a:ea typeface="Times New Roman Bold"/>
                <a:cs typeface="Times New Roman Bold"/>
                <a:sym typeface="Times New Roman Bold"/>
              </a:rPr>
              <a:t>nalysis</a:t>
            </a:r>
            <a:r>
              <a:rPr lang="en-US" b="true" sz="4800" strike="noStrike" u="none">
                <a:solidFill>
                  <a:srgbClr val="E52328"/>
                </a:solidFill>
                <a:latin typeface="Times New Roman Bold"/>
                <a:ea typeface="Times New Roman Bold"/>
                <a:cs typeface="Times New Roman Bold"/>
                <a:sym typeface="Times New Roman Bold"/>
              </a:rPr>
              <a:t>:</a:t>
            </a:r>
          </a:p>
        </p:txBody>
      </p:sp>
      <p:sp>
        <p:nvSpPr>
          <p:cNvPr name="TextBox 7" id="7"/>
          <p:cNvSpPr txBox="true"/>
          <p:nvPr/>
        </p:nvSpPr>
        <p:spPr>
          <a:xfrm rot="0">
            <a:off x="594171" y="2398295"/>
            <a:ext cx="9922410" cy="4380168"/>
          </a:xfrm>
          <a:prstGeom prst="rect">
            <a:avLst/>
          </a:prstGeom>
        </p:spPr>
        <p:txBody>
          <a:bodyPr anchor="t" rtlCol="false" tIns="0" lIns="0" bIns="0" rIns="0">
            <a:spAutoFit/>
          </a:bodyPr>
          <a:lstStyle/>
          <a:p>
            <a:pPr algn="l" marL="660803" indent="-330401" lvl="1">
              <a:lnSpc>
                <a:spcPts val="4958"/>
              </a:lnSpc>
              <a:buFont typeface="Arial"/>
              <a:buChar char="•"/>
            </a:pPr>
            <a:r>
              <a:rPr lang="en-US" sz="3060">
                <a:solidFill>
                  <a:srgbClr val="000000"/>
                </a:solidFill>
                <a:latin typeface="Times New Roman"/>
                <a:ea typeface="Times New Roman"/>
                <a:cs typeface="Times New Roman"/>
                <a:sym typeface="Times New Roman"/>
              </a:rPr>
              <a:t>Most restaurants have ratings between 4.0 and 4.7, indicating generally high customer satisfaction.</a:t>
            </a:r>
          </a:p>
          <a:p>
            <a:pPr algn="l" marL="660803" indent="-330401" lvl="1">
              <a:lnSpc>
                <a:spcPts val="4958"/>
              </a:lnSpc>
              <a:buFont typeface="Arial"/>
              <a:buChar char="•"/>
            </a:pPr>
            <a:r>
              <a:rPr lang="en-US" sz="3060">
                <a:solidFill>
                  <a:srgbClr val="000000"/>
                </a:solidFill>
                <a:latin typeface="Times New Roman"/>
                <a:ea typeface="Times New Roman"/>
                <a:cs typeface="Times New Roman"/>
                <a:sym typeface="Times New Roman"/>
              </a:rPr>
              <a:t>Oh! Calcutta </a:t>
            </a:r>
            <a:r>
              <a:rPr lang="en-US" sz="3060" strike="noStrike" u="none">
                <a:solidFill>
                  <a:srgbClr val="000000"/>
                </a:solidFill>
                <a:latin typeface="Times New Roman"/>
                <a:ea typeface="Times New Roman"/>
                <a:cs typeface="Times New Roman"/>
                <a:sym typeface="Times New Roman"/>
              </a:rPr>
              <a:t>an</a:t>
            </a:r>
            <a:r>
              <a:rPr lang="en-US" sz="3060" strike="noStrike" u="none">
                <a:solidFill>
                  <a:srgbClr val="000000"/>
                </a:solidFill>
                <a:latin typeface="Times New Roman"/>
                <a:ea typeface="Times New Roman"/>
                <a:cs typeface="Times New Roman"/>
                <a:sym typeface="Times New Roman"/>
              </a:rPr>
              <a:t>d</a:t>
            </a:r>
            <a:r>
              <a:rPr lang="en-US" sz="3060" strike="noStrike" u="none">
                <a:solidFill>
                  <a:srgbClr val="000000"/>
                </a:solidFill>
                <a:latin typeface="Times New Roman"/>
                <a:ea typeface="Times New Roman"/>
                <a:cs typeface="Times New Roman"/>
                <a:sym typeface="Times New Roman"/>
              </a:rPr>
              <a:t> </a:t>
            </a:r>
            <a:r>
              <a:rPr lang="en-US" sz="3060" strike="noStrike" u="none">
                <a:solidFill>
                  <a:srgbClr val="000000"/>
                </a:solidFill>
                <a:latin typeface="Times New Roman"/>
                <a:ea typeface="Times New Roman"/>
                <a:cs typeface="Times New Roman"/>
                <a:sym typeface="Times New Roman"/>
              </a:rPr>
              <a:t>Th</a:t>
            </a:r>
            <a:r>
              <a:rPr lang="en-US" sz="3060" strike="noStrike" u="none">
                <a:solidFill>
                  <a:srgbClr val="000000"/>
                </a:solidFill>
                <a:latin typeface="Times New Roman"/>
                <a:ea typeface="Times New Roman"/>
                <a:cs typeface="Times New Roman"/>
                <a:sym typeface="Times New Roman"/>
              </a:rPr>
              <a:t>e S</a:t>
            </a:r>
            <a:r>
              <a:rPr lang="en-US" sz="3060" strike="noStrike" u="none">
                <a:solidFill>
                  <a:srgbClr val="000000"/>
                </a:solidFill>
                <a:latin typeface="Times New Roman"/>
                <a:ea typeface="Times New Roman"/>
                <a:cs typeface="Times New Roman"/>
                <a:sym typeface="Times New Roman"/>
              </a:rPr>
              <a:t>qu</a:t>
            </a:r>
            <a:r>
              <a:rPr lang="en-US" sz="3060" strike="noStrike" u="none">
                <a:solidFill>
                  <a:srgbClr val="000000"/>
                </a:solidFill>
                <a:latin typeface="Times New Roman"/>
                <a:ea typeface="Times New Roman"/>
                <a:cs typeface="Times New Roman"/>
                <a:sym typeface="Times New Roman"/>
              </a:rPr>
              <a:t>a</a:t>
            </a:r>
            <a:r>
              <a:rPr lang="en-US" sz="3060" strike="noStrike" u="none">
                <a:solidFill>
                  <a:srgbClr val="000000"/>
                </a:solidFill>
                <a:latin typeface="Times New Roman"/>
                <a:ea typeface="Times New Roman"/>
                <a:cs typeface="Times New Roman"/>
                <a:sym typeface="Times New Roman"/>
              </a:rPr>
              <a:t>r</a:t>
            </a:r>
            <a:r>
              <a:rPr lang="en-US" sz="3060" strike="noStrike" u="none">
                <a:solidFill>
                  <a:srgbClr val="000000"/>
                </a:solidFill>
                <a:latin typeface="Times New Roman"/>
                <a:ea typeface="Times New Roman"/>
                <a:cs typeface="Times New Roman"/>
                <a:sym typeface="Times New Roman"/>
              </a:rPr>
              <a:t>e show </a:t>
            </a:r>
            <a:r>
              <a:rPr lang="en-US" sz="3060" strike="noStrike" u="none">
                <a:solidFill>
                  <a:srgbClr val="000000"/>
                </a:solidFill>
                <a:latin typeface="Times New Roman"/>
                <a:ea typeface="Times New Roman"/>
                <a:cs typeface="Times New Roman"/>
                <a:sym typeface="Times New Roman"/>
              </a:rPr>
              <a:t>cons</a:t>
            </a:r>
            <a:r>
              <a:rPr lang="en-US" sz="3060" strike="noStrike" u="none">
                <a:solidFill>
                  <a:srgbClr val="000000"/>
                </a:solidFill>
                <a:latin typeface="Times New Roman"/>
                <a:ea typeface="Times New Roman"/>
                <a:cs typeface="Times New Roman"/>
                <a:sym typeface="Times New Roman"/>
              </a:rPr>
              <a:t>i</a:t>
            </a:r>
            <a:r>
              <a:rPr lang="en-US" sz="3060" strike="noStrike" u="none">
                <a:solidFill>
                  <a:srgbClr val="000000"/>
                </a:solidFill>
                <a:latin typeface="Times New Roman"/>
                <a:ea typeface="Times New Roman"/>
                <a:cs typeface="Times New Roman"/>
                <a:sym typeface="Times New Roman"/>
              </a:rPr>
              <a:t>st</a:t>
            </a:r>
            <a:r>
              <a:rPr lang="en-US" sz="3060" strike="noStrike" u="none">
                <a:solidFill>
                  <a:srgbClr val="000000"/>
                </a:solidFill>
                <a:latin typeface="Times New Roman"/>
                <a:ea typeface="Times New Roman"/>
                <a:cs typeface="Times New Roman"/>
                <a:sym typeface="Times New Roman"/>
              </a:rPr>
              <a:t>e</a:t>
            </a:r>
            <a:r>
              <a:rPr lang="en-US" sz="3060" strike="noStrike" u="none">
                <a:solidFill>
                  <a:srgbClr val="000000"/>
                </a:solidFill>
                <a:latin typeface="Times New Roman"/>
                <a:ea typeface="Times New Roman"/>
                <a:cs typeface="Times New Roman"/>
                <a:sym typeface="Times New Roman"/>
              </a:rPr>
              <a:t>n</a:t>
            </a:r>
            <a:r>
              <a:rPr lang="en-US" sz="3060" strike="noStrike" u="none">
                <a:solidFill>
                  <a:srgbClr val="000000"/>
                </a:solidFill>
                <a:latin typeface="Times New Roman"/>
                <a:ea typeface="Times New Roman"/>
                <a:cs typeface="Times New Roman"/>
                <a:sym typeface="Times New Roman"/>
              </a:rPr>
              <a:t>t</a:t>
            </a:r>
            <a:r>
              <a:rPr lang="en-US" sz="3060" strike="noStrike" u="none">
                <a:solidFill>
                  <a:srgbClr val="000000"/>
                </a:solidFill>
                <a:latin typeface="Times New Roman"/>
                <a:ea typeface="Times New Roman"/>
                <a:cs typeface="Times New Roman"/>
                <a:sym typeface="Times New Roman"/>
              </a:rPr>
              <a:t>ly h</a:t>
            </a:r>
            <a:r>
              <a:rPr lang="en-US" sz="3060" strike="noStrike" u="none">
                <a:solidFill>
                  <a:srgbClr val="000000"/>
                </a:solidFill>
                <a:latin typeface="Times New Roman"/>
                <a:ea typeface="Times New Roman"/>
                <a:cs typeface="Times New Roman"/>
                <a:sym typeface="Times New Roman"/>
              </a:rPr>
              <a:t>ig</a:t>
            </a:r>
            <a:r>
              <a:rPr lang="en-US" sz="3060" strike="noStrike" u="none">
                <a:solidFill>
                  <a:srgbClr val="000000"/>
                </a:solidFill>
                <a:latin typeface="Times New Roman"/>
                <a:ea typeface="Times New Roman"/>
                <a:cs typeface="Times New Roman"/>
                <a:sym typeface="Times New Roman"/>
              </a:rPr>
              <a:t>h</a:t>
            </a:r>
            <a:r>
              <a:rPr lang="en-US" sz="3060" strike="noStrike" u="none">
                <a:solidFill>
                  <a:srgbClr val="000000"/>
                </a:solidFill>
                <a:latin typeface="Times New Roman"/>
                <a:ea typeface="Times New Roman"/>
                <a:cs typeface="Times New Roman"/>
                <a:sym typeface="Times New Roman"/>
              </a:rPr>
              <a:t> ratings </a:t>
            </a:r>
            <a:r>
              <a:rPr lang="en-US" sz="3060" strike="noStrike" u="none">
                <a:solidFill>
                  <a:srgbClr val="000000"/>
                </a:solidFill>
                <a:latin typeface="Times New Roman"/>
                <a:ea typeface="Times New Roman"/>
                <a:cs typeface="Times New Roman"/>
                <a:sym typeface="Times New Roman"/>
              </a:rPr>
              <a:t>w</a:t>
            </a:r>
            <a:r>
              <a:rPr lang="en-US" sz="3060" strike="noStrike" u="none">
                <a:solidFill>
                  <a:srgbClr val="000000"/>
                </a:solidFill>
                <a:latin typeface="Times New Roman"/>
                <a:ea typeface="Times New Roman"/>
                <a:cs typeface="Times New Roman"/>
                <a:sym typeface="Times New Roman"/>
              </a:rPr>
              <a:t>it</a:t>
            </a:r>
            <a:r>
              <a:rPr lang="en-US" sz="3060" strike="noStrike" u="none">
                <a:solidFill>
                  <a:srgbClr val="000000"/>
                </a:solidFill>
                <a:latin typeface="Times New Roman"/>
                <a:ea typeface="Times New Roman"/>
                <a:cs typeface="Times New Roman"/>
                <a:sym typeface="Times New Roman"/>
              </a:rPr>
              <a:t>h v</a:t>
            </a:r>
            <a:r>
              <a:rPr lang="en-US" sz="3060" strike="noStrike" u="none">
                <a:solidFill>
                  <a:srgbClr val="000000"/>
                </a:solidFill>
                <a:latin typeface="Times New Roman"/>
                <a:ea typeface="Times New Roman"/>
                <a:cs typeface="Times New Roman"/>
                <a:sym typeface="Times New Roman"/>
              </a:rPr>
              <a:t>e</a:t>
            </a:r>
            <a:r>
              <a:rPr lang="en-US" sz="3060" strike="noStrike" u="none">
                <a:solidFill>
                  <a:srgbClr val="000000"/>
                </a:solidFill>
                <a:latin typeface="Times New Roman"/>
                <a:ea typeface="Times New Roman"/>
                <a:cs typeface="Times New Roman"/>
                <a:sym typeface="Times New Roman"/>
              </a:rPr>
              <a:t>ry</a:t>
            </a:r>
            <a:r>
              <a:rPr lang="en-US" sz="3060" strike="noStrike" u="none">
                <a:solidFill>
                  <a:srgbClr val="000000"/>
                </a:solidFill>
                <a:latin typeface="Times New Roman"/>
                <a:ea typeface="Times New Roman"/>
                <a:cs typeface="Times New Roman"/>
                <a:sym typeface="Times New Roman"/>
              </a:rPr>
              <a:t> </a:t>
            </a:r>
            <a:r>
              <a:rPr lang="en-US" sz="3060" strike="noStrike" u="none">
                <a:solidFill>
                  <a:srgbClr val="000000"/>
                </a:solidFill>
                <a:latin typeface="Times New Roman"/>
                <a:ea typeface="Times New Roman"/>
                <a:cs typeface="Times New Roman"/>
                <a:sym typeface="Times New Roman"/>
              </a:rPr>
              <a:t>lit</a:t>
            </a:r>
            <a:r>
              <a:rPr lang="en-US" sz="3060" strike="noStrike" u="none">
                <a:solidFill>
                  <a:srgbClr val="000000"/>
                </a:solidFill>
                <a:latin typeface="Times New Roman"/>
                <a:ea typeface="Times New Roman"/>
                <a:cs typeface="Times New Roman"/>
                <a:sym typeface="Times New Roman"/>
              </a:rPr>
              <a:t>t</a:t>
            </a:r>
            <a:r>
              <a:rPr lang="en-US" sz="3060" strike="noStrike" u="none">
                <a:solidFill>
                  <a:srgbClr val="000000"/>
                </a:solidFill>
                <a:latin typeface="Times New Roman"/>
                <a:ea typeface="Times New Roman"/>
                <a:cs typeface="Times New Roman"/>
                <a:sym typeface="Times New Roman"/>
              </a:rPr>
              <a:t>l</a:t>
            </a:r>
            <a:r>
              <a:rPr lang="en-US" sz="3060" strike="noStrike" u="none">
                <a:solidFill>
                  <a:srgbClr val="000000"/>
                </a:solidFill>
                <a:latin typeface="Times New Roman"/>
                <a:ea typeface="Times New Roman"/>
                <a:cs typeface="Times New Roman"/>
                <a:sym typeface="Times New Roman"/>
              </a:rPr>
              <a:t>e </a:t>
            </a:r>
            <a:r>
              <a:rPr lang="en-US" sz="3060" strike="noStrike" u="none">
                <a:solidFill>
                  <a:srgbClr val="000000"/>
                </a:solidFill>
                <a:latin typeface="Times New Roman"/>
                <a:ea typeface="Times New Roman"/>
                <a:cs typeface="Times New Roman"/>
                <a:sym typeface="Times New Roman"/>
              </a:rPr>
              <a:t>va</a:t>
            </a:r>
            <a:r>
              <a:rPr lang="en-US" sz="3060" strike="noStrike" u="none">
                <a:solidFill>
                  <a:srgbClr val="000000"/>
                </a:solidFill>
                <a:latin typeface="Times New Roman"/>
                <a:ea typeface="Times New Roman"/>
                <a:cs typeface="Times New Roman"/>
                <a:sym typeface="Times New Roman"/>
              </a:rPr>
              <a:t>ri</a:t>
            </a:r>
            <a:r>
              <a:rPr lang="en-US" sz="3060" strike="noStrike" u="none">
                <a:solidFill>
                  <a:srgbClr val="000000"/>
                </a:solidFill>
                <a:latin typeface="Times New Roman"/>
                <a:ea typeface="Times New Roman"/>
                <a:cs typeface="Times New Roman"/>
                <a:sym typeface="Times New Roman"/>
              </a:rPr>
              <a:t>atio</a:t>
            </a:r>
            <a:r>
              <a:rPr lang="en-US" sz="3060" strike="noStrike" u="none">
                <a:solidFill>
                  <a:srgbClr val="000000"/>
                </a:solidFill>
                <a:latin typeface="Times New Roman"/>
                <a:ea typeface="Times New Roman"/>
                <a:cs typeface="Times New Roman"/>
                <a:sym typeface="Times New Roman"/>
              </a:rPr>
              <a:t>n.</a:t>
            </a:r>
          </a:p>
          <a:p>
            <a:pPr algn="l" marL="660803" indent="-330401" lvl="1">
              <a:lnSpc>
                <a:spcPts val="4958"/>
              </a:lnSpc>
              <a:buFont typeface="Arial"/>
              <a:buChar char="•"/>
            </a:pPr>
            <a:r>
              <a:rPr lang="en-US" sz="3060" strike="noStrike" u="none">
                <a:solidFill>
                  <a:srgbClr val="000000"/>
                </a:solidFill>
                <a:latin typeface="Times New Roman"/>
                <a:ea typeface="Times New Roman"/>
                <a:cs typeface="Times New Roman"/>
                <a:sym typeface="Times New Roman"/>
              </a:rPr>
              <a:t>Spice It </a:t>
            </a:r>
            <a:r>
              <a:rPr lang="en-US" sz="3060" strike="noStrike" u="none">
                <a:solidFill>
                  <a:srgbClr val="000000"/>
                </a:solidFill>
                <a:latin typeface="Times New Roman"/>
                <a:ea typeface="Times New Roman"/>
                <a:cs typeface="Times New Roman"/>
                <a:sym typeface="Times New Roman"/>
              </a:rPr>
              <a:t>h</a:t>
            </a:r>
            <a:r>
              <a:rPr lang="en-US" sz="3060" strike="noStrike" u="none">
                <a:solidFill>
                  <a:srgbClr val="000000"/>
                </a:solidFill>
                <a:latin typeface="Times New Roman"/>
                <a:ea typeface="Times New Roman"/>
                <a:cs typeface="Times New Roman"/>
                <a:sym typeface="Times New Roman"/>
              </a:rPr>
              <a:t>as the lowe</a:t>
            </a:r>
            <a:r>
              <a:rPr lang="en-US" sz="3060" strike="noStrike" u="none">
                <a:solidFill>
                  <a:srgbClr val="000000"/>
                </a:solidFill>
                <a:latin typeface="Times New Roman"/>
                <a:ea typeface="Times New Roman"/>
                <a:cs typeface="Times New Roman"/>
                <a:sym typeface="Times New Roman"/>
              </a:rPr>
              <a:t>st</a:t>
            </a:r>
            <a:r>
              <a:rPr lang="en-US" sz="3060" strike="noStrike" u="none">
                <a:solidFill>
                  <a:srgbClr val="000000"/>
                </a:solidFill>
                <a:latin typeface="Times New Roman"/>
                <a:ea typeface="Times New Roman"/>
                <a:cs typeface="Times New Roman"/>
                <a:sym typeface="Times New Roman"/>
              </a:rPr>
              <a:t> rating </a:t>
            </a:r>
            <a:r>
              <a:rPr lang="en-US" sz="3060" strike="noStrike" u="none">
                <a:solidFill>
                  <a:srgbClr val="000000"/>
                </a:solidFill>
                <a:latin typeface="Times New Roman"/>
                <a:ea typeface="Times New Roman"/>
                <a:cs typeface="Times New Roman"/>
                <a:sym typeface="Times New Roman"/>
              </a:rPr>
              <a:t>r</a:t>
            </a:r>
            <a:r>
              <a:rPr lang="en-US" sz="3060" strike="noStrike" u="none">
                <a:solidFill>
                  <a:srgbClr val="000000"/>
                </a:solidFill>
                <a:latin typeface="Times New Roman"/>
                <a:ea typeface="Times New Roman"/>
                <a:cs typeface="Times New Roman"/>
                <a:sym typeface="Times New Roman"/>
              </a:rPr>
              <a:t>ange </a:t>
            </a:r>
            <a:r>
              <a:rPr lang="en-US" sz="3060" strike="noStrike" u="none">
                <a:solidFill>
                  <a:srgbClr val="000000"/>
                </a:solidFill>
                <a:latin typeface="Times New Roman"/>
                <a:ea typeface="Times New Roman"/>
                <a:cs typeface="Times New Roman"/>
                <a:sym typeface="Times New Roman"/>
              </a:rPr>
              <a:t>(</a:t>
            </a:r>
            <a:r>
              <a:rPr lang="en-US" sz="3060" strike="noStrike" u="none">
                <a:solidFill>
                  <a:srgbClr val="000000"/>
                </a:solidFill>
                <a:latin typeface="Times New Roman"/>
                <a:ea typeface="Times New Roman"/>
                <a:cs typeface="Times New Roman"/>
                <a:sym typeface="Times New Roman"/>
              </a:rPr>
              <a:t>aro</a:t>
            </a:r>
            <a:r>
              <a:rPr lang="en-US" sz="3060" strike="noStrike" u="none">
                <a:solidFill>
                  <a:srgbClr val="000000"/>
                </a:solidFill>
                <a:latin typeface="Times New Roman"/>
                <a:ea typeface="Times New Roman"/>
                <a:cs typeface="Times New Roman"/>
                <a:sym typeface="Times New Roman"/>
              </a:rPr>
              <a:t>und</a:t>
            </a:r>
            <a:r>
              <a:rPr lang="en-US" sz="3060" strike="noStrike" u="none">
                <a:solidFill>
                  <a:srgbClr val="000000"/>
                </a:solidFill>
                <a:latin typeface="Times New Roman"/>
                <a:ea typeface="Times New Roman"/>
                <a:cs typeface="Times New Roman"/>
                <a:sym typeface="Times New Roman"/>
              </a:rPr>
              <a:t> </a:t>
            </a:r>
            <a:r>
              <a:rPr lang="en-US" sz="3060" strike="noStrike" u="none">
                <a:solidFill>
                  <a:srgbClr val="000000"/>
                </a:solidFill>
                <a:latin typeface="Times New Roman"/>
                <a:ea typeface="Times New Roman"/>
                <a:cs typeface="Times New Roman"/>
                <a:sym typeface="Times New Roman"/>
              </a:rPr>
              <a:t>3.0–3.2) co</a:t>
            </a:r>
            <a:r>
              <a:rPr lang="en-US" sz="3060" strike="noStrike" u="none">
                <a:solidFill>
                  <a:srgbClr val="000000"/>
                </a:solidFill>
                <a:latin typeface="Times New Roman"/>
                <a:ea typeface="Times New Roman"/>
                <a:cs typeface="Times New Roman"/>
                <a:sym typeface="Times New Roman"/>
              </a:rPr>
              <a:t>mp</a:t>
            </a:r>
            <a:r>
              <a:rPr lang="en-US" sz="3060" strike="noStrike" u="none">
                <a:solidFill>
                  <a:srgbClr val="000000"/>
                </a:solidFill>
                <a:latin typeface="Times New Roman"/>
                <a:ea typeface="Times New Roman"/>
                <a:cs typeface="Times New Roman"/>
                <a:sym typeface="Times New Roman"/>
              </a:rPr>
              <a:t>a</a:t>
            </a:r>
            <a:r>
              <a:rPr lang="en-US" sz="3060" strike="noStrike" u="none">
                <a:solidFill>
                  <a:srgbClr val="000000"/>
                </a:solidFill>
                <a:latin typeface="Times New Roman"/>
                <a:ea typeface="Times New Roman"/>
                <a:cs typeface="Times New Roman"/>
                <a:sym typeface="Times New Roman"/>
              </a:rPr>
              <a:t>re</a:t>
            </a:r>
            <a:r>
              <a:rPr lang="en-US" sz="3060" strike="noStrike" u="none">
                <a:solidFill>
                  <a:srgbClr val="000000"/>
                </a:solidFill>
                <a:latin typeface="Times New Roman"/>
                <a:ea typeface="Times New Roman"/>
                <a:cs typeface="Times New Roman"/>
                <a:sym typeface="Times New Roman"/>
              </a:rPr>
              <a:t>d </a:t>
            </a:r>
            <a:r>
              <a:rPr lang="en-US" sz="3060" strike="noStrike" u="none">
                <a:solidFill>
                  <a:srgbClr val="000000"/>
                </a:solidFill>
                <a:latin typeface="Times New Roman"/>
                <a:ea typeface="Times New Roman"/>
                <a:cs typeface="Times New Roman"/>
                <a:sym typeface="Times New Roman"/>
              </a:rPr>
              <a:t>t</a:t>
            </a:r>
            <a:r>
              <a:rPr lang="en-US" sz="3060" strike="noStrike" u="none">
                <a:solidFill>
                  <a:srgbClr val="000000"/>
                </a:solidFill>
                <a:latin typeface="Times New Roman"/>
                <a:ea typeface="Times New Roman"/>
                <a:cs typeface="Times New Roman"/>
                <a:sym typeface="Times New Roman"/>
              </a:rPr>
              <a:t>o</a:t>
            </a:r>
            <a:r>
              <a:rPr lang="en-US" sz="3060" strike="noStrike" u="none">
                <a:solidFill>
                  <a:srgbClr val="000000"/>
                </a:solidFill>
                <a:latin typeface="Times New Roman"/>
                <a:ea typeface="Times New Roman"/>
                <a:cs typeface="Times New Roman"/>
                <a:sym typeface="Times New Roman"/>
              </a:rPr>
              <a:t> </a:t>
            </a:r>
            <a:r>
              <a:rPr lang="en-US" sz="3060" strike="noStrike" u="none">
                <a:solidFill>
                  <a:srgbClr val="000000"/>
                </a:solidFill>
                <a:latin typeface="Times New Roman"/>
                <a:ea typeface="Times New Roman"/>
                <a:cs typeface="Times New Roman"/>
                <a:sym typeface="Times New Roman"/>
              </a:rPr>
              <a:t>oth</a:t>
            </a:r>
            <a:r>
              <a:rPr lang="en-US" sz="3060" strike="noStrike" u="none">
                <a:solidFill>
                  <a:srgbClr val="000000"/>
                </a:solidFill>
                <a:latin typeface="Times New Roman"/>
                <a:ea typeface="Times New Roman"/>
                <a:cs typeface="Times New Roman"/>
                <a:sym typeface="Times New Roman"/>
              </a:rPr>
              <a:t>er r</a:t>
            </a:r>
            <a:r>
              <a:rPr lang="en-US" sz="3060" strike="noStrike" u="none">
                <a:solidFill>
                  <a:srgbClr val="000000"/>
                </a:solidFill>
                <a:latin typeface="Times New Roman"/>
                <a:ea typeface="Times New Roman"/>
                <a:cs typeface="Times New Roman"/>
                <a:sym typeface="Times New Roman"/>
              </a:rPr>
              <a:t>esta</a:t>
            </a:r>
            <a:r>
              <a:rPr lang="en-US" sz="3060" strike="noStrike" u="none">
                <a:solidFill>
                  <a:srgbClr val="000000"/>
                </a:solidFill>
                <a:latin typeface="Times New Roman"/>
                <a:ea typeface="Times New Roman"/>
                <a:cs typeface="Times New Roman"/>
                <a:sym typeface="Times New Roman"/>
              </a:rPr>
              <a:t>u</a:t>
            </a:r>
            <a:r>
              <a:rPr lang="en-US" sz="3060" strike="noStrike" u="none">
                <a:solidFill>
                  <a:srgbClr val="000000"/>
                </a:solidFill>
                <a:latin typeface="Times New Roman"/>
                <a:ea typeface="Times New Roman"/>
                <a:cs typeface="Times New Roman"/>
                <a:sym typeface="Times New Roman"/>
              </a:rPr>
              <a:t>r</a:t>
            </a:r>
            <a:r>
              <a:rPr lang="en-US" sz="3060" strike="noStrike" u="none">
                <a:solidFill>
                  <a:srgbClr val="000000"/>
                </a:solidFill>
                <a:latin typeface="Times New Roman"/>
                <a:ea typeface="Times New Roman"/>
                <a:cs typeface="Times New Roman"/>
                <a:sym typeface="Times New Roman"/>
              </a:rPr>
              <a:t>a</a:t>
            </a:r>
            <a:r>
              <a:rPr lang="en-US" sz="3060" strike="noStrike" u="none">
                <a:solidFill>
                  <a:srgbClr val="000000"/>
                </a:solidFill>
                <a:latin typeface="Times New Roman"/>
                <a:ea typeface="Times New Roman"/>
                <a:cs typeface="Times New Roman"/>
                <a:sym typeface="Times New Roman"/>
              </a:rPr>
              <a:t>n</a:t>
            </a:r>
            <a:r>
              <a:rPr lang="en-US" sz="3060" strike="noStrike" u="none">
                <a:solidFill>
                  <a:srgbClr val="000000"/>
                </a:solidFill>
                <a:latin typeface="Times New Roman"/>
                <a:ea typeface="Times New Roman"/>
                <a:cs typeface="Times New Roman"/>
                <a:sym typeface="Times New Roman"/>
              </a:rPr>
              <a:t>t</a:t>
            </a:r>
            <a:r>
              <a:rPr lang="en-US" sz="3060" strike="noStrike" u="none">
                <a:solidFill>
                  <a:srgbClr val="000000"/>
                </a:solidFill>
                <a:latin typeface="Times New Roman"/>
                <a:ea typeface="Times New Roman"/>
                <a:cs typeface="Times New Roman"/>
                <a:sym typeface="Times New Roman"/>
              </a:rPr>
              <a:t>s</a:t>
            </a:r>
            <a:r>
              <a:rPr lang="en-US" sz="3060" strike="noStrike" u="none">
                <a:solidFill>
                  <a:srgbClr val="000000"/>
                </a:solidFill>
                <a:latin typeface="Times New Roman"/>
                <a:ea typeface="Times New Roman"/>
                <a:cs typeface="Times New Roman"/>
                <a:sym typeface="Times New Roman"/>
              </a:rPr>
              <a:t>.</a:t>
            </a:r>
          </a:p>
          <a:p>
            <a:pPr algn="l">
              <a:lnSpc>
                <a:spcPts val="4958"/>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grpSp>
        <p:nvGrpSpPr>
          <p:cNvPr name="Group 3" id="3"/>
          <p:cNvGrpSpPr/>
          <p:nvPr/>
        </p:nvGrpSpPr>
        <p:grpSpPr>
          <a:xfrm rot="0">
            <a:off x="13221348" y="9277474"/>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Freeform 5" id="5"/>
          <p:cNvSpPr/>
          <p:nvPr/>
        </p:nvSpPr>
        <p:spPr>
          <a:xfrm flipH="false" flipV="false" rot="0">
            <a:off x="9422561" y="2618693"/>
            <a:ext cx="8865439" cy="5028625"/>
          </a:xfrm>
          <a:custGeom>
            <a:avLst/>
            <a:gdLst/>
            <a:ahLst/>
            <a:cxnLst/>
            <a:rect r="r" b="b" t="t" l="l"/>
            <a:pathLst>
              <a:path h="5028625" w="8865439">
                <a:moveTo>
                  <a:pt x="0" y="0"/>
                </a:moveTo>
                <a:lnTo>
                  <a:pt x="8865439" y="0"/>
                </a:lnTo>
                <a:lnTo>
                  <a:pt x="8865439" y="5028625"/>
                </a:lnTo>
                <a:lnTo>
                  <a:pt x="0" y="5028625"/>
                </a:lnTo>
                <a:lnTo>
                  <a:pt x="0" y="0"/>
                </a:lnTo>
                <a:close/>
              </a:path>
            </a:pathLst>
          </a:custGeom>
          <a:blipFill>
            <a:blip r:embed="rId3"/>
            <a:stretch>
              <a:fillRect l="-45851" t="-56915" r="-23588" b="-11114"/>
            </a:stretch>
          </a:blipFill>
        </p:spPr>
      </p:sp>
      <p:sp>
        <p:nvSpPr>
          <p:cNvPr name="TextBox 6" id="6"/>
          <p:cNvSpPr txBox="true"/>
          <p:nvPr/>
        </p:nvSpPr>
        <p:spPr>
          <a:xfrm rot="0">
            <a:off x="513776" y="1630954"/>
            <a:ext cx="8908786" cy="6907478"/>
          </a:xfrm>
          <a:prstGeom prst="rect">
            <a:avLst/>
          </a:prstGeom>
        </p:spPr>
        <p:txBody>
          <a:bodyPr anchor="t" rtlCol="false" tIns="0" lIns="0" bIns="0" rIns="0">
            <a:spAutoFit/>
          </a:bodyPr>
          <a:lstStyle/>
          <a:p>
            <a:pPr algn="l" marL="755772" indent="-377886" lvl="1">
              <a:lnSpc>
                <a:spcPts val="4900"/>
              </a:lnSpc>
              <a:buFont typeface="Arial"/>
              <a:buChar char="•"/>
            </a:pPr>
            <a:r>
              <a:rPr lang="en-US" sz="3500">
                <a:solidFill>
                  <a:srgbClr val="000000"/>
                </a:solidFill>
                <a:latin typeface="Times New Roman"/>
                <a:ea typeface="Times New Roman"/>
                <a:cs typeface="Times New Roman"/>
                <a:sym typeface="Times New Roman"/>
              </a:rPr>
              <a:t>Major metropolitan cities such as Mumbai and Delhi ten</a:t>
            </a:r>
            <a:r>
              <a:rPr lang="en-US" sz="3500">
                <a:solidFill>
                  <a:srgbClr val="000000"/>
                </a:solidFill>
                <a:latin typeface="Times New Roman"/>
                <a:ea typeface="Times New Roman"/>
                <a:cs typeface="Times New Roman"/>
                <a:sym typeface="Times New Roman"/>
              </a:rPr>
              <a:t>d to have higher restaurant prices, likely due to higher living costs and a stronger presence of premium dining establishments.</a:t>
            </a:r>
          </a:p>
          <a:p>
            <a:pPr algn="l" marL="755772" indent="-377886" lvl="1">
              <a:lnSpc>
                <a:spcPts val="4900"/>
              </a:lnSpc>
              <a:buFont typeface="Arial"/>
              <a:buChar char="•"/>
            </a:pPr>
            <a:r>
              <a:rPr lang="en-US" sz="3500">
                <a:solidFill>
                  <a:srgbClr val="000000"/>
                </a:solidFill>
                <a:latin typeface="Times New Roman"/>
                <a:ea typeface="Times New Roman"/>
                <a:cs typeface="Times New Roman"/>
                <a:sym typeface="Times New Roman"/>
              </a:rPr>
              <a:t>Hyderabad offers moderately priced dining options, suggesting a balance between mid-range and premium restaurants.</a:t>
            </a:r>
          </a:p>
          <a:p>
            <a:pPr algn="l" marL="755772" indent="-377886" lvl="1">
              <a:lnSpc>
                <a:spcPts val="4900"/>
              </a:lnSpc>
              <a:buFont typeface="Arial"/>
              <a:buChar char="•"/>
            </a:pPr>
            <a:r>
              <a:rPr lang="en-US" sz="3500">
                <a:solidFill>
                  <a:srgbClr val="000000"/>
                </a:solidFill>
                <a:latin typeface="Times New Roman"/>
                <a:ea typeface="Times New Roman"/>
                <a:cs typeface="Times New Roman"/>
                <a:sym typeface="Times New Roman"/>
              </a:rPr>
              <a:t>Chennai appears to be the most affordable city among the four, indicating a larger presence of budget-friendly dining options.</a:t>
            </a:r>
          </a:p>
          <a:p>
            <a:pPr algn="l">
              <a:lnSpc>
                <a:spcPts val="140"/>
              </a:lnSpc>
            </a:pPr>
          </a:p>
        </p:txBody>
      </p:sp>
      <p:sp>
        <p:nvSpPr>
          <p:cNvPr name="TextBox 7" id="7"/>
          <p:cNvSpPr txBox="true"/>
          <p:nvPr/>
        </p:nvSpPr>
        <p:spPr>
          <a:xfrm rot="0">
            <a:off x="-111752" y="621295"/>
            <a:ext cx="9975468" cy="1007732"/>
          </a:xfrm>
          <a:prstGeom prst="rect">
            <a:avLst/>
          </a:prstGeom>
        </p:spPr>
        <p:txBody>
          <a:bodyPr anchor="t" rtlCol="false" tIns="0" lIns="0" bIns="0" rIns="0">
            <a:spAutoFit/>
          </a:bodyPr>
          <a:lstStyle/>
          <a:p>
            <a:pPr algn="ctr" marL="0" indent="0" lvl="0">
              <a:lnSpc>
                <a:spcPts val="7980"/>
              </a:lnSpc>
              <a:spcBef>
                <a:spcPct val="0"/>
              </a:spcBef>
            </a:pPr>
            <a:r>
              <a:rPr lang="en-US" b="true" sz="5700">
                <a:solidFill>
                  <a:srgbClr val="E52328"/>
                </a:solidFill>
                <a:latin typeface="Times New Roman Bold"/>
                <a:ea typeface="Times New Roman Bold"/>
                <a:cs typeface="Times New Roman Bold"/>
                <a:sym typeface="Times New Roman Bold"/>
              </a:rPr>
              <a:t>EDA - Bivariate analysis: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796062" y="1845235"/>
            <a:ext cx="7491938" cy="5724359"/>
          </a:xfrm>
          <a:custGeom>
            <a:avLst/>
            <a:gdLst/>
            <a:ahLst/>
            <a:cxnLst/>
            <a:rect r="r" b="b" t="t" l="l"/>
            <a:pathLst>
              <a:path h="5724359" w="7491938">
                <a:moveTo>
                  <a:pt x="0" y="0"/>
                </a:moveTo>
                <a:lnTo>
                  <a:pt x="7491938" y="0"/>
                </a:lnTo>
                <a:lnTo>
                  <a:pt x="7491938" y="5724360"/>
                </a:lnTo>
                <a:lnTo>
                  <a:pt x="0" y="5724360"/>
                </a:lnTo>
                <a:lnTo>
                  <a:pt x="0" y="0"/>
                </a:lnTo>
                <a:close/>
              </a:path>
            </a:pathLst>
          </a:custGeom>
          <a:blipFill>
            <a:blip r:embed="rId2"/>
            <a:stretch>
              <a:fillRect l="-33342" t="-50484" r="-82325" b="-8288"/>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
        <p:nvSpPr>
          <p:cNvPr name="TextBox 4" id="4"/>
          <p:cNvSpPr txBox="true"/>
          <p:nvPr/>
        </p:nvSpPr>
        <p:spPr>
          <a:xfrm rot="0">
            <a:off x="374154" y="904875"/>
            <a:ext cx="8287612" cy="899160"/>
          </a:xfrm>
          <a:prstGeom prst="rect">
            <a:avLst/>
          </a:prstGeom>
        </p:spPr>
        <p:txBody>
          <a:bodyPr anchor="t" rtlCol="false" tIns="0" lIns="0" bIns="0" rIns="0">
            <a:spAutoFit/>
          </a:bodyPr>
          <a:lstStyle/>
          <a:p>
            <a:pPr algn="ctr" marL="0" indent="0" lvl="0">
              <a:lnSpc>
                <a:spcPts val="7139"/>
              </a:lnSpc>
              <a:spcBef>
                <a:spcPct val="0"/>
              </a:spcBef>
            </a:pPr>
            <a:r>
              <a:rPr lang="en-US" b="true" sz="5100">
                <a:solidFill>
                  <a:srgbClr val="E52328"/>
                </a:solidFill>
                <a:latin typeface="Times New Roman Bold"/>
                <a:ea typeface="Times New Roman Bold"/>
                <a:cs typeface="Times New Roman Bold"/>
                <a:sym typeface="Times New Roman Bold"/>
              </a:rPr>
              <a:t>EDA - Bivariate analysis:</a:t>
            </a:r>
          </a:p>
        </p:txBody>
      </p:sp>
      <p:sp>
        <p:nvSpPr>
          <p:cNvPr name="TextBox 5" id="5"/>
          <p:cNvSpPr txBox="true"/>
          <p:nvPr/>
        </p:nvSpPr>
        <p:spPr>
          <a:xfrm rot="0">
            <a:off x="575869" y="1759510"/>
            <a:ext cx="10703060" cy="7200265"/>
          </a:xfrm>
          <a:prstGeom prst="rect">
            <a:avLst/>
          </a:prstGeom>
        </p:spPr>
        <p:txBody>
          <a:bodyPr anchor="t" rtlCol="false" tIns="0" lIns="0" bIns="0" rIns="0">
            <a:spAutoFit/>
          </a:bodyPr>
          <a:lstStyle/>
          <a:p>
            <a:pPr algn="l" marL="734059" indent="-367030" lvl="1">
              <a:lnSpc>
                <a:spcPts val="4759"/>
              </a:lnSpc>
              <a:spcBef>
                <a:spcPct val="0"/>
              </a:spcBef>
              <a:buFont typeface="Arial"/>
              <a:buChar char="•"/>
            </a:pPr>
            <a:r>
              <a:rPr lang="en-US" sz="3399">
                <a:solidFill>
                  <a:srgbClr val="000000"/>
                </a:solidFill>
                <a:latin typeface="Times New Roman"/>
                <a:ea typeface="Times New Roman"/>
                <a:cs typeface="Times New Roman"/>
                <a:sym typeface="Times New Roman"/>
              </a:rPr>
              <a:t>The violin plot shows the </a:t>
            </a:r>
            <a:r>
              <a:rPr lang="en-US" sz="3399" strike="noStrike" u="none">
                <a:solidFill>
                  <a:srgbClr val="000000"/>
                </a:solidFill>
                <a:latin typeface="Times New Roman"/>
                <a:ea typeface="Times New Roman"/>
                <a:cs typeface="Times New Roman"/>
                <a:sym typeface="Times New Roman"/>
              </a:rPr>
              <a:t>d</a:t>
            </a:r>
            <a:r>
              <a:rPr lang="en-US" sz="3399" strike="noStrike" u="none">
                <a:solidFill>
                  <a:srgbClr val="000000"/>
                </a:solidFill>
                <a:latin typeface="Times New Roman"/>
                <a:ea typeface="Times New Roman"/>
                <a:cs typeface="Times New Roman"/>
                <a:sym typeface="Times New Roman"/>
              </a:rPr>
              <a:t>istribution of restaurant ratings across </a:t>
            </a:r>
            <a:r>
              <a:rPr lang="en-US" sz="3399" strike="noStrike" u="none">
                <a:solidFill>
                  <a:srgbClr val="000000"/>
                </a:solidFill>
                <a:latin typeface="Times New Roman"/>
                <a:ea typeface="Times New Roman"/>
                <a:cs typeface="Times New Roman"/>
                <a:sym typeface="Times New Roman"/>
              </a:rPr>
              <a:t>d</a:t>
            </a:r>
            <a:r>
              <a:rPr lang="en-US" sz="3399" strike="noStrike" u="none">
                <a:solidFill>
                  <a:srgbClr val="000000"/>
                </a:solidFill>
                <a:latin typeface="Times New Roman"/>
                <a:ea typeface="Times New Roman"/>
                <a:cs typeface="Times New Roman"/>
                <a:sym typeface="Times New Roman"/>
              </a:rPr>
              <a:t>ifferent</a:t>
            </a:r>
            <a:r>
              <a:rPr lang="en-US" sz="3399" strike="noStrike" u="none">
                <a:solidFill>
                  <a:srgbClr val="000000"/>
                </a:solidFill>
                <a:latin typeface="Times New Roman"/>
                <a:ea typeface="Times New Roman"/>
                <a:cs typeface="Times New Roman"/>
                <a:sym typeface="Times New Roman"/>
              </a:rPr>
              <a:t> </a:t>
            </a:r>
            <a:r>
              <a:rPr lang="en-US" sz="3399" strike="noStrike" u="none">
                <a:solidFill>
                  <a:srgbClr val="000000"/>
                </a:solidFill>
                <a:latin typeface="Times New Roman"/>
                <a:ea typeface="Times New Roman"/>
                <a:cs typeface="Times New Roman"/>
                <a:sym typeface="Times New Roman"/>
              </a:rPr>
              <a:t>dining times: Bre</a:t>
            </a:r>
            <a:r>
              <a:rPr lang="en-US" sz="3399" strike="noStrike" u="none">
                <a:solidFill>
                  <a:srgbClr val="000000"/>
                </a:solidFill>
                <a:latin typeface="Times New Roman"/>
                <a:ea typeface="Times New Roman"/>
                <a:cs typeface="Times New Roman"/>
                <a:sym typeface="Times New Roman"/>
              </a:rPr>
              <a:t>a</a:t>
            </a:r>
            <a:r>
              <a:rPr lang="en-US" sz="3399" strike="noStrike" u="none">
                <a:solidFill>
                  <a:srgbClr val="000000"/>
                </a:solidFill>
                <a:latin typeface="Times New Roman"/>
                <a:ea typeface="Times New Roman"/>
                <a:cs typeface="Times New Roman"/>
                <a:sym typeface="Times New Roman"/>
              </a:rPr>
              <a:t>kfast,</a:t>
            </a:r>
            <a:r>
              <a:rPr lang="en-US" sz="3399" strike="noStrike" u="none">
                <a:solidFill>
                  <a:srgbClr val="000000"/>
                </a:solidFill>
                <a:latin typeface="Times New Roman"/>
                <a:ea typeface="Times New Roman"/>
                <a:cs typeface="Times New Roman"/>
                <a:sym typeface="Times New Roman"/>
              </a:rPr>
              <a:t> </a:t>
            </a:r>
            <a:r>
              <a:rPr lang="en-US" sz="3399" strike="noStrike" u="none">
                <a:solidFill>
                  <a:srgbClr val="000000"/>
                </a:solidFill>
                <a:latin typeface="Times New Roman"/>
                <a:ea typeface="Times New Roman"/>
                <a:cs typeface="Times New Roman"/>
                <a:sym typeface="Times New Roman"/>
              </a:rPr>
              <a:t>Dinner, and Lunch.</a:t>
            </a:r>
          </a:p>
          <a:p>
            <a:pPr algn="l" marL="734059" indent="-367030" lvl="1">
              <a:lnSpc>
                <a:spcPts val="4759"/>
              </a:lnSpc>
              <a:spcBef>
                <a:spcPct val="0"/>
              </a:spcBef>
              <a:buFont typeface="Arial"/>
              <a:buChar char="•"/>
            </a:pPr>
            <a:r>
              <a:rPr lang="en-US" sz="3399" strike="noStrike" u="none">
                <a:solidFill>
                  <a:srgbClr val="000000"/>
                </a:solidFill>
                <a:latin typeface="Times New Roman"/>
                <a:ea typeface="Times New Roman"/>
                <a:cs typeface="Times New Roman"/>
                <a:sym typeface="Times New Roman"/>
              </a:rPr>
              <a:t>Ratings for a</a:t>
            </a:r>
            <a:r>
              <a:rPr lang="en-US" sz="3399" strike="noStrike" u="none">
                <a:solidFill>
                  <a:srgbClr val="000000"/>
                </a:solidFill>
                <a:latin typeface="Times New Roman"/>
                <a:ea typeface="Times New Roman"/>
                <a:cs typeface="Times New Roman"/>
                <a:sym typeface="Times New Roman"/>
              </a:rPr>
              <a:t>l</a:t>
            </a:r>
            <a:r>
              <a:rPr lang="en-US" sz="3399" strike="noStrike" u="none">
                <a:solidFill>
                  <a:srgbClr val="000000"/>
                </a:solidFill>
                <a:latin typeface="Times New Roman"/>
                <a:ea typeface="Times New Roman"/>
                <a:cs typeface="Times New Roman"/>
                <a:sym typeface="Times New Roman"/>
              </a:rPr>
              <a:t>l din</a:t>
            </a:r>
            <a:r>
              <a:rPr lang="en-US" sz="3399" strike="noStrike" u="none">
                <a:solidFill>
                  <a:srgbClr val="000000"/>
                </a:solidFill>
                <a:latin typeface="Times New Roman"/>
                <a:ea typeface="Times New Roman"/>
                <a:cs typeface="Times New Roman"/>
                <a:sym typeface="Times New Roman"/>
              </a:rPr>
              <a:t>i</a:t>
            </a:r>
            <a:r>
              <a:rPr lang="en-US" sz="3399" strike="noStrike" u="none">
                <a:solidFill>
                  <a:srgbClr val="000000"/>
                </a:solidFill>
                <a:latin typeface="Times New Roman"/>
                <a:ea typeface="Times New Roman"/>
                <a:cs typeface="Times New Roman"/>
                <a:sym typeface="Times New Roman"/>
              </a:rPr>
              <a:t>ng </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imes are mos</a:t>
            </a:r>
            <a:r>
              <a:rPr lang="en-US" sz="3399" strike="noStrike" u="none">
                <a:solidFill>
                  <a:srgbClr val="000000"/>
                </a:solidFill>
                <a:latin typeface="Times New Roman"/>
                <a:ea typeface="Times New Roman"/>
                <a:cs typeface="Times New Roman"/>
                <a:sym typeface="Times New Roman"/>
              </a:rPr>
              <a:t>tl</a:t>
            </a:r>
            <a:r>
              <a:rPr lang="en-US" sz="3399" strike="noStrike" u="none">
                <a:solidFill>
                  <a:srgbClr val="000000"/>
                </a:solidFill>
                <a:latin typeface="Times New Roman"/>
                <a:ea typeface="Times New Roman"/>
                <a:cs typeface="Times New Roman"/>
                <a:sym typeface="Times New Roman"/>
              </a:rPr>
              <a:t>y conc</a:t>
            </a:r>
            <a:r>
              <a:rPr lang="en-US" sz="3399" strike="noStrike" u="none">
                <a:solidFill>
                  <a:srgbClr val="000000"/>
                </a:solidFill>
                <a:latin typeface="Times New Roman"/>
                <a:ea typeface="Times New Roman"/>
                <a:cs typeface="Times New Roman"/>
                <a:sym typeface="Times New Roman"/>
              </a:rPr>
              <a:t>e</a:t>
            </a:r>
            <a:r>
              <a:rPr lang="en-US" sz="3399" strike="noStrike" u="none">
                <a:solidFill>
                  <a:srgbClr val="000000"/>
                </a:solidFill>
                <a:latin typeface="Times New Roman"/>
                <a:ea typeface="Times New Roman"/>
                <a:cs typeface="Times New Roman"/>
                <a:sym typeface="Times New Roman"/>
              </a:rPr>
              <a:t>ntrated</a:t>
            </a:r>
            <a:r>
              <a:rPr lang="en-US" sz="3399" strike="noStrike" u="none">
                <a:solidFill>
                  <a:srgbClr val="000000"/>
                </a:solidFill>
                <a:latin typeface="Times New Roman"/>
                <a:ea typeface="Times New Roman"/>
                <a:cs typeface="Times New Roman"/>
                <a:sym typeface="Times New Roman"/>
              </a:rPr>
              <a:t> b</a:t>
            </a:r>
            <a:r>
              <a:rPr lang="en-US" sz="3399" strike="noStrike" u="none">
                <a:solidFill>
                  <a:srgbClr val="000000"/>
                </a:solidFill>
                <a:latin typeface="Times New Roman"/>
                <a:ea typeface="Times New Roman"/>
                <a:cs typeface="Times New Roman"/>
                <a:sym typeface="Times New Roman"/>
              </a:rPr>
              <a:t>etween 4.0 and 4.5, </a:t>
            </a:r>
            <a:r>
              <a:rPr lang="en-US" sz="3399" strike="noStrike" u="none">
                <a:solidFill>
                  <a:srgbClr val="000000"/>
                </a:solidFill>
                <a:latin typeface="Times New Roman"/>
                <a:ea typeface="Times New Roman"/>
                <a:cs typeface="Times New Roman"/>
                <a:sym typeface="Times New Roman"/>
              </a:rPr>
              <a:t>i</a:t>
            </a:r>
            <a:r>
              <a:rPr lang="en-US" sz="3399" strike="noStrike" u="none">
                <a:solidFill>
                  <a:srgbClr val="000000"/>
                </a:solidFill>
                <a:latin typeface="Times New Roman"/>
                <a:ea typeface="Times New Roman"/>
                <a:cs typeface="Times New Roman"/>
                <a:sym typeface="Times New Roman"/>
              </a:rPr>
              <a:t>ndica</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ing</a:t>
            </a:r>
            <a:r>
              <a:rPr lang="en-US" sz="3399" strike="noStrike" u="none">
                <a:solidFill>
                  <a:srgbClr val="000000"/>
                </a:solidFill>
                <a:latin typeface="Times New Roman"/>
                <a:ea typeface="Times New Roman"/>
                <a:cs typeface="Times New Roman"/>
                <a:sym typeface="Times New Roman"/>
              </a:rPr>
              <a:t> </a:t>
            </a:r>
            <a:r>
              <a:rPr lang="en-US" sz="3399" strike="noStrike" u="none">
                <a:solidFill>
                  <a:srgbClr val="000000"/>
                </a:solidFill>
                <a:latin typeface="Times New Roman"/>
                <a:ea typeface="Times New Roman"/>
                <a:cs typeface="Times New Roman"/>
                <a:sym typeface="Times New Roman"/>
              </a:rPr>
              <a:t>generally high cust</a:t>
            </a:r>
            <a:r>
              <a:rPr lang="en-US" sz="3399" strike="noStrike" u="none">
                <a:solidFill>
                  <a:srgbClr val="000000"/>
                </a:solidFill>
                <a:latin typeface="Times New Roman"/>
                <a:ea typeface="Times New Roman"/>
                <a:cs typeface="Times New Roman"/>
                <a:sym typeface="Times New Roman"/>
              </a:rPr>
              <a:t>o</a:t>
            </a:r>
            <a:r>
              <a:rPr lang="en-US" sz="3399" strike="noStrike" u="none">
                <a:solidFill>
                  <a:srgbClr val="000000"/>
                </a:solidFill>
                <a:latin typeface="Times New Roman"/>
                <a:ea typeface="Times New Roman"/>
                <a:cs typeface="Times New Roman"/>
                <a:sym typeface="Times New Roman"/>
              </a:rPr>
              <a:t>mer satis</a:t>
            </a:r>
            <a:r>
              <a:rPr lang="en-US" sz="3399" strike="noStrike" u="none">
                <a:solidFill>
                  <a:srgbClr val="000000"/>
                </a:solidFill>
                <a:latin typeface="Times New Roman"/>
                <a:ea typeface="Times New Roman"/>
                <a:cs typeface="Times New Roman"/>
                <a:sym typeface="Times New Roman"/>
              </a:rPr>
              <a:t>f</a:t>
            </a:r>
            <a:r>
              <a:rPr lang="en-US" sz="3399" strike="noStrike" u="none">
                <a:solidFill>
                  <a:srgbClr val="000000"/>
                </a:solidFill>
                <a:latin typeface="Times New Roman"/>
                <a:ea typeface="Times New Roman"/>
                <a:cs typeface="Times New Roman"/>
                <a:sym typeface="Times New Roman"/>
              </a:rPr>
              <a:t>action.</a:t>
            </a:r>
          </a:p>
          <a:p>
            <a:pPr algn="l" marL="734059" indent="-367030" lvl="1">
              <a:lnSpc>
                <a:spcPts val="4759"/>
              </a:lnSpc>
              <a:spcBef>
                <a:spcPct val="0"/>
              </a:spcBef>
              <a:buFont typeface="Arial"/>
              <a:buChar char="•"/>
            </a:pPr>
            <a:r>
              <a:rPr lang="en-US" sz="3399" strike="noStrike" u="none">
                <a:solidFill>
                  <a:srgbClr val="000000"/>
                </a:solidFill>
                <a:latin typeface="Times New Roman"/>
                <a:ea typeface="Times New Roman"/>
                <a:cs typeface="Times New Roman"/>
                <a:sym typeface="Times New Roman"/>
              </a:rPr>
              <a:t>Dinner</a:t>
            </a:r>
            <a:r>
              <a:rPr lang="en-US" sz="3399" strike="noStrike" u="none">
                <a:solidFill>
                  <a:srgbClr val="000000"/>
                </a:solidFill>
                <a:latin typeface="Times New Roman"/>
                <a:ea typeface="Times New Roman"/>
                <a:cs typeface="Times New Roman"/>
                <a:sym typeface="Times New Roman"/>
              </a:rPr>
              <a:t> </a:t>
            </a:r>
            <a:r>
              <a:rPr lang="en-US" sz="3399" strike="noStrike" u="none">
                <a:solidFill>
                  <a:srgbClr val="000000"/>
                </a:solidFill>
                <a:latin typeface="Times New Roman"/>
                <a:ea typeface="Times New Roman"/>
                <a:cs typeface="Times New Roman"/>
                <a:sym typeface="Times New Roman"/>
              </a:rPr>
              <a:t>and Lunch appear to have slightly wider distri</a:t>
            </a:r>
            <a:r>
              <a:rPr lang="en-US" sz="3399" strike="noStrike" u="none">
                <a:solidFill>
                  <a:srgbClr val="000000"/>
                </a:solidFill>
                <a:latin typeface="Times New Roman"/>
                <a:ea typeface="Times New Roman"/>
                <a:cs typeface="Times New Roman"/>
                <a:sym typeface="Times New Roman"/>
              </a:rPr>
              <a:t>b</a:t>
            </a:r>
            <a:r>
              <a:rPr lang="en-US" sz="3399" strike="noStrike" u="none">
                <a:solidFill>
                  <a:srgbClr val="000000"/>
                </a:solidFill>
                <a:latin typeface="Times New Roman"/>
                <a:ea typeface="Times New Roman"/>
                <a:cs typeface="Times New Roman"/>
                <a:sym typeface="Times New Roman"/>
              </a:rPr>
              <a:t>uti</a:t>
            </a:r>
            <a:r>
              <a:rPr lang="en-US" sz="3399" strike="noStrike" u="none">
                <a:solidFill>
                  <a:srgbClr val="000000"/>
                </a:solidFill>
                <a:latin typeface="Times New Roman"/>
                <a:ea typeface="Times New Roman"/>
                <a:cs typeface="Times New Roman"/>
                <a:sym typeface="Times New Roman"/>
              </a:rPr>
              <a:t>o</a:t>
            </a:r>
            <a:r>
              <a:rPr lang="en-US" sz="3399" strike="noStrike" u="none">
                <a:solidFill>
                  <a:srgbClr val="000000"/>
                </a:solidFill>
                <a:latin typeface="Times New Roman"/>
                <a:ea typeface="Times New Roman"/>
                <a:cs typeface="Times New Roman"/>
                <a:sym typeface="Times New Roman"/>
              </a:rPr>
              <a:t>ns, suggesting a larger variety of restaurants an</a:t>
            </a:r>
            <a:r>
              <a:rPr lang="en-US" sz="3399" strike="noStrike" u="none">
                <a:solidFill>
                  <a:srgbClr val="000000"/>
                </a:solidFill>
                <a:latin typeface="Times New Roman"/>
                <a:ea typeface="Times New Roman"/>
                <a:cs typeface="Times New Roman"/>
                <a:sym typeface="Times New Roman"/>
              </a:rPr>
              <a:t>d</a:t>
            </a:r>
            <a:r>
              <a:rPr lang="en-US" sz="3399" strike="noStrike" u="none">
                <a:solidFill>
                  <a:srgbClr val="000000"/>
                </a:solidFill>
                <a:latin typeface="Times New Roman"/>
                <a:ea typeface="Times New Roman"/>
                <a:cs typeface="Times New Roman"/>
                <a:sym typeface="Times New Roman"/>
              </a:rPr>
              <a:t> rating experiences during these times.</a:t>
            </a:r>
          </a:p>
          <a:p>
            <a:pPr algn="l" marL="734059" indent="-367030" lvl="1">
              <a:lnSpc>
                <a:spcPts val="4759"/>
              </a:lnSpc>
              <a:spcBef>
                <a:spcPct val="0"/>
              </a:spcBef>
              <a:buFont typeface="Arial"/>
              <a:buChar char="•"/>
            </a:pPr>
            <a:r>
              <a:rPr lang="en-US" sz="3399" strike="noStrike" u="none">
                <a:solidFill>
                  <a:srgbClr val="000000"/>
                </a:solidFill>
                <a:latin typeface="Times New Roman"/>
                <a:ea typeface="Times New Roman"/>
                <a:cs typeface="Times New Roman"/>
                <a:sym typeface="Times New Roman"/>
              </a:rPr>
              <a:t>Breakfast shows a slightl</a:t>
            </a:r>
            <a:r>
              <a:rPr lang="en-US" sz="3399" strike="noStrike" u="none">
                <a:solidFill>
                  <a:srgbClr val="000000"/>
                </a:solidFill>
                <a:latin typeface="Times New Roman"/>
                <a:ea typeface="Times New Roman"/>
                <a:cs typeface="Times New Roman"/>
                <a:sym typeface="Times New Roman"/>
              </a:rPr>
              <a:t>y </a:t>
            </a:r>
            <a:r>
              <a:rPr lang="en-US" sz="3399" strike="noStrike" u="none">
                <a:solidFill>
                  <a:srgbClr val="000000"/>
                </a:solidFill>
                <a:latin typeface="Times New Roman"/>
                <a:ea typeface="Times New Roman"/>
                <a:cs typeface="Times New Roman"/>
                <a:sym typeface="Times New Roman"/>
              </a:rPr>
              <a:t>narrower dis</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ribution, m</a:t>
            </a:r>
            <a:r>
              <a:rPr lang="en-US" sz="3399" strike="noStrike" u="none">
                <a:solidFill>
                  <a:srgbClr val="000000"/>
                </a:solidFill>
                <a:latin typeface="Times New Roman"/>
                <a:ea typeface="Times New Roman"/>
                <a:cs typeface="Times New Roman"/>
                <a:sym typeface="Times New Roman"/>
              </a:rPr>
              <a:t>e</a:t>
            </a:r>
            <a:r>
              <a:rPr lang="en-US" sz="3399" strike="noStrike" u="none">
                <a:solidFill>
                  <a:srgbClr val="000000"/>
                </a:solidFill>
                <a:latin typeface="Times New Roman"/>
                <a:ea typeface="Times New Roman"/>
                <a:cs typeface="Times New Roman"/>
                <a:sym typeface="Times New Roman"/>
              </a:rPr>
              <a:t>aning ra</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ings are more consistent.</a:t>
            </a:r>
          </a:p>
          <a:p>
            <a:pPr algn="l" marL="0" indent="0" lvl="0">
              <a:lnSpc>
                <a:spcPts val="4759"/>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grpSp>
        <p:nvGrpSpPr>
          <p:cNvPr name="Group 3" id="3"/>
          <p:cNvGrpSpPr/>
          <p:nvPr/>
        </p:nvGrpSpPr>
        <p:grpSpPr>
          <a:xfrm rot="0">
            <a:off x="13221348" y="9277474"/>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Freeform 5" id="5"/>
          <p:cNvSpPr/>
          <p:nvPr/>
        </p:nvSpPr>
        <p:spPr>
          <a:xfrm flipH="false" flipV="false" rot="0">
            <a:off x="9466508" y="1707396"/>
            <a:ext cx="8821492" cy="5975219"/>
          </a:xfrm>
          <a:custGeom>
            <a:avLst/>
            <a:gdLst/>
            <a:ahLst/>
            <a:cxnLst/>
            <a:rect r="r" b="b" t="t" l="l"/>
            <a:pathLst>
              <a:path h="5975219" w="8821492">
                <a:moveTo>
                  <a:pt x="0" y="0"/>
                </a:moveTo>
                <a:lnTo>
                  <a:pt x="8821492" y="0"/>
                </a:lnTo>
                <a:lnTo>
                  <a:pt x="8821492" y="5975219"/>
                </a:lnTo>
                <a:lnTo>
                  <a:pt x="0" y="5975219"/>
                </a:lnTo>
                <a:lnTo>
                  <a:pt x="0" y="0"/>
                </a:lnTo>
                <a:close/>
              </a:path>
            </a:pathLst>
          </a:custGeom>
          <a:blipFill>
            <a:blip r:embed="rId3"/>
            <a:stretch>
              <a:fillRect l="-3411" t="0" r="0" b="0"/>
            </a:stretch>
          </a:blipFill>
        </p:spPr>
      </p:sp>
      <p:sp>
        <p:nvSpPr>
          <p:cNvPr name="TextBox 6" id="6"/>
          <p:cNvSpPr txBox="true"/>
          <p:nvPr/>
        </p:nvSpPr>
        <p:spPr>
          <a:xfrm rot="0">
            <a:off x="266700" y="877451"/>
            <a:ext cx="8704757" cy="915670"/>
          </a:xfrm>
          <a:prstGeom prst="rect">
            <a:avLst/>
          </a:prstGeom>
        </p:spPr>
        <p:txBody>
          <a:bodyPr anchor="t" rtlCol="false" tIns="0" lIns="0" bIns="0" rIns="0">
            <a:spAutoFit/>
          </a:bodyPr>
          <a:lstStyle/>
          <a:p>
            <a:pPr algn="ctr" marL="0" indent="0" lvl="0">
              <a:lnSpc>
                <a:spcPts val="7279"/>
              </a:lnSpc>
              <a:spcBef>
                <a:spcPct val="0"/>
              </a:spcBef>
            </a:pPr>
            <a:r>
              <a:rPr lang="en-US" b="true" sz="5199">
                <a:solidFill>
                  <a:srgbClr val="E52328"/>
                </a:solidFill>
                <a:latin typeface="Times New Roman Bold"/>
                <a:ea typeface="Times New Roman Bold"/>
                <a:cs typeface="Times New Roman Bold"/>
                <a:sym typeface="Times New Roman Bold"/>
              </a:rPr>
              <a:t>EDA - Bivariate analysis:</a:t>
            </a:r>
          </a:p>
        </p:txBody>
      </p:sp>
      <p:sp>
        <p:nvSpPr>
          <p:cNvPr name="TextBox 7" id="7"/>
          <p:cNvSpPr txBox="true"/>
          <p:nvPr/>
        </p:nvSpPr>
        <p:spPr>
          <a:xfrm rot="0">
            <a:off x="542505" y="1981898"/>
            <a:ext cx="9451647" cy="7800339"/>
          </a:xfrm>
          <a:prstGeom prst="rect">
            <a:avLst/>
          </a:prstGeom>
        </p:spPr>
        <p:txBody>
          <a:bodyPr anchor="t" rtlCol="false" tIns="0" lIns="0" bIns="0" rIns="0">
            <a:spAutoFit/>
          </a:bodyPr>
          <a:lstStyle/>
          <a:p>
            <a:pPr algn="l" marL="734069" indent="-367035" lvl="1">
              <a:lnSpc>
                <a:spcPts val="4760"/>
              </a:lnSpc>
              <a:spcBef>
                <a:spcPct val="0"/>
              </a:spcBef>
              <a:buFont typeface="Arial"/>
              <a:buChar char="•"/>
            </a:pPr>
            <a:r>
              <a:rPr lang="en-US" sz="3400">
                <a:solidFill>
                  <a:srgbClr val="000000"/>
                </a:solidFill>
                <a:latin typeface="Times New Roman"/>
                <a:ea typeface="Times New Roman"/>
                <a:cs typeface="Times New Roman"/>
                <a:sym typeface="Times New Roman"/>
              </a:rPr>
              <a:t>The scatter plot shows the relationship between restaurant price an</a:t>
            </a:r>
            <a:r>
              <a:rPr lang="en-US" sz="3400" strike="noStrike" u="none">
                <a:solidFill>
                  <a:srgbClr val="000000"/>
                </a:solidFill>
                <a:latin typeface="Times New Roman"/>
                <a:ea typeface="Times New Roman"/>
                <a:cs typeface="Times New Roman"/>
                <a:sym typeface="Times New Roman"/>
              </a:rPr>
              <a:t>d</a:t>
            </a:r>
            <a:r>
              <a:rPr lang="en-US" sz="3400" strike="noStrike" u="none">
                <a:solidFill>
                  <a:srgbClr val="000000"/>
                </a:solidFill>
                <a:latin typeface="Times New Roman"/>
                <a:ea typeface="Times New Roman"/>
                <a:cs typeface="Times New Roman"/>
                <a:sym typeface="Times New Roman"/>
              </a:rPr>
              <a:t> customer ratings.</a:t>
            </a:r>
          </a:p>
          <a:p>
            <a:pPr algn="l" marL="734069" indent="-367035" lvl="1">
              <a:lnSpc>
                <a:spcPts val="4760"/>
              </a:lnSpc>
              <a:spcBef>
                <a:spcPct val="0"/>
              </a:spcBef>
              <a:buFont typeface="Arial"/>
              <a:buChar char="•"/>
            </a:pPr>
            <a:r>
              <a:rPr lang="en-US" sz="3400" strike="noStrike" u="none">
                <a:solidFill>
                  <a:srgbClr val="000000"/>
                </a:solidFill>
                <a:latin typeface="Times New Roman"/>
                <a:ea typeface="Times New Roman"/>
                <a:cs typeface="Times New Roman"/>
                <a:sym typeface="Times New Roman"/>
              </a:rPr>
              <a:t>Most restaurants are clustere</a:t>
            </a:r>
            <a:r>
              <a:rPr lang="en-US" sz="3400" strike="noStrike" u="none">
                <a:solidFill>
                  <a:srgbClr val="000000"/>
                </a:solidFill>
                <a:latin typeface="Times New Roman"/>
                <a:ea typeface="Times New Roman"/>
                <a:cs typeface="Times New Roman"/>
                <a:sym typeface="Times New Roman"/>
              </a:rPr>
              <a:t>d </a:t>
            </a:r>
            <a:r>
              <a:rPr lang="en-US" sz="3400" strike="noStrike" u="none">
                <a:solidFill>
                  <a:srgbClr val="000000"/>
                </a:solidFill>
                <a:latin typeface="Times New Roman"/>
                <a:ea typeface="Times New Roman"/>
                <a:cs typeface="Times New Roman"/>
                <a:sym typeface="Times New Roman"/>
              </a:rPr>
              <a:t>in the ₹800 – ₹2500 price r</a:t>
            </a:r>
            <a:r>
              <a:rPr lang="en-US" sz="3400" strike="noStrike" u="none">
                <a:solidFill>
                  <a:srgbClr val="000000"/>
                </a:solidFill>
                <a:latin typeface="Times New Roman"/>
                <a:ea typeface="Times New Roman"/>
                <a:cs typeface="Times New Roman"/>
                <a:sym typeface="Times New Roman"/>
              </a:rPr>
              <a:t>a</a:t>
            </a:r>
            <a:r>
              <a:rPr lang="en-US" sz="3400" strike="noStrike" u="none">
                <a:solidFill>
                  <a:srgbClr val="000000"/>
                </a:solidFill>
                <a:latin typeface="Times New Roman"/>
                <a:ea typeface="Times New Roman"/>
                <a:cs typeface="Times New Roman"/>
                <a:sym typeface="Times New Roman"/>
              </a:rPr>
              <a:t>nge.</a:t>
            </a:r>
          </a:p>
          <a:p>
            <a:pPr algn="l" marL="734069" indent="-367035" lvl="1">
              <a:lnSpc>
                <a:spcPts val="4760"/>
              </a:lnSpc>
              <a:spcBef>
                <a:spcPct val="0"/>
              </a:spcBef>
              <a:buFont typeface="Arial"/>
              <a:buChar char="•"/>
            </a:pPr>
            <a:r>
              <a:rPr lang="en-US" sz="3400" strike="noStrike" u="none">
                <a:solidFill>
                  <a:srgbClr val="000000"/>
                </a:solidFill>
                <a:latin typeface="Times New Roman"/>
                <a:ea typeface="Times New Roman"/>
                <a:cs typeface="Times New Roman"/>
                <a:sym typeface="Times New Roman"/>
              </a:rPr>
              <a:t>Ratings</a:t>
            </a:r>
            <a:r>
              <a:rPr lang="en-US" sz="3400" strike="noStrike" u="none">
                <a:solidFill>
                  <a:srgbClr val="000000"/>
                </a:solidFill>
                <a:latin typeface="Times New Roman"/>
                <a:ea typeface="Times New Roman"/>
                <a:cs typeface="Times New Roman"/>
                <a:sym typeface="Times New Roman"/>
              </a:rPr>
              <a:t> </a:t>
            </a:r>
            <a:r>
              <a:rPr lang="en-US" sz="3400" strike="noStrike" u="none">
                <a:solidFill>
                  <a:srgbClr val="000000"/>
                </a:solidFill>
                <a:latin typeface="Times New Roman"/>
                <a:ea typeface="Times New Roman"/>
                <a:cs typeface="Times New Roman"/>
                <a:sym typeface="Times New Roman"/>
              </a:rPr>
              <a:t>for the majority of re</a:t>
            </a:r>
            <a:r>
              <a:rPr lang="en-US" sz="3400" strike="noStrike" u="none">
                <a:solidFill>
                  <a:srgbClr val="000000"/>
                </a:solidFill>
                <a:latin typeface="Times New Roman"/>
                <a:ea typeface="Times New Roman"/>
                <a:cs typeface="Times New Roman"/>
                <a:sym typeface="Times New Roman"/>
              </a:rPr>
              <a:t>s</a:t>
            </a:r>
            <a:r>
              <a:rPr lang="en-US" sz="3400" strike="noStrike" u="none">
                <a:solidFill>
                  <a:srgbClr val="000000"/>
                </a:solidFill>
                <a:latin typeface="Times New Roman"/>
                <a:ea typeface="Times New Roman"/>
                <a:cs typeface="Times New Roman"/>
                <a:sym typeface="Times New Roman"/>
              </a:rPr>
              <a:t>ta</a:t>
            </a:r>
            <a:r>
              <a:rPr lang="en-US" sz="3400" strike="noStrike" u="none">
                <a:solidFill>
                  <a:srgbClr val="000000"/>
                </a:solidFill>
                <a:latin typeface="Times New Roman"/>
                <a:ea typeface="Times New Roman"/>
                <a:cs typeface="Times New Roman"/>
                <a:sym typeface="Times New Roman"/>
              </a:rPr>
              <a:t>u</a:t>
            </a:r>
            <a:r>
              <a:rPr lang="en-US" sz="3400" strike="noStrike" u="none">
                <a:solidFill>
                  <a:srgbClr val="000000"/>
                </a:solidFill>
                <a:latin typeface="Times New Roman"/>
                <a:ea typeface="Times New Roman"/>
                <a:cs typeface="Times New Roman"/>
                <a:sym typeface="Times New Roman"/>
              </a:rPr>
              <a:t>rants fall </a:t>
            </a:r>
            <a:r>
              <a:rPr lang="en-US" sz="3400" strike="noStrike" u="none">
                <a:solidFill>
                  <a:srgbClr val="000000"/>
                </a:solidFill>
                <a:latin typeface="Times New Roman"/>
                <a:ea typeface="Times New Roman"/>
                <a:cs typeface="Times New Roman"/>
                <a:sym typeface="Times New Roman"/>
              </a:rPr>
              <a:t>b</a:t>
            </a:r>
            <a:r>
              <a:rPr lang="en-US" sz="3400" strike="noStrike" u="none">
                <a:solidFill>
                  <a:srgbClr val="000000"/>
                </a:solidFill>
                <a:latin typeface="Times New Roman"/>
                <a:ea typeface="Times New Roman"/>
                <a:cs typeface="Times New Roman"/>
                <a:sym typeface="Times New Roman"/>
              </a:rPr>
              <a:t>etween 3.5 and 4.5.</a:t>
            </a:r>
          </a:p>
          <a:p>
            <a:pPr algn="l" marL="734069" indent="-367035" lvl="1">
              <a:lnSpc>
                <a:spcPts val="4760"/>
              </a:lnSpc>
              <a:spcBef>
                <a:spcPct val="0"/>
              </a:spcBef>
              <a:buFont typeface="Arial"/>
              <a:buChar char="•"/>
            </a:pPr>
            <a:r>
              <a:rPr lang="en-US" sz="3400" strike="noStrike" u="none">
                <a:solidFill>
                  <a:srgbClr val="000000"/>
                </a:solidFill>
                <a:latin typeface="Times New Roman"/>
                <a:ea typeface="Times New Roman"/>
                <a:cs typeface="Times New Roman"/>
                <a:sym typeface="Times New Roman"/>
              </a:rPr>
              <a:t>Only a few restaurants </a:t>
            </a:r>
            <a:r>
              <a:rPr lang="en-US" sz="3400" strike="noStrike" u="none">
                <a:solidFill>
                  <a:srgbClr val="000000"/>
                </a:solidFill>
                <a:latin typeface="Times New Roman"/>
                <a:ea typeface="Times New Roman"/>
                <a:cs typeface="Times New Roman"/>
                <a:sym typeface="Times New Roman"/>
              </a:rPr>
              <a:t>h</a:t>
            </a:r>
            <a:r>
              <a:rPr lang="en-US" sz="3400" strike="noStrike" u="none">
                <a:solidFill>
                  <a:srgbClr val="000000"/>
                </a:solidFill>
                <a:latin typeface="Times New Roman"/>
                <a:ea typeface="Times New Roman"/>
                <a:cs typeface="Times New Roman"/>
                <a:sym typeface="Times New Roman"/>
              </a:rPr>
              <a:t>av</a:t>
            </a:r>
            <a:r>
              <a:rPr lang="en-US" sz="3400" strike="noStrike" u="none">
                <a:solidFill>
                  <a:srgbClr val="000000"/>
                </a:solidFill>
                <a:latin typeface="Times New Roman"/>
                <a:ea typeface="Times New Roman"/>
                <a:cs typeface="Times New Roman"/>
                <a:sym typeface="Times New Roman"/>
              </a:rPr>
              <a:t>e</a:t>
            </a:r>
            <a:r>
              <a:rPr lang="en-US" sz="3400" strike="noStrike" u="none">
                <a:solidFill>
                  <a:srgbClr val="000000"/>
                </a:solidFill>
                <a:latin typeface="Times New Roman"/>
                <a:ea typeface="Times New Roman"/>
                <a:cs typeface="Times New Roman"/>
                <a:sym typeface="Times New Roman"/>
              </a:rPr>
              <a:t> prices </a:t>
            </a:r>
            <a:r>
              <a:rPr lang="en-US" sz="3400" strike="noStrike" u="none">
                <a:solidFill>
                  <a:srgbClr val="000000"/>
                </a:solidFill>
                <a:latin typeface="Times New Roman"/>
                <a:ea typeface="Times New Roman"/>
                <a:cs typeface="Times New Roman"/>
                <a:sym typeface="Times New Roman"/>
              </a:rPr>
              <a:t>a</a:t>
            </a:r>
            <a:r>
              <a:rPr lang="en-US" sz="3400" strike="noStrike" u="none">
                <a:solidFill>
                  <a:srgbClr val="000000"/>
                </a:solidFill>
                <a:latin typeface="Times New Roman"/>
                <a:ea typeface="Times New Roman"/>
                <a:cs typeface="Times New Roman"/>
                <a:sym typeface="Times New Roman"/>
              </a:rPr>
              <a:t>bove ₹4000, in</a:t>
            </a:r>
            <a:r>
              <a:rPr lang="en-US" sz="3400" strike="noStrike" u="none">
                <a:solidFill>
                  <a:srgbClr val="000000"/>
                </a:solidFill>
                <a:latin typeface="Times New Roman"/>
                <a:ea typeface="Times New Roman"/>
                <a:cs typeface="Times New Roman"/>
                <a:sym typeface="Times New Roman"/>
              </a:rPr>
              <a:t>di</a:t>
            </a:r>
            <a:r>
              <a:rPr lang="en-US" sz="3400" strike="noStrike" u="none">
                <a:solidFill>
                  <a:srgbClr val="000000"/>
                </a:solidFill>
                <a:latin typeface="Times New Roman"/>
                <a:ea typeface="Times New Roman"/>
                <a:cs typeface="Times New Roman"/>
                <a:sym typeface="Times New Roman"/>
              </a:rPr>
              <a:t>cati</a:t>
            </a:r>
            <a:r>
              <a:rPr lang="en-US" sz="3400" strike="noStrike" u="none">
                <a:solidFill>
                  <a:srgbClr val="000000"/>
                </a:solidFill>
                <a:latin typeface="Times New Roman"/>
                <a:ea typeface="Times New Roman"/>
                <a:cs typeface="Times New Roman"/>
                <a:sym typeface="Times New Roman"/>
              </a:rPr>
              <a:t>ng</a:t>
            </a:r>
            <a:r>
              <a:rPr lang="en-US" sz="3400" strike="noStrike" u="none">
                <a:solidFill>
                  <a:srgbClr val="000000"/>
                </a:solidFill>
                <a:latin typeface="Times New Roman"/>
                <a:ea typeface="Times New Roman"/>
                <a:cs typeface="Times New Roman"/>
                <a:sym typeface="Times New Roman"/>
              </a:rPr>
              <a:t> that premium restaurants are relatively rare.</a:t>
            </a:r>
          </a:p>
          <a:p>
            <a:pPr algn="l" marL="734069" indent="-367035" lvl="1">
              <a:lnSpc>
                <a:spcPts val="4760"/>
              </a:lnSpc>
              <a:spcBef>
                <a:spcPct val="0"/>
              </a:spcBef>
              <a:buFont typeface="Arial"/>
              <a:buChar char="•"/>
            </a:pPr>
            <a:r>
              <a:rPr lang="en-US" sz="3400" strike="noStrike" u="none">
                <a:solidFill>
                  <a:srgbClr val="000000"/>
                </a:solidFill>
                <a:latin typeface="Times New Roman"/>
                <a:ea typeface="Times New Roman"/>
                <a:cs typeface="Times New Roman"/>
                <a:sym typeface="Times New Roman"/>
              </a:rPr>
              <a:t>Some lower-priced restaurants also receive high ratings, showing that affordability does not necessarily mean poor quality.</a:t>
            </a:r>
          </a:p>
          <a:p>
            <a:pPr algn="l" marL="0" indent="0" lvl="0">
              <a:lnSpc>
                <a:spcPts val="476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grpSp>
        <p:nvGrpSpPr>
          <p:cNvPr name="Group 3" id="3"/>
          <p:cNvGrpSpPr/>
          <p:nvPr/>
        </p:nvGrpSpPr>
        <p:grpSpPr>
          <a:xfrm rot="0">
            <a:off x="13221348" y="9277474"/>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Freeform 5" id="5"/>
          <p:cNvSpPr/>
          <p:nvPr/>
        </p:nvSpPr>
        <p:spPr>
          <a:xfrm flipH="false" flipV="false" rot="0">
            <a:off x="8791643" y="1619261"/>
            <a:ext cx="9267804" cy="5942521"/>
          </a:xfrm>
          <a:custGeom>
            <a:avLst/>
            <a:gdLst/>
            <a:ahLst/>
            <a:cxnLst/>
            <a:rect r="r" b="b" t="t" l="l"/>
            <a:pathLst>
              <a:path h="5942521" w="9267804">
                <a:moveTo>
                  <a:pt x="0" y="0"/>
                </a:moveTo>
                <a:lnTo>
                  <a:pt x="9267805" y="0"/>
                </a:lnTo>
                <a:lnTo>
                  <a:pt x="9267805" y="5942521"/>
                </a:lnTo>
                <a:lnTo>
                  <a:pt x="0" y="5942521"/>
                </a:lnTo>
                <a:lnTo>
                  <a:pt x="0" y="0"/>
                </a:lnTo>
                <a:close/>
              </a:path>
            </a:pathLst>
          </a:custGeom>
          <a:blipFill>
            <a:blip r:embed="rId3"/>
            <a:stretch>
              <a:fillRect l="0" t="0" r="0" b="0"/>
            </a:stretch>
          </a:blipFill>
        </p:spPr>
      </p:sp>
      <p:sp>
        <p:nvSpPr>
          <p:cNvPr name="TextBox 6" id="6"/>
          <p:cNvSpPr txBox="true"/>
          <p:nvPr/>
        </p:nvSpPr>
        <p:spPr>
          <a:xfrm rot="0">
            <a:off x="-1739182" y="839481"/>
            <a:ext cx="13717717" cy="932180"/>
          </a:xfrm>
          <a:prstGeom prst="rect">
            <a:avLst/>
          </a:prstGeom>
        </p:spPr>
        <p:txBody>
          <a:bodyPr anchor="t" rtlCol="false" tIns="0" lIns="0" bIns="0" rIns="0">
            <a:spAutoFit/>
          </a:bodyPr>
          <a:lstStyle/>
          <a:p>
            <a:pPr algn="ctr" marL="0" indent="0" lvl="0">
              <a:lnSpc>
                <a:spcPts val="7419"/>
              </a:lnSpc>
              <a:spcBef>
                <a:spcPct val="0"/>
              </a:spcBef>
            </a:pPr>
            <a:r>
              <a:rPr lang="en-US" b="true" sz="5299">
                <a:solidFill>
                  <a:srgbClr val="E52328"/>
                </a:solidFill>
                <a:latin typeface="Times New Roman Bold"/>
                <a:ea typeface="Times New Roman Bold"/>
                <a:cs typeface="Times New Roman Bold"/>
                <a:sym typeface="Times New Roman Bold"/>
              </a:rPr>
              <a:t>EDA - Multivariate analysis:</a:t>
            </a:r>
          </a:p>
        </p:txBody>
      </p:sp>
      <p:sp>
        <p:nvSpPr>
          <p:cNvPr name="TextBox 7" id="7"/>
          <p:cNvSpPr txBox="true"/>
          <p:nvPr/>
        </p:nvSpPr>
        <p:spPr>
          <a:xfrm rot="0">
            <a:off x="691337" y="1964542"/>
            <a:ext cx="8927281" cy="6625951"/>
          </a:xfrm>
          <a:prstGeom prst="rect">
            <a:avLst/>
          </a:prstGeom>
        </p:spPr>
        <p:txBody>
          <a:bodyPr anchor="t" rtlCol="false" tIns="0" lIns="0" bIns="0" rIns="0">
            <a:spAutoFit/>
          </a:bodyPr>
          <a:lstStyle/>
          <a:p>
            <a:pPr algn="l" marL="540104" indent="-270052" lvl="1">
              <a:lnSpc>
                <a:spcPts val="3502"/>
              </a:lnSpc>
              <a:spcBef>
                <a:spcPct val="0"/>
              </a:spcBef>
              <a:buFont typeface="Arial"/>
              <a:buChar char="•"/>
            </a:pPr>
            <a:r>
              <a:rPr lang="en-US" sz="2501">
                <a:solidFill>
                  <a:srgbClr val="000000"/>
                </a:solidFill>
                <a:latin typeface="Times New Roman"/>
                <a:ea typeface="Times New Roman"/>
                <a:cs typeface="Times New Roman"/>
                <a:sym typeface="Times New Roman"/>
              </a:rPr>
              <a:t>The heatmap shows the correlation between Rating, Price, Offers (%), and B</a:t>
            </a:r>
            <a:r>
              <a:rPr lang="en-US" sz="2501" strike="noStrike" u="none">
                <a:solidFill>
                  <a:srgbClr val="000000"/>
                </a:solidFill>
                <a:latin typeface="Times New Roman"/>
                <a:ea typeface="Times New Roman"/>
                <a:cs typeface="Times New Roman"/>
                <a:sym typeface="Times New Roman"/>
              </a:rPr>
              <a:t>a</a:t>
            </a:r>
            <a:r>
              <a:rPr lang="en-US" sz="2501" strike="noStrike" u="none">
                <a:solidFill>
                  <a:srgbClr val="000000"/>
                </a:solidFill>
                <a:latin typeface="Times New Roman"/>
                <a:ea typeface="Times New Roman"/>
                <a:cs typeface="Times New Roman"/>
                <a:sym typeface="Times New Roman"/>
              </a:rPr>
              <a:t>nk</a:t>
            </a:r>
            <a:r>
              <a:rPr lang="en-US" sz="2501" strike="noStrike" u="none">
                <a:solidFill>
                  <a:srgbClr val="000000"/>
                </a:solidFill>
                <a:latin typeface="Times New Roman"/>
                <a:ea typeface="Times New Roman"/>
                <a:cs typeface="Times New Roman"/>
                <a:sym typeface="Times New Roman"/>
              </a:rPr>
              <a:t> Offers</a:t>
            </a:r>
            <a:r>
              <a:rPr lang="en-US" sz="2501" strike="noStrike" u="none">
                <a:solidFill>
                  <a:srgbClr val="000000"/>
                </a:solidFill>
                <a:latin typeface="Times New Roman"/>
                <a:ea typeface="Times New Roman"/>
                <a:cs typeface="Times New Roman"/>
                <a:sym typeface="Times New Roman"/>
              </a:rPr>
              <a:t> (%)</a:t>
            </a:r>
            <a:r>
              <a:rPr lang="en-US" sz="2501" strike="noStrike" u="none">
                <a:solidFill>
                  <a:srgbClr val="000000"/>
                </a:solidFill>
                <a:latin typeface="Times New Roman"/>
                <a:ea typeface="Times New Roman"/>
                <a:cs typeface="Times New Roman"/>
                <a:sym typeface="Times New Roman"/>
              </a:rPr>
              <a:t>.</a:t>
            </a:r>
          </a:p>
          <a:p>
            <a:pPr algn="l" marL="540104" indent="-270052" lvl="1">
              <a:lnSpc>
                <a:spcPts val="3502"/>
              </a:lnSpc>
              <a:spcBef>
                <a:spcPct val="0"/>
              </a:spcBef>
              <a:buFont typeface="Arial"/>
              <a:buChar char="•"/>
            </a:pPr>
            <a:r>
              <a:rPr lang="en-US" sz="2501" strike="noStrike" u="none">
                <a:solidFill>
                  <a:srgbClr val="000000"/>
                </a:solidFill>
                <a:latin typeface="Times New Roman"/>
                <a:ea typeface="Times New Roman"/>
                <a:cs typeface="Times New Roman"/>
                <a:sym typeface="Times New Roman"/>
              </a:rPr>
              <a:t>The correlation between Price and Rating is very weak (</a:t>
            </a:r>
            <a:r>
              <a:rPr lang="en-US" sz="2501" strike="noStrike" u="none">
                <a:solidFill>
                  <a:srgbClr val="000000"/>
                </a:solidFill>
                <a:latin typeface="Times New Roman"/>
                <a:ea typeface="Times New Roman"/>
                <a:cs typeface="Times New Roman"/>
                <a:sym typeface="Times New Roman"/>
              </a:rPr>
              <a:t>~</a:t>
            </a:r>
            <a:r>
              <a:rPr lang="en-US" sz="2501" strike="noStrike" u="none">
                <a:solidFill>
                  <a:srgbClr val="000000"/>
                </a:solidFill>
                <a:latin typeface="Times New Roman"/>
                <a:ea typeface="Times New Roman"/>
                <a:cs typeface="Times New Roman"/>
                <a:sym typeface="Times New Roman"/>
              </a:rPr>
              <a:t>0.08), indicating that </a:t>
            </a:r>
            <a:r>
              <a:rPr lang="en-US" sz="2501" strike="noStrike" u="none">
                <a:solidFill>
                  <a:srgbClr val="000000"/>
                </a:solidFill>
                <a:latin typeface="Times New Roman"/>
                <a:ea typeface="Times New Roman"/>
                <a:cs typeface="Times New Roman"/>
                <a:sym typeface="Times New Roman"/>
              </a:rPr>
              <a:t>expens</a:t>
            </a:r>
            <a:r>
              <a:rPr lang="en-US" sz="2501" strike="noStrike" u="none">
                <a:solidFill>
                  <a:srgbClr val="000000"/>
                </a:solidFill>
                <a:latin typeface="Times New Roman"/>
                <a:ea typeface="Times New Roman"/>
                <a:cs typeface="Times New Roman"/>
                <a:sym typeface="Times New Roman"/>
              </a:rPr>
              <a:t>i</a:t>
            </a:r>
            <a:r>
              <a:rPr lang="en-US" sz="2501" strike="noStrike" u="none">
                <a:solidFill>
                  <a:srgbClr val="000000"/>
                </a:solidFill>
                <a:latin typeface="Times New Roman"/>
                <a:ea typeface="Times New Roman"/>
                <a:cs typeface="Times New Roman"/>
                <a:sym typeface="Times New Roman"/>
              </a:rPr>
              <a:t>v</a:t>
            </a:r>
            <a:r>
              <a:rPr lang="en-US" sz="2501" strike="noStrike" u="none">
                <a:solidFill>
                  <a:srgbClr val="000000"/>
                </a:solidFill>
                <a:latin typeface="Times New Roman"/>
                <a:ea typeface="Times New Roman"/>
                <a:cs typeface="Times New Roman"/>
                <a:sym typeface="Times New Roman"/>
              </a:rPr>
              <a:t>e re</a:t>
            </a:r>
            <a:r>
              <a:rPr lang="en-US" sz="2501" strike="noStrike" u="none">
                <a:solidFill>
                  <a:srgbClr val="000000"/>
                </a:solidFill>
                <a:latin typeface="Times New Roman"/>
                <a:ea typeface="Times New Roman"/>
                <a:cs typeface="Times New Roman"/>
                <a:sym typeface="Times New Roman"/>
              </a:rPr>
              <a:t>staurant</a:t>
            </a:r>
            <a:r>
              <a:rPr lang="en-US" sz="2501" strike="noStrike" u="none">
                <a:solidFill>
                  <a:srgbClr val="000000"/>
                </a:solidFill>
                <a:latin typeface="Times New Roman"/>
                <a:ea typeface="Times New Roman"/>
                <a:cs typeface="Times New Roman"/>
                <a:sym typeface="Times New Roman"/>
              </a:rPr>
              <a:t>s do not necessarily </a:t>
            </a:r>
            <a:r>
              <a:rPr lang="en-US" sz="2501" strike="noStrike" u="none">
                <a:solidFill>
                  <a:srgbClr val="000000"/>
                </a:solidFill>
                <a:latin typeface="Times New Roman"/>
                <a:ea typeface="Times New Roman"/>
                <a:cs typeface="Times New Roman"/>
                <a:sym typeface="Times New Roman"/>
              </a:rPr>
              <a:t>r</a:t>
            </a:r>
            <a:r>
              <a:rPr lang="en-US" sz="2501" strike="noStrike" u="none">
                <a:solidFill>
                  <a:srgbClr val="000000"/>
                </a:solidFill>
                <a:latin typeface="Times New Roman"/>
                <a:ea typeface="Times New Roman"/>
                <a:cs typeface="Times New Roman"/>
                <a:sym typeface="Times New Roman"/>
              </a:rPr>
              <a:t>e</a:t>
            </a:r>
            <a:r>
              <a:rPr lang="en-US" sz="2501" strike="noStrike" u="none">
                <a:solidFill>
                  <a:srgbClr val="000000"/>
                </a:solidFill>
                <a:latin typeface="Times New Roman"/>
                <a:ea typeface="Times New Roman"/>
                <a:cs typeface="Times New Roman"/>
                <a:sym typeface="Times New Roman"/>
              </a:rPr>
              <a:t>ceive</a:t>
            </a:r>
            <a:r>
              <a:rPr lang="en-US" sz="2501" strike="noStrike" u="none">
                <a:solidFill>
                  <a:srgbClr val="000000"/>
                </a:solidFill>
                <a:latin typeface="Times New Roman"/>
                <a:ea typeface="Times New Roman"/>
                <a:cs typeface="Times New Roman"/>
                <a:sym typeface="Times New Roman"/>
              </a:rPr>
              <a:t> higher ratings.</a:t>
            </a:r>
          </a:p>
          <a:p>
            <a:pPr algn="l" marL="540104" indent="-270052" lvl="1">
              <a:lnSpc>
                <a:spcPts val="3502"/>
              </a:lnSpc>
              <a:spcBef>
                <a:spcPct val="0"/>
              </a:spcBef>
              <a:buFont typeface="Arial"/>
              <a:buChar char="•"/>
            </a:pPr>
            <a:r>
              <a:rPr lang="en-US" sz="2501" strike="noStrike" u="none">
                <a:solidFill>
                  <a:srgbClr val="000000"/>
                </a:solidFill>
                <a:latin typeface="Times New Roman"/>
                <a:ea typeface="Times New Roman"/>
                <a:cs typeface="Times New Roman"/>
                <a:sym typeface="Times New Roman"/>
              </a:rPr>
              <a:t>Offers</a:t>
            </a:r>
            <a:r>
              <a:rPr lang="en-US" sz="2501" strike="noStrike" u="none">
                <a:solidFill>
                  <a:srgbClr val="000000"/>
                </a:solidFill>
                <a:latin typeface="Times New Roman"/>
                <a:ea typeface="Times New Roman"/>
                <a:cs typeface="Times New Roman"/>
                <a:sym typeface="Times New Roman"/>
              </a:rPr>
              <a:t> </a:t>
            </a:r>
            <a:r>
              <a:rPr lang="en-US" sz="2501" strike="noStrike" u="none">
                <a:solidFill>
                  <a:srgbClr val="000000"/>
                </a:solidFill>
                <a:latin typeface="Times New Roman"/>
                <a:ea typeface="Times New Roman"/>
                <a:cs typeface="Times New Roman"/>
                <a:sym typeface="Times New Roman"/>
              </a:rPr>
              <a:t>(%) and Bank Offers</a:t>
            </a:r>
            <a:r>
              <a:rPr lang="en-US" sz="2501" strike="noStrike" u="none">
                <a:solidFill>
                  <a:srgbClr val="000000"/>
                </a:solidFill>
                <a:latin typeface="Times New Roman"/>
                <a:ea typeface="Times New Roman"/>
                <a:cs typeface="Times New Roman"/>
                <a:sym typeface="Times New Roman"/>
              </a:rPr>
              <a:t> </a:t>
            </a:r>
            <a:r>
              <a:rPr lang="en-US" sz="2501" strike="noStrike" u="none">
                <a:solidFill>
                  <a:srgbClr val="000000"/>
                </a:solidFill>
                <a:latin typeface="Times New Roman"/>
                <a:ea typeface="Times New Roman"/>
                <a:cs typeface="Times New Roman"/>
                <a:sym typeface="Times New Roman"/>
              </a:rPr>
              <a:t>(%) h</a:t>
            </a:r>
            <a:r>
              <a:rPr lang="en-US" sz="2501" strike="noStrike" u="none">
                <a:solidFill>
                  <a:srgbClr val="000000"/>
                </a:solidFill>
                <a:latin typeface="Times New Roman"/>
                <a:ea typeface="Times New Roman"/>
                <a:cs typeface="Times New Roman"/>
                <a:sym typeface="Times New Roman"/>
              </a:rPr>
              <a:t>ave</a:t>
            </a:r>
            <a:r>
              <a:rPr lang="en-US" sz="2501" strike="noStrike" u="none">
                <a:solidFill>
                  <a:srgbClr val="000000"/>
                </a:solidFill>
                <a:latin typeface="Times New Roman"/>
                <a:ea typeface="Times New Roman"/>
                <a:cs typeface="Times New Roman"/>
                <a:sym typeface="Times New Roman"/>
              </a:rPr>
              <a:t> a moderate positive correlation (</a:t>
            </a:r>
            <a:r>
              <a:rPr lang="en-US" sz="2501" strike="noStrike" u="none">
                <a:solidFill>
                  <a:srgbClr val="000000"/>
                </a:solidFill>
                <a:latin typeface="Times New Roman"/>
                <a:ea typeface="Times New Roman"/>
                <a:cs typeface="Times New Roman"/>
                <a:sym typeface="Times New Roman"/>
              </a:rPr>
              <a:t>~</a:t>
            </a:r>
            <a:r>
              <a:rPr lang="en-US" sz="2501" strike="noStrike" u="none">
                <a:solidFill>
                  <a:srgbClr val="000000"/>
                </a:solidFill>
                <a:latin typeface="Times New Roman"/>
                <a:ea typeface="Times New Roman"/>
                <a:cs typeface="Times New Roman"/>
                <a:sym typeface="Times New Roman"/>
              </a:rPr>
              <a:t>0.</a:t>
            </a:r>
            <a:r>
              <a:rPr lang="en-US" sz="2501" strike="noStrike" u="none">
                <a:solidFill>
                  <a:srgbClr val="000000"/>
                </a:solidFill>
                <a:latin typeface="Times New Roman"/>
                <a:ea typeface="Times New Roman"/>
                <a:cs typeface="Times New Roman"/>
                <a:sym typeface="Times New Roman"/>
              </a:rPr>
              <a:t>51</a:t>
            </a:r>
            <a:r>
              <a:rPr lang="en-US" sz="2501" strike="noStrike" u="none">
                <a:solidFill>
                  <a:srgbClr val="000000"/>
                </a:solidFill>
                <a:latin typeface="Times New Roman"/>
                <a:ea typeface="Times New Roman"/>
                <a:cs typeface="Times New Roman"/>
                <a:sym typeface="Times New Roman"/>
              </a:rPr>
              <a:t>), meaning restaurants that </a:t>
            </a:r>
            <a:r>
              <a:rPr lang="en-US" sz="2501" strike="noStrike" u="none">
                <a:solidFill>
                  <a:srgbClr val="000000"/>
                </a:solidFill>
                <a:latin typeface="Times New Roman"/>
                <a:ea typeface="Times New Roman"/>
                <a:cs typeface="Times New Roman"/>
                <a:sym typeface="Times New Roman"/>
              </a:rPr>
              <a:t>g</a:t>
            </a:r>
            <a:r>
              <a:rPr lang="en-US" sz="2501" strike="noStrike" u="none">
                <a:solidFill>
                  <a:srgbClr val="000000"/>
                </a:solidFill>
                <a:latin typeface="Times New Roman"/>
                <a:ea typeface="Times New Roman"/>
                <a:cs typeface="Times New Roman"/>
                <a:sym typeface="Times New Roman"/>
              </a:rPr>
              <a:t>i</a:t>
            </a:r>
            <a:r>
              <a:rPr lang="en-US" sz="2501" strike="noStrike" u="none">
                <a:solidFill>
                  <a:srgbClr val="000000"/>
                </a:solidFill>
                <a:latin typeface="Times New Roman"/>
                <a:ea typeface="Times New Roman"/>
                <a:cs typeface="Times New Roman"/>
                <a:sym typeface="Times New Roman"/>
              </a:rPr>
              <a:t>v</a:t>
            </a:r>
            <a:r>
              <a:rPr lang="en-US" sz="2501" strike="noStrike" u="none">
                <a:solidFill>
                  <a:srgbClr val="000000"/>
                </a:solidFill>
                <a:latin typeface="Times New Roman"/>
                <a:ea typeface="Times New Roman"/>
                <a:cs typeface="Times New Roman"/>
                <a:sym typeface="Times New Roman"/>
              </a:rPr>
              <a:t>e one type of discount often </a:t>
            </a:r>
            <a:r>
              <a:rPr lang="en-US" sz="2501" strike="noStrike" u="none">
                <a:solidFill>
                  <a:srgbClr val="000000"/>
                </a:solidFill>
                <a:latin typeface="Times New Roman"/>
                <a:ea typeface="Times New Roman"/>
                <a:cs typeface="Times New Roman"/>
                <a:sym typeface="Times New Roman"/>
              </a:rPr>
              <a:t>pr</a:t>
            </a:r>
            <a:r>
              <a:rPr lang="en-US" sz="2501" strike="noStrike" u="none">
                <a:solidFill>
                  <a:srgbClr val="000000"/>
                </a:solidFill>
                <a:latin typeface="Times New Roman"/>
                <a:ea typeface="Times New Roman"/>
                <a:cs typeface="Times New Roman"/>
                <a:sym typeface="Times New Roman"/>
              </a:rPr>
              <a:t>o</a:t>
            </a:r>
            <a:r>
              <a:rPr lang="en-US" sz="2501" strike="noStrike" u="none">
                <a:solidFill>
                  <a:srgbClr val="000000"/>
                </a:solidFill>
                <a:latin typeface="Times New Roman"/>
                <a:ea typeface="Times New Roman"/>
                <a:cs typeface="Times New Roman"/>
                <a:sym typeface="Times New Roman"/>
              </a:rPr>
              <a:t>v</a:t>
            </a:r>
            <a:r>
              <a:rPr lang="en-US" sz="2501" strike="noStrike" u="none">
                <a:solidFill>
                  <a:srgbClr val="000000"/>
                </a:solidFill>
                <a:latin typeface="Times New Roman"/>
                <a:ea typeface="Times New Roman"/>
                <a:cs typeface="Times New Roman"/>
                <a:sym typeface="Times New Roman"/>
              </a:rPr>
              <a:t>ide </a:t>
            </a:r>
            <a:r>
              <a:rPr lang="en-US" sz="2501" strike="noStrike" u="none">
                <a:solidFill>
                  <a:srgbClr val="000000"/>
                </a:solidFill>
                <a:latin typeface="Times New Roman"/>
                <a:ea typeface="Times New Roman"/>
                <a:cs typeface="Times New Roman"/>
                <a:sym typeface="Times New Roman"/>
              </a:rPr>
              <a:t>addi</a:t>
            </a:r>
            <a:r>
              <a:rPr lang="en-US" sz="2501" strike="noStrike" u="none">
                <a:solidFill>
                  <a:srgbClr val="000000"/>
                </a:solidFill>
                <a:latin typeface="Times New Roman"/>
                <a:ea typeface="Times New Roman"/>
                <a:cs typeface="Times New Roman"/>
                <a:sym typeface="Times New Roman"/>
              </a:rPr>
              <a:t>ti</a:t>
            </a:r>
            <a:r>
              <a:rPr lang="en-US" sz="2501" strike="noStrike" u="none">
                <a:solidFill>
                  <a:srgbClr val="000000"/>
                </a:solidFill>
                <a:latin typeface="Times New Roman"/>
                <a:ea typeface="Times New Roman"/>
                <a:cs typeface="Times New Roman"/>
                <a:sym typeface="Times New Roman"/>
              </a:rPr>
              <a:t>ona</a:t>
            </a:r>
            <a:r>
              <a:rPr lang="en-US" sz="2501" strike="noStrike" u="none">
                <a:solidFill>
                  <a:srgbClr val="000000"/>
                </a:solidFill>
                <a:latin typeface="Times New Roman"/>
                <a:ea typeface="Times New Roman"/>
                <a:cs typeface="Times New Roman"/>
                <a:sym typeface="Times New Roman"/>
              </a:rPr>
              <a:t>l </a:t>
            </a:r>
            <a:r>
              <a:rPr lang="en-US" sz="2501" strike="noStrike" u="none">
                <a:solidFill>
                  <a:srgbClr val="000000"/>
                </a:solidFill>
                <a:latin typeface="Times New Roman"/>
                <a:ea typeface="Times New Roman"/>
                <a:cs typeface="Times New Roman"/>
                <a:sym typeface="Times New Roman"/>
              </a:rPr>
              <a:t>promo</a:t>
            </a:r>
            <a:r>
              <a:rPr lang="en-US" sz="2501" strike="noStrike" u="none">
                <a:solidFill>
                  <a:srgbClr val="000000"/>
                </a:solidFill>
                <a:latin typeface="Times New Roman"/>
                <a:ea typeface="Times New Roman"/>
                <a:cs typeface="Times New Roman"/>
                <a:sym typeface="Times New Roman"/>
              </a:rPr>
              <a:t>t</a:t>
            </a:r>
            <a:r>
              <a:rPr lang="en-US" sz="2501" strike="noStrike" u="none">
                <a:solidFill>
                  <a:srgbClr val="000000"/>
                </a:solidFill>
                <a:latin typeface="Times New Roman"/>
                <a:ea typeface="Times New Roman"/>
                <a:cs typeface="Times New Roman"/>
                <a:sym typeface="Times New Roman"/>
              </a:rPr>
              <a:t>i</a:t>
            </a:r>
            <a:r>
              <a:rPr lang="en-US" sz="2501" strike="noStrike" u="none">
                <a:solidFill>
                  <a:srgbClr val="000000"/>
                </a:solidFill>
                <a:latin typeface="Times New Roman"/>
                <a:ea typeface="Times New Roman"/>
                <a:cs typeface="Times New Roman"/>
                <a:sym typeface="Times New Roman"/>
              </a:rPr>
              <a:t>onal offers.</a:t>
            </a:r>
          </a:p>
          <a:p>
            <a:pPr algn="l" marL="540104" indent="-270052" lvl="1">
              <a:lnSpc>
                <a:spcPts val="3502"/>
              </a:lnSpc>
              <a:spcBef>
                <a:spcPct val="0"/>
              </a:spcBef>
              <a:buFont typeface="Arial"/>
              <a:buChar char="•"/>
            </a:pPr>
            <a:r>
              <a:rPr lang="en-US" sz="2501" strike="noStrike" u="none">
                <a:solidFill>
                  <a:srgbClr val="000000"/>
                </a:solidFill>
                <a:latin typeface="Times New Roman"/>
                <a:ea typeface="Times New Roman"/>
                <a:cs typeface="Times New Roman"/>
                <a:sym typeface="Times New Roman"/>
              </a:rPr>
              <a:t>Offers (%)</a:t>
            </a:r>
            <a:r>
              <a:rPr lang="en-US" sz="2501" strike="noStrike" u="none">
                <a:solidFill>
                  <a:srgbClr val="000000"/>
                </a:solidFill>
                <a:latin typeface="Times New Roman"/>
                <a:ea typeface="Times New Roman"/>
                <a:cs typeface="Times New Roman"/>
                <a:sym typeface="Times New Roman"/>
              </a:rPr>
              <a:t> ha</a:t>
            </a:r>
            <a:r>
              <a:rPr lang="en-US" sz="2501" strike="noStrike" u="none">
                <a:solidFill>
                  <a:srgbClr val="000000"/>
                </a:solidFill>
                <a:latin typeface="Times New Roman"/>
                <a:ea typeface="Times New Roman"/>
                <a:cs typeface="Times New Roman"/>
                <a:sym typeface="Times New Roman"/>
              </a:rPr>
              <a:t>ve</a:t>
            </a:r>
            <a:r>
              <a:rPr lang="en-US" sz="2501" strike="noStrike" u="none">
                <a:solidFill>
                  <a:srgbClr val="000000"/>
                </a:solidFill>
                <a:latin typeface="Times New Roman"/>
                <a:ea typeface="Times New Roman"/>
                <a:cs typeface="Times New Roman"/>
                <a:sym typeface="Times New Roman"/>
              </a:rPr>
              <a:t> a slight negative relation</a:t>
            </a:r>
            <a:r>
              <a:rPr lang="en-US" sz="2501" strike="noStrike" u="none">
                <a:solidFill>
                  <a:srgbClr val="000000"/>
                </a:solidFill>
                <a:latin typeface="Times New Roman"/>
                <a:ea typeface="Times New Roman"/>
                <a:cs typeface="Times New Roman"/>
                <a:sym typeface="Times New Roman"/>
              </a:rPr>
              <a:t>ship</a:t>
            </a:r>
            <a:r>
              <a:rPr lang="en-US" sz="2501" strike="noStrike" u="none">
                <a:solidFill>
                  <a:srgbClr val="000000"/>
                </a:solidFill>
                <a:latin typeface="Times New Roman"/>
                <a:ea typeface="Times New Roman"/>
                <a:cs typeface="Times New Roman"/>
                <a:sym typeface="Times New Roman"/>
              </a:rPr>
              <a:t> with </a:t>
            </a:r>
            <a:r>
              <a:rPr lang="en-US" sz="2501" strike="noStrike" u="none">
                <a:solidFill>
                  <a:srgbClr val="000000"/>
                </a:solidFill>
                <a:latin typeface="Times New Roman"/>
                <a:ea typeface="Times New Roman"/>
                <a:cs typeface="Times New Roman"/>
                <a:sym typeface="Times New Roman"/>
              </a:rPr>
              <a:t>Rating</a:t>
            </a:r>
            <a:r>
              <a:rPr lang="en-US" sz="2501" strike="noStrike" u="none">
                <a:solidFill>
                  <a:srgbClr val="000000"/>
                </a:solidFill>
                <a:latin typeface="Times New Roman"/>
                <a:ea typeface="Times New Roman"/>
                <a:cs typeface="Times New Roman"/>
                <a:sym typeface="Times New Roman"/>
              </a:rPr>
              <a:t> (</a:t>
            </a:r>
            <a:r>
              <a:rPr lang="en-US" sz="2501" strike="noStrike" u="none">
                <a:solidFill>
                  <a:srgbClr val="000000"/>
                </a:solidFill>
                <a:latin typeface="Times New Roman"/>
                <a:ea typeface="Times New Roman"/>
                <a:cs typeface="Times New Roman"/>
                <a:sym typeface="Times New Roman"/>
              </a:rPr>
              <a:t>~</a:t>
            </a:r>
            <a:r>
              <a:rPr lang="en-US" sz="2501" strike="noStrike" u="none">
                <a:solidFill>
                  <a:srgbClr val="000000"/>
                </a:solidFill>
                <a:latin typeface="Times New Roman"/>
                <a:ea typeface="Times New Roman"/>
                <a:cs typeface="Times New Roman"/>
                <a:sym typeface="Times New Roman"/>
              </a:rPr>
              <a:t> -0.</a:t>
            </a:r>
            <a:r>
              <a:rPr lang="en-US" sz="2501" strike="noStrike" u="none">
                <a:solidFill>
                  <a:srgbClr val="000000"/>
                </a:solidFill>
                <a:latin typeface="Times New Roman"/>
                <a:ea typeface="Times New Roman"/>
                <a:cs typeface="Times New Roman"/>
                <a:sym typeface="Times New Roman"/>
              </a:rPr>
              <a:t>15</a:t>
            </a:r>
            <a:r>
              <a:rPr lang="en-US" sz="2501" strike="noStrike" u="none">
                <a:solidFill>
                  <a:srgbClr val="000000"/>
                </a:solidFill>
                <a:latin typeface="Times New Roman"/>
                <a:ea typeface="Times New Roman"/>
                <a:cs typeface="Times New Roman"/>
                <a:sym typeface="Times New Roman"/>
              </a:rPr>
              <a:t>), suggesting highly rated restaurants may rely less on discounts.</a:t>
            </a:r>
          </a:p>
          <a:p>
            <a:pPr algn="l" marL="540104" indent="-270052" lvl="1">
              <a:lnSpc>
                <a:spcPts val="3502"/>
              </a:lnSpc>
              <a:spcBef>
                <a:spcPct val="0"/>
              </a:spcBef>
              <a:buFont typeface="Arial"/>
              <a:buChar char="•"/>
            </a:pPr>
            <a:r>
              <a:rPr lang="en-US" sz="2501" strike="noStrike" u="none">
                <a:solidFill>
                  <a:srgbClr val="000000"/>
                </a:solidFill>
                <a:latin typeface="Times New Roman"/>
                <a:ea typeface="Times New Roman"/>
                <a:cs typeface="Times New Roman"/>
                <a:sym typeface="Times New Roman"/>
              </a:rPr>
              <a:t>T</a:t>
            </a:r>
            <a:r>
              <a:rPr lang="en-US" sz="2501" strike="noStrike" u="none">
                <a:solidFill>
                  <a:srgbClr val="000000"/>
                </a:solidFill>
                <a:latin typeface="Times New Roman"/>
                <a:ea typeface="Times New Roman"/>
                <a:cs typeface="Times New Roman"/>
                <a:sym typeface="Times New Roman"/>
              </a:rPr>
              <a:t>he relationship </a:t>
            </a:r>
            <a:r>
              <a:rPr lang="en-US" sz="2501" strike="noStrike" u="none">
                <a:solidFill>
                  <a:srgbClr val="000000"/>
                </a:solidFill>
                <a:latin typeface="Times New Roman"/>
                <a:ea typeface="Times New Roman"/>
                <a:cs typeface="Times New Roman"/>
                <a:sym typeface="Times New Roman"/>
              </a:rPr>
              <a:t>bet</a:t>
            </a:r>
            <a:r>
              <a:rPr lang="en-US" sz="2501" strike="noStrike" u="none">
                <a:solidFill>
                  <a:srgbClr val="000000"/>
                </a:solidFill>
                <a:latin typeface="Times New Roman"/>
                <a:ea typeface="Times New Roman"/>
                <a:cs typeface="Times New Roman"/>
                <a:sym typeface="Times New Roman"/>
              </a:rPr>
              <a:t>w</a:t>
            </a:r>
            <a:r>
              <a:rPr lang="en-US" sz="2501" strike="noStrike" u="none">
                <a:solidFill>
                  <a:srgbClr val="000000"/>
                </a:solidFill>
                <a:latin typeface="Times New Roman"/>
                <a:ea typeface="Times New Roman"/>
                <a:cs typeface="Times New Roman"/>
                <a:sym typeface="Times New Roman"/>
              </a:rPr>
              <a:t>een Pr</a:t>
            </a:r>
            <a:r>
              <a:rPr lang="en-US" sz="2501" strike="noStrike" u="none">
                <a:solidFill>
                  <a:srgbClr val="000000"/>
                </a:solidFill>
                <a:latin typeface="Times New Roman"/>
                <a:ea typeface="Times New Roman"/>
                <a:cs typeface="Times New Roman"/>
                <a:sym typeface="Times New Roman"/>
              </a:rPr>
              <a:t>i</a:t>
            </a:r>
            <a:r>
              <a:rPr lang="en-US" sz="2501" strike="noStrike" u="none">
                <a:solidFill>
                  <a:srgbClr val="000000"/>
                </a:solidFill>
                <a:latin typeface="Times New Roman"/>
                <a:ea typeface="Times New Roman"/>
                <a:cs typeface="Times New Roman"/>
                <a:sym typeface="Times New Roman"/>
              </a:rPr>
              <a:t>ce</a:t>
            </a:r>
            <a:r>
              <a:rPr lang="en-US" sz="2501" strike="noStrike" u="none">
                <a:solidFill>
                  <a:srgbClr val="000000"/>
                </a:solidFill>
                <a:latin typeface="Times New Roman"/>
                <a:ea typeface="Times New Roman"/>
                <a:cs typeface="Times New Roman"/>
                <a:sym typeface="Times New Roman"/>
              </a:rPr>
              <a:t> </a:t>
            </a:r>
            <a:r>
              <a:rPr lang="en-US" sz="2501" strike="noStrike" u="none">
                <a:solidFill>
                  <a:srgbClr val="000000"/>
                </a:solidFill>
                <a:latin typeface="Times New Roman"/>
                <a:ea typeface="Times New Roman"/>
                <a:cs typeface="Times New Roman"/>
                <a:sym typeface="Times New Roman"/>
              </a:rPr>
              <a:t>and O</a:t>
            </a:r>
            <a:r>
              <a:rPr lang="en-US" sz="2501" strike="noStrike" u="none">
                <a:solidFill>
                  <a:srgbClr val="000000"/>
                </a:solidFill>
                <a:latin typeface="Times New Roman"/>
                <a:ea typeface="Times New Roman"/>
                <a:cs typeface="Times New Roman"/>
                <a:sym typeface="Times New Roman"/>
              </a:rPr>
              <a:t>ffers </a:t>
            </a:r>
            <a:r>
              <a:rPr lang="en-US" sz="2501" strike="noStrike" u="none">
                <a:solidFill>
                  <a:srgbClr val="000000"/>
                </a:solidFill>
                <a:latin typeface="Times New Roman"/>
                <a:ea typeface="Times New Roman"/>
                <a:cs typeface="Times New Roman"/>
                <a:sym typeface="Times New Roman"/>
              </a:rPr>
              <a:t>is ve</a:t>
            </a:r>
            <a:r>
              <a:rPr lang="en-US" sz="2501" strike="noStrike" u="none">
                <a:solidFill>
                  <a:srgbClr val="000000"/>
                </a:solidFill>
                <a:latin typeface="Times New Roman"/>
                <a:ea typeface="Times New Roman"/>
                <a:cs typeface="Times New Roman"/>
                <a:sym typeface="Times New Roman"/>
              </a:rPr>
              <a:t>r</a:t>
            </a:r>
            <a:r>
              <a:rPr lang="en-US" sz="2501" strike="noStrike" u="none">
                <a:solidFill>
                  <a:srgbClr val="000000"/>
                </a:solidFill>
                <a:latin typeface="Times New Roman"/>
                <a:ea typeface="Times New Roman"/>
                <a:cs typeface="Times New Roman"/>
                <a:sym typeface="Times New Roman"/>
              </a:rPr>
              <a:t>y</a:t>
            </a:r>
            <a:r>
              <a:rPr lang="en-US" sz="2501" strike="noStrike" u="none">
                <a:solidFill>
                  <a:srgbClr val="000000"/>
                </a:solidFill>
                <a:latin typeface="Times New Roman"/>
                <a:ea typeface="Times New Roman"/>
                <a:cs typeface="Times New Roman"/>
                <a:sym typeface="Times New Roman"/>
              </a:rPr>
              <a:t> </a:t>
            </a:r>
            <a:r>
              <a:rPr lang="en-US" sz="2501" strike="noStrike" u="none">
                <a:solidFill>
                  <a:srgbClr val="000000"/>
                </a:solidFill>
                <a:latin typeface="Times New Roman"/>
                <a:ea typeface="Times New Roman"/>
                <a:cs typeface="Times New Roman"/>
                <a:sym typeface="Times New Roman"/>
              </a:rPr>
              <a:t>we</a:t>
            </a:r>
            <a:r>
              <a:rPr lang="en-US" sz="2501" strike="noStrike" u="none">
                <a:solidFill>
                  <a:srgbClr val="000000"/>
                </a:solidFill>
                <a:latin typeface="Times New Roman"/>
                <a:ea typeface="Times New Roman"/>
                <a:cs typeface="Times New Roman"/>
                <a:sym typeface="Times New Roman"/>
              </a:rPr>
              <a:t>ak </a:t>
            </a:r>
            <a:r>
              <a:rPr lang="en-US" sz="2501" strike="noStrike" u="none">
                <a:solidFill>
                  <a:srgbClr val="000000"/>
                </a:solidFill>
                <a:latin typeface="Times New Roman"/>
                <a:ea typeface="Times New Roman"/>
                <a:cs typeface="Times New Roman"/>
                <a:sym typeface="Times New Roman"/>
              </a:rPr>
              <a:t>(~0.11)</a:t>
            </a:r>
            <a:r>
              <a:rPr lang="en-US" sz="2501" strike="noStrike" u="none">
                <a:solidFill>
                  <a:srgbClr val="000000"/>
                </a:solidFill>
                <a:latin typeface="Times New Roman"/>
                <a:ea typeface="Times New Roman"/>
                <a:cs typeface="Times New Roman"/>
                <a:sym typeface="Times New Roman"/>
              </a:rPr>
              <a:t>, indicating t</a:t>
            </a:r>
            <a:r>
              <a:rPr lang="en-US" sz="2501" strike="noStrike" u="none">
                <a:solidFill>
                  <a:srgbClr val="000000"/>
                </a:solidFill>
                <a:latin typeface="Times New Roman"/>
                <a:ea typeface="Times New Roman"/>
                <a:cs typeface="Times New Roman"/>
                <a:sym typeface="Times New Roman"/>
              </a:rPr>
              <a:t>h</a:t>
            </a:r>
            <a:r>
              <a:rPr lang="en-US" sz="2501" strike="noStrike" u="none">
                <a:solidFill>
                  <a:srgbClr val="000000"/>
                </a:solidFill>
                <a:latin typeface="Times New Roman"/>
                <a:ea typeface="Times New Roman"/>
                <a:cs typeface="Times New Roman"/>
                <a:sym typeface="Times New Roman"/>
              </a:rPr>
              <a:t>at di</a:t>
            </a:r>
            <a:r>
              <a:rPr lang="en-US" sz="2501" strike="noStrike" u="none">
                <a:solidFill>
                  <a:srgbClr val="000000"/>
                </a:solidFill>
                <a:latin typeface="Times New Roman"/>
                <a:ea typeface="Times New Roman"/>
                <a:cs typeface="Times New Roman"/>
                <a:sym typeface="Times New Roman"/>
              </a:rPr>
              <a:t>scount</a:t>
            </a:r>
            <a:r>
              <a:rPr lang="en-US" sz="2501" strike="noStrike" u="none">
                <a:solidFill>
                  <a:srgbClr val="000000"/>
                </a:solidFill>
                <a:latin typeface="Times New Roman"/>
                <a:ea typeface="Times New Roman"/>
                <a:cs typeface="Times New Roman"/>
                <a:sym typeface="Times New Roman"/>
              </a:rPr>
              <a:t>s are </a:t>
            </a:r>
            <a:r>
              <a:rPr lang="en-US" sz="2501" strike="noStrike" u="none">
                <a:solidFill>
                  <a:srgbClr val="000000"/>
                </a:solidFill>
                <a:latin typeface="Times New Roman"/>
                <a:ea typeface="Times New Roman"/>
                <a:cs typeface="Times New Roman"/>
                <a:sym typeface="Times New Roman"/>
              </a:rPr>
              <a:t>not stro</a:t>
            </a:r>
            <a:r>
              <a:rPr lang="en-US" sz="2501" strike="noStrike" u="none">
                <a:solidFill>
                  <a:srgbClr val="000000"/>
                </a:solidFill>
                <a:latin typeface="Times New Roman"/>
                <a:ea typeface="Times New Roman"/>
                <a:cs typeface="Times New Roman"/>
                <a:sym typeface="Times New Roman"/>
              </a:rPr>
              <a:t>n</a:t>
            </a:r>
            <a:r>
              <a:rPr lang="en-US" sz="2501" strike="noStrike" u="none">
                <a:solidFill>
                  <a:srgbClr val="000000"/>
                </a:solidFill>
                <a:latin typeface="Times New Roman"/>
                <a:ea typeface="Times New Roman"/>
                <a:cs typeface="Times New Roman"/>
                <a:sym typeface="Times New Roman"/>
              </a:rPr>
              <a:t>gly ti</a:t>
            </a:r>
            <a:r>
              <a:rPr lang="en-US" sz="2501" strike="noStrike" u="none">
                <a:solidFill>
                  <a:srgbClr val="000000"/>
                </a:solidFill>
                <a:latin typeface="Times New Roman"/>
                <a:ea typeface="Times New Roman"/>
                <a:cs typeface="Times New Roman"/>
                <a:sym typeface="Times New Roman"/>
              </a:rPr>
              <a:t>ed</a:t>
            </a:r>
            <a:r>
              <a:rPr lang="en-US" sz="2501" strike="noStrike" u="none">
                <a:solidFill>
                  <a:srgbClr val="000000"/>
                </a:solidFill>
                <a:latin typeface="Times New Roman"/>
                <a:ea typeface="Times New Roman"/>
                <a:cs typeface="Times New Roman"/>
                <a:sym typeface="Times New Roman"/>
              </a:rPr>
              <a:t> to r</a:t>
            </a:r>
            <a:r>
              <a:rPr lang="en-US" sz="2501" strike="noStrike" u="none">
                <a:solidFill>
                  <a:srgbClr val="000000"/>
                </a:solidFill>
                <a:latin typeface="Times New Roman"/>
                <a:ea typeface="Times New Roman"/>
                <a:cs typeface="Times New Roman"/>
                <a:sym typeface="Times New Roman"/>
              </a:rPr>
              <a:t>e</a:t>
            </a:r>
            <a:r>
              <a:rPr lang="en-US" sz="2501" strike="noStrike" u="none">
                <a:solidFill>
                  <a:srgbClr val="000000"/>
                </a:solidFill>
                <a:latin typeface="Times New Roman"/>
                <a:ea typeface="Times New Roman"/>
                <a:cs typeface="Times New Roman"/>
                <a:sym typeface="Times New Roman"/>
              </a:rPr>
              <a:t>staura</a:t>
            </a:r>
            <a:r>
              <a:rPr lang="en-US" sz="2501" strike="noStrike" u="none">
                <a:solidFill>
                  <a:srgbClr val="000000"/>
                </a:solidFill>
                <a:latin typeface="Times New Roman"/>
                <a:ea typeface="Times New Roman"/>
                <a:cs typeface="Times New Roman"/>
                <a:sym typeface="Times New Roman"/>
              </a:rPr>
              <a:t>nt pri</a:t>
            </a:r>
            <a:r>
              <a:rPr lang="en-US" sz="2501" strike="noStrike" u="none">
                <a:solidFill>
                  <a:srgbClr val="000000"/>
                </a:solidFill>
                <a:latin typeface="Times New Roman"/>
                <a:ea typeface="Times New Roman"/>
                <a:cs typeface="Times New Roman"/>
                <a:sym typeface="Times New Roman"/>
              </a:rPr>
              <a:t>ci</a:t>
            </a:r>
            <a:r>
              <a:rPr lang="en-US" sz="2501" strike="noStrike" u="none">
                <a:solidFill>
                  <a:srgbClr val="000000"/>
                </a:solidFill>
                <a:latin typeface="Times New Roman"/>
                <a:ea typeface="Times New Roman"/>
                <a:cs typeface="Times New Roman"/>
                <a:sym typeface="Times New Roman"/>
              </a:rPr>
              <a:t>n</a:t>
            </a:r>
            <a:r>
              <a:rPr lang="en-US" sz="2501" strike="noStrike" u="none">
                <a:solidFill>
                  <a:srgbClr val="000000"/>
                </a:solidFill>
                <a:latin typeface="Times New Roman"/>
                <a:ea typeface="Times New Roman"/>
                <a:cs typeface="Times New Roman"/>
                <a:sym typeface="Times New Roman"/>
              </a:rPr>
              <a:t>g</a:t>
            </a:r>
            <a:r>
              <a:rPr lang="en-US" sz="2501" strike="noStrike" u="none">
                <a:solidFill>
                  <a:srgbClr val="000000"/>
                </a:solidFill>
                <a:latin typeface="Times New Roman"/>
                <a:ea typeface="Times New Roman"/>
                <a:cs typeface="Times New Roman"/>
                <a:sym typeface="Times New Roman"/>
              </a:rPr>
              <a:t>.</a:t>
            </a:r>
          </a:p>
          <a:p>
            <a:pPr algn="l" marL="0" indent="0" lvl="0">
              <a:lnSpc>
                <a:spcPts val="3502"/>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grpSp>
        <p:nvGrpSpPr>
          <p:cNvPr name="Group 3" id="3"/>
          <p:cNvGrpSpPr/>
          <p:nvPr/>
        </p:nvGrpSpPr>
        <p:grpSpPr>
          <a:xfrm rot="0">
            <a:off x="13221348" y="9277474"/>
            <a:ext cx="4838100" cy="1009526"/>
            <a:chOff x="0" y="0"/>
            <a:chExt cx="6450800" cy="1346035"/>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TextBox 5" id="5"/>
          <p:cNvSpPr txBox="true"/>
          <p:nvPr/>
        </p:nvSpPr>
        <p:spPr>
          <a:xfrm rot="0">
            <a:off x="521465" y="1770033"/>
            <a:ext cx="16737835" cy="54000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This project analyzed restaurant </a:t>
            </a:r>
            <a:r>
              <a:rPr lang="en-US" sz="3399" strike="noStrike" u="none">
                <a:solidFill>
                  <a:srgbClr val="000000"/>
                </a:solidFill>
                <a:latin typeface="Times New Roman"/>
                <a:ea typeface="Times New Roman"/>
                <a:cs typeface="Times New Roman"/>
                <a:sym typeface="Times New Roman"/>
              </a:rPr>
              <a:t>d</a:t>
            </a:r>
            <a:r>
              <a:rPr lang="en-US" sz="3399" strike="noStrike" u="none">
                <a:solidFill>
                  <a:srgbClr val="000000"/>
                </a:solidFill>
                <a:latin typeface="Times New Roman"/>
                <a:ea typeface="Times New Roman"/>
                <a:cs typeface="Times New Roman"/>
                <a:sym typeface="Times New Roman"/>
              </a:rPr>
              <a:t>ata collecte</a:t>
            </a:r>
            <a:r>
              <a:rPr lang="en-US" sz="3399" strike="noStrike" u="none">
                <a:solidFill>
                  <a:srgbClr val="000000"/>
                </a:solidFill>
                <a:latin typeface="Times New Roman"/>
                <a:ea typeface="Times New Roman"/>
                <a:cs typeface="Times New Roman"/>
                <a:sym typeface="Times New Roman"/>
              </a:rPr>
              <a:t>d </a:t>
            </a:r>
            <a:r>
              <a:rPr lang="en-US" sz="3399" strike="noStrike" u="none">
                <a:solidFill>
                  <a:srgbClr val="000000"/>
                </a:solidFill>
                <a:latin typeface="Times New Roman"/>
                <a:ea typeface="Times New Roman"/>
                <a:cs typeface="Times New Roman"/>
                <a:sym typeface="Times New Roman"/>
              </a:rPr>
              <a:t>through web scr</a:t>
            </a:r>
            <a:r>
              <a:rPr lang="en-US" sz="3399" strike="noStrike" u="none">
                <a:solidFill>
                  <a:srgbClr val="000000"/>
                </a:solidFill>
                <a:latin typeface="Times New Roman"/>
                <a:ea typeface="Times New Roman"/>
                <a:cs typeface="Times New Roman"/>
                <a:sym typeface="Times New Roman"/>
              </a:rPr>
              <a:t>a</a:t>
            </a:r>
            <a:r>
              <a:rPr lang="en-US" sz="3399" strike="noStrike" u="none">
                <a:solidFill>
                  <a:srgbClr val="000000"/>
                </a:solidFill>
                <a:latin typeface="Times New Roman"/>
                <a:ea typeface="Times New Roman"/>
                <a:cs typeface="Times New Roman"/>
                <a:sym typeface="Times New Roman"/>
              </a:rPr>
              <a:t>ping from the EazyDiner website.</a:t>
            </a:r>
            <a:r>
              <a:rPr lang="en-US" sz="3399" strike="noStrike" u="none">
                <a:solidFill>
                  <a:srgbClr val="000000"/>
                </a:solidFill>
                <a:latin typeface="Times New Roman"/>
                <a:ea typeface="Times New Roman"/>
                <a:cs typeface="Times New Roman"/>
                <a:sym typeface="Times New Roman"/>
              </a:rPr>
              <a:t> </a:t>
            </a:r>
            <a:r>
              <a:rPr lang="en-US" sz="3399" strike="noStrike" u="none">
                <a:solidFill>
                  <a:srgbClr val="000000"/>
                </a:solidFill>
                <a:latin typeface="Times New Roman"/>
                <a:ea typeface="Times New Roman"/>
                <a:cs typeface="Times New Roman"/>
                <a:sym typeface="Times New Roman"/>
              </a:rPr>
              <a:t>The ana</a:t>
            </a:r>
            <a:r>
              <a:rPr lang="en-US" sz="3399" strike="noStrike" u="none">
                <a:solidFill>
                  <a:srgbClr val="000000"/>
                </a:solidFill>
                <a:latin typeface="Times New Roman"/>
                <a:ea typeface="Times New Roman"/>
                <a:cs typeface="Times New Roman"/>
                <a:sym typeface="Times New Roman"/>
              </a:rPr>
              <a:t>l</a:t>
            </a:r>
            <a:r>
              <a:rPr lang="en-US" sz="3399" strike="noStrike" u="none">
                <a:solidFill>
                  <a:srgbClr val="000000"/>
                </a:solidFill>
                <a:latin typeface="Times New Roman"/>
                <a:ea typeface="Times New Roman"/>
                <a:cs typeface="Times New Roman"/>
                <a:sym typeface="Times New Roman"/>
              </a:rPr>
              <a:t>ys</a:t>
            </a:r>
            <a:r>
              <a:rPr lang="en-US" sz="3399" strike="noStrike" u="none">
                <a:solidFill>
                  <a:srgbClr val="000000"/>
                </a:solidFill>
                <a:latin typeface="Times New Roman"/>
                <a:ea typeface="Times New Roman"/>
                <a:cs typeface="Times New Roman"/>
                <a:sym typeface="Times New Roman"/>
              </a:rPr>
              <a:t>i</a:t>
            </a:r>
            <a:r>
              <a:rPr lang="en-US" sz="3399" strike="noStrike" u="none">
                <a:solidFill>
                  <a:srgbClr val="000000"/>
                </a:solidFill>
                <a:latin typeface="Times New Roman"/>
                <a:ea typeface="Times New Roman"/>
                <a:cs typeface="Times New Roman"/>
                <a:sym typeface="Times New Roman"/>
              </a:rPr>
              <a:t>s shows </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ha</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 most restaurants fa</a:t>
            </a:r>
            <a:r>
              <a:rPr lang="en-US" sz="3399" strike="noStrike" u="none">
                <a:solidFill>
                  <a:srgbClr val="000000"/>
                </a:solidFill>
                <a:latin typeface="Times New Roman"/>
                <a:ea typeface="Times New Roman"/>
                <a:cs typeface="Times New Roman"/>
                <a:sym typeface="Times New Roman"/>
              </a:rPr>
              <a:t>l</a:t>
            </a:r>
            <a:r>
              <a:rPr lang="en-US" sz="3399" strike="noStrike" u="none">
                <a:solidFill>
                  <a:srgbClr val="000000"/>
                </a:solidFill>
                <a:latin typeface="Times New Roman"/>
                <a:ea typeface="Times New Roman"/>
                <a:cs typeface="Times New Roman"/>
                <a:sym typeface="Times New Roman"/>
              </a:rPr>
              <a:t>l within a mid-rang</a:t>
            </a:r>
            <a:r>
              <a:rPr lang="en-US" sz="3399" strike="noStrike" u="none">
                <a:solidFill>
                  <a:srgbClr val="000000"/>
                </a:solidFill>
                <a:latin typeface="Times New Roman"/>
                <a:ea typeface="Times New Roman"/>
                <a:cs typeface="Times New Roman"/>
                <a:sym typeface="Times New Roman"/>
              </a:rPr>
              <a:t>e </a:t>
            </a:r>
            <a:r>
              <a:rPr lang="en-US" sz="3399" strike="noStrike" u="none">
                <a:solidFill>
                  <a:srgbClr val="000000"/>
                </a:solidFill>
                <a:latin typeface="Times New Roman"/>
                <a:ea typeface="Times New Roman"/>
                <a:cs typeface="Times New Roman"/>
                <a:sym typeface="Times New Roman"/>
              </a:rPr>
              <a:t>price category, typically </a:t>
            </a:r>
            <a:r>
              <a:rPr lang="en-US" sz="3399" strike="noStrike" u="none">
                <a:solidFill>
                  <a:srgbClr val="000000"/>
                </a:solidFill>
                <a:latin typeface="Times New Roman"/>
                <a:ea typeface="Times New Roman"/>
                <a:cs typeface="Times New Roman"/>
                <a:sym typeface="Times New Roman"/>
              </a:rPr>
              <a:t>b</a:t>
            </a:r>
            <a:r>
              <a:rPr lang="en-US" sz="3399" strike="noStrike" u="none">
                <a:solidFill>
                  <a:srgbClr val="000000"/>
                </a:solidFill>
                <a:latin typeface="Times New Roman"/>
                <a:ea typeface="Times New Roman"/>
                <a:cs typeface="Times New Roman"/>
                <a:sym typeface="Times New Roman"/>
              </a:rPr>
              <a:t>etween ₹800 and ₹2500. Customer ratings are generally high, w</a:t>
            </a:r>
            <a:r>
              <a:rPr lang="en-US" sz="3399" strike="noStrike" u="none">
                <a:solidFill>
                  <a:srgbClr val="000000"/>
                </a:solidFill>
                <a:latin typeface="Times New Roman"/>
                <a:ea typeface="Times New Roman"/>
                <a:cs typeface="Times New Roman"/>
                <a:sym typeface="Times New Roman"/>
              </a:rPr>
              <a:t>it</a:t>
            </a:r>
            <a:r>
              <a:rPr lang="en-US" sz="3399" strike="noStrike" u="none">
                <a:solidFill>
                  <a:srgbClr val="000000"/>
                </a:solidFill>
                <a:latin typeface="Times New Roman"/>
                <a:ea typeface="Times New Roman"/>
                <a:cs typeface="Times New Roman"/>
                <a:sym typeface="Times New Roman"/>
              </a:rPr>
              <a:t>h</a:t>
            </a:r>
            <a:r>
              <a:rPr lang="en-US" sz="3399" strike="noStrike" u="none">
                <a:solidFill>
                  <a:srgbClr val="000000"/>
                </a:solidFill>
                <a:latin typeface="Times New Roman"/>
                <a:ea typeface="Times New Roman"/>
                <a:cs typeface="Times New Roman"/>
                <a:sym typeface="Times New Roman"/>
              </a:rPr>
              <a:t> </a:t>
            </a:r>
            <a:r>
              <a:rPr lang="en-US" sz="3399" strike="noStrike" u="none">
                <a:solidFill>
                  <a:srgbClr val="000000"/>
                </a:solidFill>
                <a:latin typeface="Times New Roman"/>
                <a:ea typeface="Times New Roman"/>
                <a:cs typeface="Times New Roman"/>
                <a:sym typeface="Times New Roman"/>
              </a:rPr>
              <a:t>m</a:t>
            </a:r>
            <a:r>
              <a:rPr lang="en-US" sz="3399" strike="noStrike" u="none">
                <a:solidFill>
                  <a:srgbClr val="000000"/>
                </a:solidFill>
                <a:latin typeface="Times New Roman"/>
                <a:ea typeface="Times New Roman"/>
                <a:cs typeface="Times New Roman"/>
                <a:sym typeface="Times New Roman"/>
              </a:rPr>
              <a:t>o</a:t>
            </a:r>
            <a:r>
              <a:rPr lang="en-US" sz="3399" strike="noStrike" u="none">
                <a:solidFill>
                  <a:srgbClr val="000000"/>
                </a:solidFill>
                <a:latin typeface="Times New Roman"/>
                <a:ea typeface="Times New Roman"/>
                <a:cs typeface="Times New Roman"/>
                <a:sym typeface="Times New Roman"/>
              </a:rPr>
              <a:t>st restaurants receiving ratings</a:t>
            </a:r>
            <a:r>
              <a:rPr lang="en-US" sz="3399" strike="noStrike" u="none">
                <a:solidFill>
                  <a:srgbClr val="000000"/>
                </a:solidFill>
                <a:latin typeface="Times New Roman"/>
                <a:ea typeface="Times New Roman"/>
                <a:cs typeface="Times New Roman"/>
                <a:sym typeface="Times New Roman"/>
              </a:rPr>
              <a:t> b</a:t>
            </a:r>
            <a:r>
              <a:rPr lang="en-US" sz="3399" strike="noStrike" u="none">
                <a:solidFill>
                  <a:srgbClr val="000000"/>
                </a:solidFill>
                <a:latin typeface="Times New Roman"/>
                <a:ea typeface="Times New Roman"/>
                <a:cs typeface="Times New Roman"/>
                <a:sym typeface="Times New Roman"/>
              </a:rPr>
              <a:t>etween 3.5 and 4.5, indicating go</a:t>
            </a:r>
            <a:r>
              <a:rPr lang="en-US" sz="3399" strike="noStrike" u="none">
                <a:solidFill>
                  <a:srgbClr val="000000"/>
                </a:solidFill>
                <a:latin typeface="Times New Roman"/>
                <a:ea typeface="Times New Roman"/>
                <a:cs typeface="Times New Roman"/>
                <a:sym typeface="Times New Roman"/>
              </a:rPr>
              <a:t>od</a:t>
            </a:r>
            <a:r>
              <a:rPr lang="en-US" sz="3399" strike="noStrike" u="none">
                <a:solidFill>
                  <a:srgbClr val="000000"/>
                </a:solidFill>
                <a:latin typeface="Times New Roman"/>
                <a:ea typeface="Times New Roman"/>
                <a:cs typeface="Times New Roman"/>
                <a:sym typeface="Times New Roman"/>
              </a:rPr>
              <a:t> customer satisfaction. The results also reveal that restaurant price does not strongl</a:t>
            </a:r>
            <a:r>
              <a:rPr lang="en-US" sz="3399" strike="noStrike" u="none">
                <a:solidFill>
                  <a:srgbClr val="000000"/>
                </a:solidFill>
                <a:latin typeface="Times New Roman"/>
                <a:ea typeface="Times New Roman"/>
                <a:cs typeface="Times New Roman"/>
                <a:sym typeface="Times New Roman"/>
              </a:rPr>
              <a:t>y </a:t>
            </a:r>
            <a:r>
              <a:rPr lang="en-US" sz="3399" strike="noStrike" u="none">
                <a:solidFill>
                  <a:srgbClr val="000000"/>
                </a:solidFill>
                <a:latin typeface="Times New Roman"/>
                <a:ea typeface="Times New Roman"/>
                <a:cs typeface="Times New Roman"/>
                <a:sym typeface="Times New Roman"/>
              </a:rPr>
              <a:t>influence ra</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ings, suggesting that factors such as food quality, service, and overall dining </a:t>
            </a:r>
            <a:r>
              <a:rPr lang="en-US" sz="3399" strike="noStrike" u="none">
                <a:solidFill>
                  <a:srgbClr val="000000"/>
                </a:solidFill>
                <a:latin typeface="Times New Roman"/>
                <a:ea typeface="Times New Roman"/>
                <a:cs typeface="Times New Roman"/>
                <a:sym typeface="Times New Roman"/>
              </a:rPr>
              <a:t>ex</a:t>
            </a:r>
            <a:r>
              <a:rPr lang="en-US" sz="3399" strike="noStrike" u="none">
                <a:solidFill>
                  <a:srgbClr val="000000"/>
                </a:solidFill>
                <a:latin typeface="Times New Roman"/>
                <a:ea typeface="Times New Roman"/>
                <a:cs typeface="Times New Roman"/>
                <a:sym typeface="Times New Roman"/>
              </a:rPr>
              <a:t>perience play a more impor</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ant role. Additionally, moderate promotional offers such as 10–20% discounts are the most common, and pricing varies across cities, with Delhi and Mumbai having higher average restaurant prices compared to Hyderabad and Chennai.</a:t>
            </a:r>
          </a:p>
        </p:txBody>
      </p:sp>
      <p:sp>
        <p:nvSpPr>
          <p:cNvPr name="TextBox 6" id="6"/>
          <p:cNvSpPr txBox="true"/>
          <p:nvPr/>
        </p:nvSpPr>
        <p:spPr>
          <a:xfrm rot="0">
            <a:off x="1038225" y="863517"/>
            <a:ext cx="3376017" cy="915670"/>
          </a:xfrm>
          <a:prstGeom prst="rect">
            <a:avLst/>
          </a:prstGeom>
        </p:spPr>
        <p:txBody>
          <a:bodyPr anchor="t" rtlCol="false" tIns="0" lIns="0" bIns="0" rIns="0">
            <a:spAutoFit/>
          </a:bodyPr>
          <a:lstStyle/>
          <a:p>
            <a:pPr algn="ctr" marL="0" indent="0" lvl="0">
              <a:lnSpc>
                <a:spcPts val="7279"/>
              </a:lnSpc>
              <a:spcBef>
                <a:spcPct val="0"/>
              </a:spcBef>
            </a:pPr>
            <a:r>
              <a:rPr lang="en-US" b="true" sz="5199">
                <a:solidFill>
                  <a:srgbClr val="E52328"/>
                </a:solidFill>
                <a:latin typeface="Times New Roman Bold"/>
                <a:ea typeface="Times New Roman Bold"/>
                <a:cs typeface="Times New Roman Bold"/>
                <a:sym typeface="Times New Roman Bold"/>
              </a:rPr>
              <a:t>Conclusion:</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sp>
        <p:nvSpPr>
          <p:cNvPr name="TextBox 3" id="3"/>
          <p:cNvSpPr txBox="true"/>
          <p:nvPr/>
        </p:nvSpPr>
        <p:spPr>
          <a:xfrm rot="0">
            <a:off x="545168" y="2301235"/>
            <a:ext cx="16714132" cy="479996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During this project, valuable hands-on experience was gained in web scraping, data cleaning, and exploratory data analysis using Python libraries such as BeautifulSoup, Pandas, Matplotlib, and Seaborn. One of the key challenges was handling missing or inconsistent data while extracting information from the website. Another challenge involved ensuring that all scraped data lists had equal lengths before creating the final dataset. Additional preprocessing techniques, including regular expressions and data transformation, were used to clean and structure the data effectively.</a:t>
            </a:r>
          </a:p>
          <a:p>
            <a:pPr algn="l" marL="0" indent="0" lvl="0">
              <a:lnSpc>
                <a:spcPts val="4759"/>
              </a:lnSpc>
              <a:spcBef>
                <a:spcPct val="0"/>
              </a:spcBef>
            </a:pPr>
          </a:p>
        </p:txBody>
      </p:sp>
      <p:sp>
        <p:nvSpPr>
          <p:cNvPr name="TextBox 4" id="4"/>
          <p:cNvSpPr txBox="true"/>
          <p:nvPr/>
        </p:nvSpPr>
        <p:spPr>
          <a:xfrm rot="0">
            <a:off x="900212" y="1219200"/>
            <a:ext cx="7116246" cy="915670"/>
          </a:xfrm>
          <a:prstGeom prst="rect">
            <a:avLst/>
          </a:prstGeom>
        </p:spPr>
        <p:txBody>
          <a:bodyPr anchor="t" rtlCol="false" tIns="0" lIns="0" bIns="0" rIns="0">
            <a:spAutoFit/>
          </a:bodyPr>
          <a:lstStyle/>
          <a:p>
            <a:pPr algn="ctr" marL="0" indent="0" lvl="0">
              <a:lnSpc>
                <a:spcPts val="7279"/>
              </a:lnSpc>
              <a:spcBef>
                <a:spcPct val="0"/>
              </a:spcBef>
            </a:pPr>
            <a:r>
              <a:rPr lang="en-US" b="true" sz="5199">
                <a:solidFill>
                  <a:srgbClr val="E52328"/>
                </a:solidFill>
                <a:latin typeface="Times New Roman Bold"/>
                <a:ea typeface="Times New Roman Bold"/>
                <a:cs typeface="Times New Roman Bold"/>
                <a:sym typeface="Times New Roman Bold"/>
              </a:rPr>
              <a:t>Experience</a:t>
            </a:r>
            <a:r>
              <a:rPr lang="en-US" b="true" sz="5199" strike="noStrike" u="none">
                <a:solidFill>
                  <a:srgbClr val="E52328"/>
                </a:solidFill>
                <a:latin typeface="Times New Roman Bold"/>
                <a:ea typeface="Times New Roman Bold"/>
                <a:cs typeface="Times New Roman Bold"/>
                <a:sym typeface="Times New Roman Bold"/>
              </a:rPr>
              <a:t> </a:t>
            </a:r>
            <a:r>
              <a:rPr lang="en-US" b="true" sz="5199" strike="noStrike" u="none">
                <a:solidFill>
                  <a:srgbClr val="E52328"/>
                </a:solidFill>
                <a:latin typeface="Times New Roman Bold"/>
                <a:ea typeface="Times New Roman Bold"/>
                <a:cs typeface="Times New Roman Bold"/>
                <a:sym typeface="Times New Roman Bold"/>
              </a:rPr>
              <a:t>&amp;</a:t>
            </a:r>
            <a:r>
              <a:rPr lang="en-US" b="true" sz="5199" strike="noStrike" u="none">
                <a:solidFill>
                  <a:srgbClr val="E52328"/>
                </a:solidFill>
                <a:latin typeface="Times New Roman Bold"/>
                <a:ea typeface="Times New Roman Bold"/>
                <a:cs typeface="Times New Roman Bold"/>
                <a:sym typeface="Times New Roman Bold"/>
              </a:rPr>
              <a:t> </a:t>
            </a:r>
            <a:r>
              <a:rPr lang="en-US" b="true" sz="5199" strike="noStrike" u="none">
                <a:solidFill>
                  <a:srgbClr val="E52328"/>
                </a:solidFill>
                <a:latin typeface="Times New Roman Bold"/>
                <a:ea typeface="Times New Roman Bold"/>
                <a:cs typeface="Times New Roman Bold"/>
                <a:sym typeface="Times New Roman Bold"/>
              </a:rPr>
              <a:t>C</a:t>
            </a:r>
            <a:r>
              <a:rPr lang="en-US" b="true" sz="5199" strike="noStrike" u="none">
                <a:solidFill>
                  <a:srgbClr val="E52328"/>
                </a:solidFill>
                <a:latin typeface="Times New Roman Bold"/>
                <a:ea typeface="Times New Roman Bold"/>
                <a:cs typeface="Times New Roman Bold"/>
                <a:sym typeface="Times New Roman Bold"/>
              </a:rPr>
              <a:t>h</a:t>
            </a:r>
            <a:r>
              <a:rPr lang="en-US" b="true" sz="5199" strike="noStrike" u="none">
                <a:solidFill>
                  <a:srgbClr val="E52328"/>
                </a:solidFill>
                <a:latin typeface="Times New Roman Bold"/>
                <a:ea typeface="Times New Roman Bold"/>
                <a:cs typeface="Times New Roman Bold"/>
                <a:sym typeface="Times New Roman Bold"/>
              </a:rPr>
              <a:t>all</a:t>
            </a:r>
            <a:r>
              <a:rPr lang="en-US" b="true" sz="5199" strike="noStrike" u="none">
                <a:solidFill>
                  <a:srgbClr val="E52328"/>
                </a:solidFill>
                <a:latin typeface="Times New Roman Bold"/>
                <a:ea typeface="Times New Roman Bold"/>
                <a:cs typeface="Times New Roman Bold"/>
                <a:sym typeface="Times New Roman Bold"/>
              </a:rPr>
              <a:t>eng</a:t>
            </a:r>
            <a:r>
              <a:rPr lang="en-US" b="true" sz="5199" strike="noStrike" u="none">
                <a:solidFill>
                  <a:srgbClr val="E52328"/>
                </a:solidFill>
                <a:latin typeface="Times New Roman Bold"/>
                <a:ea typeface="Times New Roman Bold"/>
                <a:cs typeface="Times New Roman Bold"/>
                <a:sym typeface="Times New Roman Bold"/>
              </a:rPr>
              <a:t>es</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sp>
        <p:nvSpPr>
          <p:cNvPr name="TextBox 3" id="3"/>
          <p:cNvSpPr txBox="true"/>
          <p:nvPr/>
        </p:nvSpPr>
        <p:spPr>
          <a:xfrm rot="0">
            <a:off x="570870" y="1893492"/>
            <a:ext cx="16889527" cy="479996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Times New Roman"/>
                <a:ea typeface="Times New Roman"/>
                <a:cs typeface="Times New Roman"/>
                <a:sym typeface="Times New Roman"/>
              </a:rPr>
              <a:t>This project can be further expanded by integrating data from multiple restaurant platforms such as Zomato, Swiggy, or Trip</a:t>
            </a:r>
            <a:r>
              <a:rPr lang="en-US" sz="3399" strike="noStrike" u="none">
                <a:solidFill>
                  <a:srgbClr val="000000"/>
                </a:solidFill>
                <a:latin typeface="Times New Roman"/>
                <a:ea typeface="Times New Roman"/>
                <a:cs typeface="Times New Roman"/>
                <a:sym typeface="Times New Roman"/>
              </a:rPr>
              <a:t>Ad</a:t>
            </a:r>
            <a:r>
              <a:rPr lang="en-US" sz="3399" strike="noStrike" u="none">
                <a:solidFill>
                  <a:srgbClr val="000000"/>
                </a:solidFill>
                <a:latin typeface="Times New Roman"/>
                <a:ea typeface="Times New Roman"/>
                <a:cs typeface="Times New Roman"/>
                <a:sym typeface="Times New Roman"/>
              </a:rPr>
              <a:t>visor to buil</a:t>
            </a:r>
            <a:r>
              <a:rPr lang="en-US" sz="3399" strike="noStrike" u="none">
                <a:solidFill>
                  <a:srgbClr val="000000"/>
                </a:solidFill>
                <a:latin typeface="Times New Roman"/>
                <a:ea typeface="Times New Roman"/>
                <a:cs typeface="Times New Roman"/>
                <a:sym typeface="Times New Roman"/>
              </a:rPr>
              <a:t>d a </a:t>
            </a:r>
            <a:r>
              <a:rPr lang="en-US" sz="3399" strike="noStrike" u="none">
                <a:solidFill>
                  <a:srgbClr val="000000"/>
                </a:solidFill>
                <a:latin typeface="Times New Roman"/>
                <a:ea typeface="Times New Roman"/>
                <a:cs typeface="Times New Roman"/>
                <a:sym typeface="Times New Roman"/>
              </a:rPr>
              <a:t>more comprehensive dataset. Advanced ana</a:t>
            </a:r>
            <a:r>
              <a:rPr lang="en-US" sz="3399" strike="noStrike" u="none">
                <a:solidFill>
                  <a:srgbClr val="000000"/>
                </a:solidFill>
                <a:latin typeface="Times New Roman"/>
                <a:ea typeface="Times New Roman"/>
                <a:cs typeface="Times New Roman"/>
                <a:sym typeface="Times New Roman"/>
              </a:rPr>
              <a:t>l</a:t>
            </a:r>
            <a:r>
              <a:rPr lang="en-US" sz="3399" strike="noStrike" u="none">
                <a:solidFill>
                  <a:srgbClr val="000000"/>
                </a:solidFill>
                <a:latin typeface="Times New Roman"/>
                <a:ea typeface="Times New Roman"/>
                <a:cs typeface="Times New Roman"/>
                <a:sym typeface="Times New Roman"/>
              </a:rPr>
              <a:t>ys</a:t>
            </a:r>
            <a:r>
              <a:rPr lang="en-US" sz="3399" strike="noStrike" u="none">
                <a:solidFill>
                  <a:srgbClr val="000000"/>
                </a:solidFill>
                <a:latin typeface="Times New Roman"/>
                <a:ea typeface="Times New Roman"/>
                <a:cs typeface="Times New Roman"/>
                <a:sym typeface="Times New Roman"/>
              </a:rPr>
              <a:t>i</a:t>
            </a:r>
            <a:r>
              <a:rPr lang="en-US" sz="3399" strike="noStrike" u="none">
                <a:solidFill>
                  <a:srgbClr val="000000"/>
                </a:solidFill>
                <a:latin typeface="Times New Roman"/>
                <a:ea typeface="Times New Roman"/>
                <a:cs typeface="Times New Roman"/>
                <a:sym typeface="Times New Roman"/>
              </a:rPr>
              <a:t>s could include machine learning models </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o predic</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 restaurant ratings or pricing trends. Additional</a:t>
            </a:r>
            <a:r>
              <a:rPr lang="en-US" sz="3399" strike="noStrike" u="none">
                <a:solidFill>
                  <a:srgbClr val="000000"/>
                </a:solidFill>
                <a:latin typeface="Times New Roman"/>
                <a:ea typeface="Times New Roman"/>
                <a:cs typeface="Times New Roman"/>
                <a:sym typeface="Times New Roman"/>
              </a:rPr>
              <a:t>l</a:t>
            </a:r>
            <a:r>
              <a:rPr lang="en-US" sz="3399" strike="noStrike" u="none">
                <a:solidFill>
                  <a:srgbClr val="000000"/>
                </a:solidFill>
                <a:latin typeface="Times New Roman"/>
                <a:ea typeface="Times New Roman"/>
                <a:cs typeface="Times New Roman"/>
                <a:sym typeface="Times New Roman"/>
              </a:rPr>
              <a:t>y, th</a:t>
            </a:r>
            <a:r>
              <a:rPr lang="en-US" sz="3399" strike="noStrike" u="none">
                <a:solidFill>
                  <a:srgbClr val="000000"/>
                </a:solidFill>
                <a:latin typeface="Times New Roman"/>
                <a:ea typeface="Times New Roman"/>
                <a:cs typeface="Times New Roman"/>
                <a:sym typeface="Times New Roman"/>
              </a:rPr>
              <a:t>e </a:t>
            </a:r>
            <a:r>
              <a:rPr lang="en-US" sz="3399" strike="noStrike" u="none">
                <a:solidFill>
                  <a:srgbClr val="000000"/>
                </a:solidFill>
                <a:latin typeface="Times New Roman"/>
                <a:ea typeface="Times New Roman"/>
                <a:cs typeface="Times New Roman"/>
                <a:sym typeface="Times New Roman"/>
              </a:rPr>
              <a:t>project can </a:t>
            </a:r>
            <a:r>
              <a:rPr lang="en-US" sz="3399" strike="noStrike" u="none">
                <a:solidFill>
                  <a:srgbClr val="000000"/>
                </a:solidFill>
                <a:latin typeface="Times New Roman"/>
                <a:ea typeface="Times New Roman"/>
                <a:cs typeface="Times New Roman"/>
                <a:sym typeface="Times New Roman"/>
              </a:rPr>
              <a:t>b</a:t>
            </a:r>
            <a:r>
              <a:rPr lang="en-US" sz="3399" strike="noStrike" u="none">
                <a:solidFill>
                  <a:srgbClr val="000000"/>
                </a:solidFill>
                <a:latin typeface="Times New Roman"/>
                <a:ea typeface="Times New Roman"/>
                <a:cs typeface="Times New Roman"/>
                <a:sym typeface="Times New Roman"/>
              </a:rPr>
              <a:t>e enhanced by develop</a:t>
            </a:r>
            <a:r>
              <a:rPr lang="en-US" sz="3399" strike="noStrike" u="none">
                <a:solidFill>
                  <a:srgbClr val="000000"/>
                </a:solidFill>
                <a:latin typeface="Times New Roman"/>
                <a:ea typeface="Times New Roman"/>
                <a:cs typeface="Times New Roman"/>
                <a:sym typeface="Times New Roman"/>
              </a:rPr>
              <a:t>i</a:t>
            </a:r>
            <a:r>
              <a:rPr lang="en-US" sz="3399" strike="noStrike" u="none">
                <a:solidFill>
                  <a:srgbClr val="000000"/>
                </a:solidFill>
                <a:latin typeface="Times New Roman"/>
                <a:ea typeface="Times New Roman"/>
                <a:cs typeface="Times New Roman"/>
                <a:sym typeface="Times New Roman"/>
              </a:rPr>
              <a:t>ng an in</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eractive</a:t>
            </a:r>
            <a:r>
              <a:rPr lang="en-US" sz="3399" strike="noStrike" u="none">
                <a:solidFill>
                  <a:srgbClr val="000000"/>
                </a:solidFill>
                <a:latin typeface="Times New Roman"/>
                <a:ea typeface="Times New Roman"/>
                <a:cs typeface="Times New Roman"/>
                <a:sym typeface="Times New Roman"/>
              </a:rPr>
              <a:t> </a:t>
            </a:r>
            <a:r>
              <a:rPr lang="en-US" sz="3399" strike="noStrike" u="none">
                <a:solidFill>
                  <a:srgbClr val="000000"/>
                </a:solidFill>
                <a:latin typeface="Times New Roman"/>
                <a:ea typeface="Times New Roman"/>
                <a:cs typeface="Times New Roman"/>
                <a:sym typeface="Times New Roman"/>
              </a:rPr>
              <a:t>dashb</a:t>
            </a:r>
            <a:r>
              <a:rPr lang="en-US" sz="3399" strike="noStrike" u="none">
                <a:solidFill>
                  <a:srgbClr val="000000"/>
                </a:solidFill>
                <a:latin typeface="Times New Roman"/>
                <a:ea typeface="Times New Roman"/>
                <a:cs typeface="Times New Roman"/>
                <a:sym typeface="Times New Roman"/>
              </a:rPr>
              <a:t>o</a:t>
            </a:r>
            <a:r>
              <a:rPr lang="en-US" sz="3399" strike="noStrike" u="none">
                <a:solidFill>
                  <a:srgbClr val="000000"/>
                </a:solidFill>
                <a:latin typeface="Times New Roman"/>
                <a:ea typeface="Times New Roman"/>
                <a:cs typeface="Times New Roman"/>
                <a:sym typeface="Times New Roman"/>
              </a:rPr>
              <a:t>ard using tools like</a:t>
            </a:r>
            <a:r>
              <a:rPr lang="en-US" sz="3399" strike="noStrike" u="none">
                <a:solidFill>
                  <a:srgbClr val="000000"/>
                </a:solidFill>
                <a:latin typeface="Times New Roman"/>
                <a:ea typeface="Times New Roman"/>
                <a:cs typeface="Times New Roman"/>
                <a:sym typeface="Times New Roman"/>
              </a:rPr>
              <a:t> </a:t>
            </a:r>
            <a:r>
              <a:rPr lang="en-US" sz="3399" strike="noStrike" u="none">
                <a:solidFill>
                  <a:srgbClr val="000000"/>
                </a:solidFill>
                <a:latin typeface="Times New Roman"/>
                <a:ea typeface="Times New Roman"/>
                <a:cs typeface="Times New Roman"/>
                <a:sym typeface="Times New Roman"/>
              </a:rPr>
              <a:t>Power BI, Ta</a:t>
            </a:r>
            <a:r>
              <a:rPr lang="en-US" sz="3399" strike="noStrike" u="none">
                <a:solidFill>
                  <a:srgbClr val="000000"/>
                </a:solidFill>
                <a:latin typeface="Times New Roman"/>
                <a:ea typeface="Times New Roman"/>
                <a:cs typeface="Times New Roman"/>
                <a:sym typeface="Times New Roman"/>
              </a:rPr>
              <a:t>b</a:t>
            </a:r>
            <a:r>
              <a:rPr lang="en-US" sz="3399" strike="noStrike" u="none">
                <a:solidFill>
                  <a:srgbClr val="000000"/>
                </a:solidFill>
                <a:latin typeface="Times New Roman"/>
                <a:ea typeface="Times New Roman"/>
                <a:cs typeface="Times New Roman"/>
                <a:sym typeface="Times New Roman"/>
              </a:rPr>
              <a:t>leau, </a:t>
            </a:r>
            <a:r>
              <a:rPr lang="en-US" sz="3399" strike="noStrike" u="none">
                <a:solidFill>
                  <a:srgbClr val="000000"/>
                </a:solidFill>
                <a:latin typeface="Times New Roman"/>
                <a:ea typeface="Times New Roman"/>
                <a:cs typeface="Times New Roman"/>
                <a:sym typeface="Times New Roman"/>
              </a:rPr>
              <a:t>o</a:t>
            </a:r>
            <a:r>
              <a:rPr lang="en-US" sz="3399" strike="noStrike" u="none">
                <a:solidFill>
                  <a:srgbClr val="000000"/>
                </a:solidFill>
                <a:latin typeface="Times New Roman"/>
                <a:ea typeface="Times New Roman"/>
                <a:cs typeface="Times New Roman"/>
                <a:sym typeface="Times New Roman"/>
              </a:rPr>
              <a:t>r Streamlit, allowing users to explore restaurant insights </a:t>
            </a:r>
            <a:r>
              <a:rPr lang="en-US" sz="3399" strike="noStrike" u="none">
                <a:solidFill>
                  <a:srgbClr val="000000"/>
                </a:solidFill>
                <a:latin typeface="Times New Roman"/>
                <a:ea typeface="Times New Roman"/>
                <a:cs typeface="Times New Roman"/>
                <a:sym typeface="Times New Roman"/>
              </a:rPr>
              <a:t>dy</a:t>
            </a:r>
            <a:r>
              <a:rPr lang="en-US" sz="3399" strike="noStrike" u="none">
                <a:solidFill>
                  <a:srgbClr val="000000"/>
                </a:solidFill>
                <a:latin typeface="Times New Roman"/>
                <a:ea typeface="Times New Roman"/>
                <a:cs typeface="Times New Roman"/>
                <a:sym typeface="Times New Roman"/>
              </a:rPr>
              <a:t>namically.</a:t>
            </a:r>
            <a:r>
              <a:rPr lang="en-US" sz="3399" strike="noStrike" u="none">
                <a:solidFill>
                  <a:srgbClr val="000000"/>
                </a:solidFill>
                <a:latin typeface="Times New Roman"/>
                <a:ea typeface="Times New Roman"/>
                <a:cs typeface="Times New Roman"/>
                <a:sym typeface="Times New Roman"/>
              </a:rPr>
              <a:t> </a:t>
            </a:r>
            <a:r>
              <a:rPr lang="en-US" sz="3399" strike="noStrike" u="none">
                <a:solidFill>
                  <a:srgbClr val="000000"/>
                </a:solidFill>
                <a:latin typeface="Times New Roman"/>
                <a:ea typeface="Times New Roman"/>
                <a:cs typeface="Times New Roman"/>
                <a:sym typeface="Times New Roman"/>
              </a:rPr>
              <a:t>Incorporating cus</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omer reviews and s</a:t>
            </a:r>
            <a:r>
              <a:rPr lang="en-US" sz="3399" strike="noStrike" u="none">
                <a:solidFill>
                  <a:srgbClr val="000000"/>
                </a:solidFill>
                <a:latin typeface="Times New Roman"/>
                <a:ea typeface="Times New Roman"/>
                <a:cs typeface="Times New Roman"/>
                <a:sym typeface="Times New Roman"/>
              </a:rPr>
              <a:t>e</a:t>
            </a:r>
            <a:r>
              <a:rPr lang="en-US" sz="3399" strike="noStrike" u="none">
                <a:solidFill>
                  <a:srgbClr val="000000"/>
                </a:solidFill>
                <a:latin typeface="Times New Roman"/>
                <a:ea typeface="Times New Roman"/>
                <a:cs typeface="Times New Roman"/>
                <a:sym typeface="Times New Roman"/>
              </a:rPr>
              <a:t>ntimen</a:t>
            </a:r>
            <a:r>
              <a:rPr lang="en-US" sz="3399" strike="noStrike" u="none">
                <a:solidFill>
                  <a:srgbClr val="000000"/>
                </a:solidFill>
                <a:latin typeface="Times New Roman"/>
                <a:ea typeface="Times New Roman"/>
                <a:cs typeface="Times New Roman"/>
                <a:sym typeface="Times New Roman"/>
              </a:rPr>
              <a:t>t</a:t>
            </a:r>
            <a:r>
              <a:rPr lang="en-US" sz="3399" strike="noStrike" u="none">
                <a:solidFill>
                  <a:srgbClr val="000000"/>
                </a:solidFill>
                <a:latin typeface="Times New Roman"/>
                <a:ea typeface="Times New Roman"/>
                <a:cs typeface="Times New Roman"/>
                <a:sym typeface="Times New Roman"/>
              </a:rPr>
              <a:t> analysis could also provide deeper insights into customer preferences and restaurant performance.</a:t>
            </a:r>
          </a:p>
          <a:p>
            <a:pPr algn="l">
              <a:lnSpc>
                <a:spcPts val="4759"/>
              </a:lnSpc>
            </a:pPr>
          </a:p>
        </p:txBody>
      </p:sp>
      <p:sp>
        <p:nvSpPr>
          <p:cNvPr name="TextBox 4" id="4"/>
          <p:cNvSpPr txBox="true"/>
          <p:nvPr/>
        </p:nvSpPr>
        <p:spPr>
          <a:xfrm rot="0">
            <a:off x="983498" y="889952"/>
            <a:ext cx="3759994" cy="915670"/>
          </a:xfrm>
          <a:prstGeom prst="rect">
            <a:avLst/>
          </a:prstGeom>
        </p:spPr>
        <p:txBody>
          <a:bodyPr anchor="t" rtlCol="false" tIns="0" lIns="0" bIns="0" rIns="0">
            <a:spAutoFit/>
          </a:bodyPr>
          <a:lstStyle/>
          <a:p>
            <a:pPr algn="ctr" marL="0" indent="0" lvl="0">
              <a:lnSpc>
                <a:spcPts val="7279"/>
              </a:lnSpc>
              <a:spcBef>
                <a:spcPct val="0"/>
              </a:spcBef>
            </a:pPr>
            <a:r>
              <a:rPr lang="en-US" b="true" sz="5199">
                <a:solidFill>
                  <a:srgbClr val="E52328"/>
                </a:solidFill>
                <a:latin typeface="Times New Roman Bold"/>
                <a:ea typeface="Times New Roman Bold"/>
                <a:cs typeface="Times New Roman Bold"/>
                <a:sym typeface="Times New Roman Bold"/>
              </a:rPr>
              <a:t>F</a:t>
            </a:r>
            <a:r>
              <a:rPr lang="en-US" b="true" sz="5199" strike="noStrike" u="none">
                <a:solidFill>
                  <a:srgbClr val="E52328"/>
                </a:solidFill>
                <a:latin typeface="Times New Roman Bold"/>
                <a:ea typeface="Times New Roman Bold"/>
                <a:cs typeface="Times New Roman Bold"/>
                <a:sym typeface="Times New Roman Bold"/>
              </a:rPr>
              <a:t>uture Scope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grpSp>
        <p:nvGrpSpPr>
          <p:cNvPr name="Group 4" id="4"/>
          <p:cNvGrpSpPr/>
          <p:nvPr/>
        </p:nvGrpSpPr>
        <p:grpSpPr>
          <a:xfrm rot="0">
            <a:off x="9699774" y="2776128"/>
            <a:ext cx="6698466" cy="4251474"/>
            <a:chOff x="0" y="0"/>
            <a:chExt cx="8931288" cy="5668632"/>
          </a:xfrm>
        </p:grpSpPr>
        <p:sp>
          <p:nvSpPr>
            <p:cNvPr name="Freeform 5" id="5"/>
            <p:cNvSpPr/>
            <p:nvPr/>
          </p:nvSpPr>
          <p:spPr>
            <a:xfrm flipH="false" flipV="false" rot="0">
              <a:off x="0" y="0"/>
              <a:ext cx="8931275" cy="5668645"/>
            </a:xfrm>
            <a:custGeom>
              <a:avLst/>
              <a:gdLst/>
              <a:ahLst/>
              <a:cxnLst/>
              <a:rect r="r" b="b" t="t" l="l"/>
              <a:pathLst>
                <a:path h="5668645" w="8931275">
                  <a:moveTo>
                    <a:pt x="0" y="0"/>
                  </a:moveTo>
                  <a:lnTo>
                    <a:pt x="8931275" y="0"/>
                  </a:lnTo>
                  <a:lnTo>
                    <a:pt x="8931275" y="5668645"/>
                  </a:lnTo>
                  <a:lnTo>
                    <a:pt x="0" y="5668645"/>
                  </a:lnTo>
                  <a:lnTo>
                    <a:pt x="0" y="0"/>
                  </a:lnTo>
                  <a:close/>
                </a:path>
              </a:pathLst>
            </a:custGeom>
            <a:blipFill>
              <a:blip r:embed="rId3"/>
              <a:stretch>
                <a:fillRect l="0" t="0" r="0" b="0"/>
              </a:stretch>
            </a:blipFill>
          </p:spPr>
        </p:sp>
      </p:grpSp>
      <p:sp>
        <p:nvSpPr>
          <p:cNvPr name="TextBox 6" id="6"/>
          <p:cNvSpPr txBox="true"/>
          <p:nvPr/>
        </p:nvSpPr>
        <p:spPr>
          <a:xfrm rot="0">
            <a:off x="1958321" y="4408151"/>
            <a:ext cx="5466755" cy="1133475"/>
          </a:xfrm>
          <a:prstGeom prst="rect">
            <a:avLst/>
          </a:prstGeom>
        </p:spPr>
        <p:txBody>
          <a:bodyPr anchor="t" rtlCol="false" tIns="0" lIns="0" bIns="0" rIns="0">
            <a:spAutoFit/>
          </a:bodyPr>
          <a:lstStyle/>
          <a:p>
            <a:pPr algn="l">
              <a:lnSpc>
                <a:spcPts val="7920"/>
              </a:lnSpc>
            </a:pPr>
            <a:r>
              <a:rPr lang="en-US" sz="6600">
                <a:solidFill>
                  <a:srgbClr val="C00000"/>
                </a:solidFill>
                <a:latin typeface="Times New Roman MT"/>
                <a:ea typeface="Times New Roman MT"/>
                <a:cs typeface="Times New Roman MT"/>
                <a:sym typeface="Times New Roman MT"/>
              </a:rPr>
              <a:t>THANK YOU</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C00000"/>
                </a:solidFill>
                <a:latin typeface="Canva Sans"/>
                <a:ea typeface="Canva Sans"/>
                <a:cs typeface="Canva Sans"/>
                <a:sym typeface="Canva Sans"/>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DAHAMlx1RIU</dc:identifier>
  <dcterms:modified xsi:type="dcterms:W3CDTF">2011-08-01T06:04:30Z</dcterms:modified>
  <cp:revision>1</cp:revision>
  <dc:title>Restaurant analysis.ppt</dc:title>
</cp:coreProperties>
</file>